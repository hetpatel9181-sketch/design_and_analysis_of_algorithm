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Lst>
  <p:notesMasterIdLst>
    <p:notesMasterId r:id="rId20"/>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x="9144000" cy="5143500" type="screen16x9"/>
  <p:notesSz cx="51435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82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lineChart>
        <c:grouping val="standard"/>
        <c:varyColors val="0"/>
        <c:ser>
          <c:idx val="0"/>
          <c:order val="0"/>
          <c:tx>
            <c:strRef>
              <c:f>label 0</c:f>
              <c:strCache>
                <c:ptCount val="1"/>
                <c:pt idx="0">
                  <c:v>BFS</c:v>
                </c:pt>
              </c:strCache>
            </c:strRef>
          </c:tx>
          <c:spPr>
            <a:ln w="38160">
              <a:solidFill>
                <a:srgbClr val="2E86AB"/>
              </a:solidFill>
              <a:round/>
            </a:ln>
          </c:spPr>
          <c:marker>
            <c:symbol val="circle"/>
            <c:size val="7"/>
            <c:spPr>
              <a:solidFill>
                <a:srgbClr val="2E86AB"/>
              </a:solidFill>
            </c:spPr>
          </c:marker>
          <c:dLbls>
            <c:spPr>
              <a:noFill/>
              <a:ln>
                <a:noFill/>
              </a:ln>
              <a:effectLst/>
            </c:spPr>
            <c:txPr>
              <a:bodyPr wrap="square"/>
              <a:lstStyle/>
              <a:p>
                <a:pPr>
                  <a:defRPr sz="1200" b="0" strike="noStrike" spc="-1">
                    <a:solidFill>
                      <a:srgbClr val="000000"/>
                    </a:solidFill>
                    <a:latin typeface="Arial"/>
                  </a:defRPr>
                </a:pPr>
                <a:endParaRPr lang="en-US"/>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0"/>
              </c:ext>
            </c:extLst>
          </c:dLbls>
          <c:cat>
            <c:strRef>
              <c:f>categories</c:f>
              <c:strCache>
                <c:ptCount val="4"/>
                <c:pt idx="0">
                  <c:v>11×11</c:v>
                </c:pt>
                <c:pt idx="1">
                  <c:v>51×51</c:v>
                </c:pt>
                <c:pt idx="2">
                  <c:v>101×101</c:v>
                </c:pt>
                <c:pt idx="3">
                  <c:v>501×501</c:v>
                </c:pt>
              </c:strCache>
            </c:strRef>
          </c:cat>
          <c:val>
            <c:numRef>
              <c:f>0</c:f>
              <c:numCache>
                <c:formatCode>General</c:formatCode>
                <c:ptCount val="4"/>
                <c:pt idx="0">
                  <c:v>5.2999999999999999E-2</c:v>
                </c:pt>
                <c:pt idx="1">
                  <c:v>0.123</c:v>
                </c:pt>
                <c:pt idx="2">
                  <c:v>0.53400000000000003</c:v>
                </c:pt>
                <c:pt idx="3">
                  <c:v>16.824000000000002</c:v>
                </c:pt>
              </c:numCache>
            </c:numRef>
          </c:val>
          <c:smooth val="0"/>
          <c:extLst>
            <c:ext xmlns:c16="http://schemas.microsoft.com/office/drawing/2014/chart" uri="{C3380CC4-5D6E-409C-BE32-E72D297353CC}">
              <c16:uniqueId val="{00000000-A993-40D5-A557-B3B40576A5FB}"/>
            </c:ext>
          </c:extLst>
        </c:ser>
        <c:ser>
          <c:idx val="1"/>
          <c:order val="1"/>
          <c:tx>
            <c:strRef>
              <c:f>label 1</c:f>
              <c:strCache>
                <c:ptCount val="1"/>
                <c:pt idx="0">
                  <c:v>DFS</c:v>
                </c:pt>
              </c:strCache>
            </c:strRef>
          </c:tx>
          <c:spPr>
            <a:ln w="38160">
              <a:solidFill>
                <a:srgbClr val="C8553D"/>
              </a:solidFill>
              <a:round/>
            </a:ln>
          </c:spPr>
          <c:marker>
            <c:symbol val="circle"/>
            <c:size val="7"/>
            <c:spPr>
              <a:solidFill>
                <a:srgbClr val="C8553D"/>
              </a:solidFill>
            </c:spPr>
          </c:marker>
          <c:dLbls>
            <c:spPr>
              <a:noFill/>
              <a:ln>
                <a:noFill/>
              </a:ln>
              <a:effectLst/>
            </c:spPr>
            <c:txPr>
              <a:bodyPr wrap="square"/>
              <a:lstStyle/>
              <a:p>
                <a:pPr>
                  <a:defRPr sz="1200" b="0" strike="noStrike" spc="-1">
                    <a:solidFill>
                      <a:srgbClr val="000000"/>
                    </a:solidFill>
                    <a:latin typeface="Arial"/>
                  </a:defRPr>
                </a:pPr>
                <a:endParaRPr lang="en-US"/>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0"/>
              </c:ext>
            </c:extLst>
          </c:dLbls>
          <c:cat>
            <c:strRef>
              <c:f>categories</c:f>
              <c:strCache>
                <c:ptCount val="4"/>
                <c:pt idx="0">
                  <c:v>11×11</c:v>
                </c:pt>
                <c:pt idx="1">
                  <c:v>51×51</c:v>
                </c:pt>
                <c:pt idx="2">
                  <c:v>101×101</c:v>
                </c:pt>
                <c:pt idx="3">
                  <c:v>501×501</c:v>
                </c:pt>
              </c:strCache>
            </c:strRef>
          </c:cat>
          <c:val>
            <c:numRef>
              <c:f>1</c:f>
              <c:numCache>
                <c:formatCode>General</c:formatCode>
                <c:ptCount val="4"/>
                <c:pt idx="0">
                  <c:v>7.1999999999999995E-2</c:v>
                </c:pt>
                <c:pt idx="1">
                  <c:v>4.7E-2</c:v>
                </c:pt>
                <c:pt idx="2">
                  <c:v>0.189</c:v>
                </c:pt>
                <c:pt idx="3">
                  <c:v>4.1829999999999998</c:v>
                </c:pt>
              </c:numCache>
            </c:numRef>
          </c:val>
          <c:smooth val="0"/>
          <c:extLst>
            <c:ext xmlns:c16="http://schemas.microsoft.com/office/drawing/2014/chart" uri="{C3380CC4-5D6E-409C-BE32-E72D297353CC}">
              <c16:uniqueId val="{00000001-A993-40D5-A557-B3B40576A5FB}"/>
            </c:ext>
          </c:extLst>
        </c:ser>
        <c:ser>
          <c:idx val="2"/>
          <c:order val="2"/>
          <c:tx>
            <c:strRef>
              <c:f>label 2</c:f>
              <c:strCache>
                <c:ptCount val="1"/>
                <c:pt idx="0">
                  <c:v>Dijkstra</c:v>
                </c:pt>
              </c:strCache>
            </c:strRef>
          </c:tx>
          <c:spPr>
            <a:ln w="38160">
              <a:solidFill>
                <a:srgbClr val="5C9A3E"/>
              </a:solidFill>
              <a:round/>
            </a:ln>
          </c:spPr>
          <c:marker>
            <c:symbol val="circle"/>
            <c:size val="7"/>
            <c:spPr>
              <a:solidFill>
                <a:srgbClr val="5C9A3E"/>
              </a:solidFill>
            </c:spPr>
          </c:marker>
          <c:dLbls>
            <c:spPr>
              <a:noFill/>
              <a:ln>
                <a:noFill/>
              </a:ln>
              <a:effectLst/>
            </c:spPr>
            <c:txPr>
              <a:bodyPr wrap="square"/>
              <a:lstStyle/>
              <a:p>
                <a:pPr>
                  <a:defRPr sz="1200" b="0" strike="noStrike" spc="-1">
                    <a:solidFill>
                      <a:srgbClr val="000000"/>
                    </a:solidFill>
                    <a:latin typeface="Arial"/>
                  </a:defRPr>
                </a:pPr>
                <a:endParaRPr lang="en-US"/>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0"/>
              </c:ext>
            </c:extLst>
          </c:dLbls>
          <c:cat>
            <c:strRef>
              <c:f>categories</c:f>
              <c:strCache>
                <c:ptCount val="4"/>
                <c:pt idx="0">
                  <c:v>11×11</c:v>
                </c:pt>
                <c:pt idx="1">
                  <c:v>51×51</c:v>
                </c:pt>
                <c:pt idx="2">
                  <c:v>101×101</c:v>
                </c:pt>
                <c:pt idx="3">
                  <c:v>501×501</c:v>
                </c:pt>
              </c:strCache>
            </c:strRef>
          </c:cat>
          <c:val>
            <c:numRef>
              <c:f>2</c:f>
              <c:numCache>
                <c:formatCode>General</c:formatCode>
                <c:ptCount val="4"/>
                <c:pt idx="0">
                  <c:v>5.5E-2</c:v>
                </c:pt>
                <c:pt idx="1">
                  <c:v>0.24</c:v>
                </c:pt>
                <c:pt idx="2">
                  <c:v>1.1040000000000001</c:v>
                </c:pt>
                <c:pt idx="3">
                  <c:v>37.549999999999997</c:v>
                </c:pt>
              </c:numCache>
            </c:numRef>
          </c:val>
          <c:smooth val="0"/>
          <c:extLst>
            <c:ext xmlns:c16="http://schemas.microsoft.com/office/drawing/2014/chart" uri="{C3380CC4-5D6E-409C-BE32-E72D297353CC}">
              <c16:uniqueId val="{00000002-A993-40D5-A557-B3B40576A5FB}"/>
            </c:ext>
          </c:extLst>
        </c:ser>
        <c:ser>
          <c:idx val="3"/>
          <c:order val="3"/>
          <c:tx>
            <c:strRef>
              <c:f>label 3</c:f>
              <c:strCache>
                <c:ptCount val="1"/>
                <c:pt idx="0">
                  <c:v>A*</c:v>
                </c:pt>
              </c:strCache>
            </c:strRef>
          </c:tx>
          <c:spPr>
            <a:ln w="38160">
              <a:solidFill>
                <a:srgbClr val="F5A524"/>
              </a:solidFill>
              <a:round/>
            </a:ln>
          </c:spPr>
          <c:marker>
            <c:symbol val="circle"/>
            <c:size val="7"/>
            <c:spPr>
              <a:solidFill>
                <a:srgbClr val="F5A524"/>
              </a:solidFill>
            </c:spPr>
          </c:marker>
          <c:dLbls>
            <c:spPr>
              <a:noFill/>
              <a:ln>
                <a:noFill/>
              </a:ln>
              <a:effectLst/>
            </c:spPr>
            <c:txPr>
              <a:bodyPr wrap="square"/>
              <a:lstStyle/>
              <a:p>
                <a:pPr>
                  <a:defRPr sz="1200" b="0" strike="noStrike" spc="-1">
                    <a:solidFill>
                      <a:srgbClr val="000000"/>
                    </a:solidFill>
                    <a:latin typeface="Arial"/>
                  </a:defRPr>
                </a:pPr>
                <a:endParaRPr lang="en-US"/>
              </a:p>
            </c:txPr>
            <c:dLblPos val="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0"/>
              </c:ext>
            </c:extLst>
          </c:dLbls>
          <c:cat>
            <c:strRef>
              <c:f>categories</c:f>
              <c:strCache>
                <c:ptCount val="4"/>
                <c:pt idx="0">
                  <c:v>11×11</c:v>
                </c:pt>
                <c:pt idx="1">
                  <c:v>51×51</c:v>
                </c:pt>
                <c:pt idx="2">
                  <c:v>101×101</c:v>
                </c:pt>
                <c:pt idx="3">
                  <c:v>501×501</c:v>
                </c:pt>
              </c:strCache>
            </c:strRef>
          </c:cat>
          <c:val>
            <c:numRef>
              <c:f>3</c:f>
              <c:numCache>
                <c:formatCode>General</c:formatCode>
                <c:ptCount val="4"/>
                <c:pt idx="0">
                  <c:v>0.03</c:v>
                </c:pt>
                <c:pt idx="1">
                  <c:v>0.17699999999999999</c:v>
                </c:pt>
                <c:pt idx="2">
                  <c:v>0.81699999999999995</c:v>
                </c:pt>
                <c:pt idx="3">
                  <c:v>37.021000000000001</c:v>
                </c:pt>
              </c:numCache>
            </c:numRef>
          </c:val>
          <c:smooth val="0"/>
          <c:extLst>
            <c:ext xmlns:c16="http://schemas.microsoft.com/office/drawing/2014/chart" uri="{C3380CC4-5D6E-409C-BE32-E72D297353CC}">
              <c16:uniqueId val="{00000003-A993-40D5-A557-B3B40576A5FB}"/>
            </c:ext>
          </c:extLst>
        </c:ser>
        <c:dLbls>
          <c:showLegendKey val="0"/>
          <c:showVal val="0"/>
          <c:showCatName val="0"/>
          <c:showSerName val="0"/>
          <c:showPercent val="0"/>
          <c:showBubbleSize val="0"/>
        </c:dLbls>
        <c:hiLowLines>
          <c:spPr>
            <a:ln w="0">
              <a:noFill/>
            </a:ln>
          </c:spPr>
        </c:hiLowLines>
        <c:marker val="1"/>
        <c:smooth val="0"/>
        <c:axId val="20822663"/>
        <c:axId val="13370918"/>
      </c:lineChart>
      <c:catAx>
        <c:axId val="20822663"/>
        <c:scaling>
          <c:orientation val="minMax"/>
        </c:scaling>
        <c:delete val="0"/>
        <c:axPos val="b"/>
        <c:title>
          <c:tx>
            <c:rich>
              <a:bodyPr rot="0"/>
              <a:lstStyle/>
              <a:p>
                <a:pPr>
                  <a:defRPr sz="1000" b="0" strike="noStrike" spc="-1">
                    <a:solidFill>
                      <a:srgbClr val="6B7B85"/>
                    </a:solidFill>
                    <a:latin typeface="Arial"/>
                  </a:defRPr>
                </a:pPr>
                <a:r>
                  <a:rPr sz="1000" b="0" strike="noStrike" spc="-1">
                    <a:solidFill>
                      <a:srgbClr val="6B7B85"/>
                    </a:solidFill>
                    <a:latin typeface="Arial"/>
                  </a:rPr>
                  <a:t>Maze size</a:t>
                </a:r>
              </a:p>
            </c:rich>
          </c:tx>
          <c:overlay val="0"/>
          <c:spPr>
            <a:noFill/>
            <a:ln w="0">
              <a:noFill/>
            </a:ln>
          </c:spPr>
        </c:title>
        <c:numFmt formatCode="General" sourceLinked="0"/>
        <c:majorTickMark val="out"/>
        <c:minorTickMark val="none"/>
        <c:tickLblPos val="low"/>
        <c:spPr>
          <a:ln w="12600">
            <a:solidFill>
              <a:srgbClr val="888888"/>
            </a:solidFill>
            <a:round/>
          </a:ln>
        </c:spPr>
        <c:txPr>
          <a:bodyPr/>
          <a:lstStyle/>
          <a:p>
            <a:pPr>
              <a:defRPr sz="1100" b="0" strike="noStrike" spc="-1">
                <a:solidFill>
                  <a:srgbClr val="1A2B34"/>
                </a:solidFill>
                <a:latin typeface="Calibri"/>
              </a:defRPr>
            </a:pPr>
            <a:endParaRPr lang="en-US"/>
          </a:p>
        </c:txPr>
        <c:crossAx val="13370918"/>
        <c:crosses val="autoZero"/>
        <c:auto val="1"/>
        <c:lblAlgn val="ctr"/>
        <c:lblOffset val="100"/>
        <c:noMultiLvlLbl val="0"/>
      </c:catAx>
      <c:valAx>
        <c:axId val="13370918"/>
        <c:scaling>
          <c:logBase val="10"/>
          <c:orientation val="minMax"/>
        </c:scaling>
        <c:delete val="0"/>
        <c:axPos val="l"/>
        <c:majorGridlines>
          <c:spPr>
            <a:ln w="9360">
              <a:solidFill>
                <a:srgbClr val="E3E9EC"/>
              </a:solidFill>
              <a:round/>
            </a:ln>
          </c:spPr>
        </c:majorGridlines>
        <c:title>
          <c:tx>
            <c:rich>
              <a:bodyPr rot="-5400000"/>
              <a:lstStyle/>
              <a:p>
                <a:pPr>
                  <a:defRPr sz="1000" b="0" strike="noStrike" spc="-1">
                    <a:solidFill>
                      <a:srgbClr val="6B7B85"/>
                    </a:solidFill>
                    <a:latin typeface="Arial"/>
                  </a:defRPr>
                </a:pPr>
                <a:r>
                  <a:rPr sz="1000" b="0" strike="noStrike" spc="-1">
                    <a:solidFill>
                      <a:srgbClr val="6B7B85"/>
                    </a:solidFill>
                    <a:latin typeface="Arial"/>
                  </a:rPr>
                  <a:t>Time (ms, log scale)</a:t>
                </a:r>
              </a:p>
            </c:rich>
          </c:tx>
          <c:overlay val="0"/>
          <c:spPr>
            <a:noFill/>
            <a:ln w="0">
              <a:noFill/>
            </a:ln>
          </c:spPr>
        </c:title>
        <c:numFmt formatCode="General" sourceLinked="0"/>
        <c:majorTickMark val="out"/>
        <c:minorTickMark val="none"/>
        <c:tickLblPos val="nextTo"/>
        <c:spPr>
          <a:ln w="12600">
            <a:solidFill>
              <a:srgbClr val="888888"/>
            </a:solidFill>
            <a:round/>
          </a:ln>
        </c:spPr>
        <c:txPr>
          <a:bodyPr/>
          <a:lstStyle/>
          <a:p>
            <a:pPr>
              <a:defRPr sz="1100" b="0" strike="noStrike" spc="-1">
                <a:solidFill>
                  <a:srgbClr val="6B7B85"/>
                </a:solidFill>
                <a:latin typeface="Calibri"/>
              </a:defRPr>
            </a:pPr>
            <a:endParaRPr lang="en-US"/>
          </a:p>
        </c:txPr>
        <c:crossAx val="20822663"/>
        <c:crosses val="autoZero"/>
        <c:crossBetween val="between"/>
      </c:valAx>
      <c:spPr>
        <a:noFill/>
        <a:ln w="0">
          <a:noFill/>
        </a:ln>
      </c:spPr>
    </c:plotArea>
    <c:legend>
      <c:legendPos val="b"/>
      <c:overlay val="0"/>
      <c:spPr>
        <a:noFill/>
        <a:ln w="0">
          <a:noFill/>
        </a:ln>
      </c:spPr>
      <c:txPr>
        <a:bodyPr/>
        <a:lstStyle/>
        <a:p>
          <a:pPr>
            <a:defRPr sz="1100" b="0" strike="noStrike" spc="-1">
              <a:solidFill>
                <a:srgbClr val="1A2B34"/>
              </a:solidFill>
              <a:latin typeface="Calibri"/>
            </a:defRPr>
          </a:pPr>
          <a:endParaRPr lang="en-US"/>
        </a:p>
      </c:txPr>
    </c:legend>
    <c:plotVisOnly val="1"/>
    <c:dispBlanksAs val="span"/>
    <c:showDLblsOverMax val="1"/>
  </c:chart>
  <c:spPr>
    <a:noFill/>
    <a:ln w="0">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n-US" sz="1800" b="0" strike="noStrike" spc="-1">
                <a:solidFill>
                  <a:schemeClr val="dk1"/>
                </a:solidFill>
                <a:latin typeface="Calibri"/>
              </a:rPr>
              <a:t>Click to move the slide</a:t>
            </a:r>
          </a:p>
        </p:txBody>
      </p:sp>
      <p:sp>
        <p:nvSpPr>
          <p:cNvPr id="9"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Click to edit the notes format</a:t>
            </a:r>
          </a:p>
        </p:txBody>
      </p:sp>
      <p:sp>
        <p:nvSpPr>
          <p:cNvPr id="10"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11" name="PlaceHolder 4"/>
          <p:cNvSpPr>
            <a:spLocks noGrp="1"/>
          </p:cNvSpPr>
          <p:nvPr>
            <p:ph type="dt" idx="3"/>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12" name="PlaceHolder 5"/>
          <p:cNvSpPr>
            <a:spLocks noGrp="1"/>
          </p:cNvSpPr>
          <p:nvPr>
            <p:ph type="ftr" idx="4"/>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p>
        </p:txBody>
      </p:sp>
      <p:sp>
        <p:nvSpPr>
          <p:cNvPr id="13" name="PlaceHolder 6"/>
          <p:cNvSpPr>
            <a:spLocks noGrp="1"/>
          </p:cNvSpPr>
          <p:nvPr>
            <p:ph type="sldNum" idx="5"/>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EB952FC9-DEED-49AF-A1D6-B53F5AD20024}" type="slidenum">
              <a:rPr lang="en-US" sz="1400" b="0" strike="noStrike" spc="-1">
                <a:solidFill>
                  <a:srgbClr val="000000"/>
                </a:solidFill>
                <a:latin typeface="Times New Roman"/>
              </a:rPr>
              <a:t>‹#›</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 name="PlaceHolder 1"/>
          <p:cNvSpPr>
            <a:spLocks noGrp="1" noRot="1" noChangeAspect="1"/>
          </p:cNvSpPr>
          <p:nvPr>
            <p:ph type="sldImg"/>
          </p:nvPr>
        </p:nvSpPr>
        <p:spPr>
          <a:xfrm>
            <a:off x="685800" y="1143000"/>
            <a:ext cx="5486400" cy="3086100"/>
          </a:xfrm>
          <a:prstGeom prst="rect">
            <a:avLst/>
          </a:prstGeom>
          <a:ln w="0">
            <a:noFill/>
          </a:ln>
        </p:spPr>
      </p:sp>
      <p:sp>
        <p:nvSpPr>
          <p:cNvPr id="30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Introduce the group, the course and the project. Fill in the group number, names, enrollment numbers and faculty name on this slide before presenting.</a:t>
            </a:r>
          </a:p>
        </p:txBody>
      </p:sp>
      <p:sp>
        <p:nvSpPr>
          <p:cNvPr id="301"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1696348D-1503-4A6E-A78F-6E37B63E6447}" type="slidenum">
              <a:rPr lang="en-US" sz="1200" b="0" strike="noStrike" spc="-1">
                <a:solidFill>
                  <a:schemeClr val="dk1"/>
                </a:solidFill>
                <a:latin typeface="+mn-lt"/>
                <a:ea typeface="+mn-ea"/>
              </a:rPr>
              <a:t>1</a:t>
            </a:fld>
            <a:endParaRPr lang="en-US" sz="12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PlaceHolder 1"/>
          <p:cNvSpPr>
            <a:spLocks noGrp="1" noRot="1" noChangeAspect="1"/>
          </p:cNvSpPr>
          <p:nvPr>
            <p:ph type="sldImg"/>
          </p:nvPr>
        </p:nvSpPr>
        <p:spPr>
          <a:xfrm>
            <a:off x="685800" y="1143000"/>
            <a:ext cx="5486040" cy="3085920"/>
          </a:xfrm>
          <a:prstGeom prst="rect">
            <a:avLst/>
          </a:prstGeom>
          <a:ln w="0">
            <a:noFill/>
          </a:ln>
        </p:spPr>
      </p:sp>
      <p:sp>
        <p:nvSpPr>
          <p:cNvPr id="30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State the problem precisely: what goes in, what comes out, the rules, and what we want to achieve. The image shows a sample input maze.</a:t>
            </a:r>
          </a:p>
        </p:txBody>
      </p:sp>
      <p:sp>
        <p:nvSpPr>
          <p:cNvPr id="304"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12C8CCC1-2178-46A8-B6CF-1DCBCF6B3E5F}" type="slidenum">
              <a:rPr lang="en-US" sz="1200" b="0" strike="noStrike" spc="-1">
                <a:solidFill>
                  <a:schemeClr val="dk1"/>
                </a:solidFill>
                <a:latin typeface="+mn-lt"/>
                <a:ea typeface="+mn-ea"/>
              </a:rPr>
              <a:t>2</a:t>
            </a:fld>
            <a:endParaRPr lang="en-US" sz="1200" b="0" strike="noStrike" spc="-1">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 name="PlaceHolder 1"/>
          <p:cNvSpPr>
            <a:spLocks noGrp="1" noRot="1" noChangeAspect="1"/>
          </p:cNvSpPr>
          <p:nvPr>
            <p:ph type="sldImg"/>
          </p:nvPr>
        </p:nvSpPr>
        <p:spPr>
          <a:xfrm>
            <a:off x="685800" y="1143000"/>
            <a:ext cx="5486040" cy="3085920"/>
          </a:xfrm>
          <a:prstGeom prst="rect">
            <a:avLst/>
          </a:prstGeom>
          <a:ln w="0">
            <a:noFill/>
          </a:ln>
        </p:spPr>
      </p:sp>
      <p:sp>
        <p:nvSpPr>
          <p:cNvPr id="30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A maze is the cleanest model of routing problems. The same algorithms power map apps, warehouse robots and game characters finding their way.</a:t>
            </a:r>
          </a:p>
        </p:txBody>
      </p:sp>
      <p:sp>
        <p:nvSpPr>
          <p:cNvPr id="307"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91AE910F-F7FA-4B0E-8559-1A141DC2CA93}" type="slidenum">
              <a:rPr lang="en-US" sz="1200" b="0" strike="noStrike" spc="-1">
                <a:solidFill>
                  <a:schemeClr val="dk1"/>
                </a:solidFill>
                <a:latin typeface="+mn-lt"/>
                <a:ea typeface="+mn-ea"/>
              </a:rPr>
              <a:t>3</a:t>
            </a:fld>
            <a:endParaRPr lang="en-US" sz="1200" b="0" strike="noStrike" spc="-1">
              <a:solidFill>
                <a:srgbClr val="000000"/>
              </a:solidFill>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PlaceHolder 1"/>
          <p:cNvSpPr>
            <a:spLocks noGrp="1" noRot="1" noChangeAspect="1"/>
          </p:cNvSpPr>
          <p:nvPr>
            <p:ph type="sldImg"/>
          </p:nvPr>
        </p:nvSpPr>
        <p:spPr>
          <a:xfrm>
            <a:off x="685800" y="1143000"/>
            <a:ext cx="5486040" cy="3085920"/>
          </a:xfrm>
          <a:prstGeom prst="rect">
            <a:avLst/>
          </a:prstGeom>
          <a:ln w="0">
            <a:noFill/>
          </a:ln>
        </p:spPr>
      </p:sp>
      <p:sp>
        <p:nvSpPr>
          <p:cNvPr id="30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Five measurable objectives. The four mazes on the right are the same input solved by each algorithm: the four implementations we compare.</a:t>
            </a:r>
          </a:p>
        </p:txBody>
      </p:sp>
      <p:sp>
        <p:nvSpPr>
          <p:cNvPr id="310"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4E8095D7-0658-4785-AB9B-23F3ECE848FF}" type="slidenum">
              <a:rPr lang="en-US" sz="1200" b="0" strike="noStrike" spc="-1">
                <a:solidFill>
                  <a:schemeClr val="dk1"/>
                </a:solidFill>
                <a:latin typeface="+mn-lt"/>
                <a:ea typeface="+mn-ea"/>
              </a:rPr>
              <a:t>4</a:t>
            </a:fld>
            <a:endParaRPr lang="en-US" sz="1200" b="0" strike="noStrike" spc="-1">
              <a:solidFill>
                <a:srgbClr val="000000"/>
              </a:solidFill>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 name="PlaceHolder 1"/>
          <p:cNvSpPr>
            <a:spLocks noGrp="1" noRot="1" noChangeAspect="1"/>
          </p:cNvSpPr>
          <p:nvPr>
            <p:ph type="sldImg"/>
          </p:nvPr>
        </p:nvSpPr>
        <p:spPr>
          <a:xfrm>
            <a:off x="685800" y="1143000"/>
            <a:ext cx="5486040" cy="3085920"/>
          </a:xfrm>
          <a:prstGeom prst="rect">
            <a:avLst/>
          </a:prstGeom>
          <a:ln w="0">
            <a:noFill/>
          </a:ln>
        </p:spPr>
      </p:sp>
      <p:sp>
        <p:nvSpPr>
          <p:cNvPr id="31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The picture shows the limitation of using one algorithm blindly. DFS finds a path but a very long one, while A star finds the shortest.</a:t>
            </a:r>
          </a:p>
        </p:txBody>
      </p:sp>
      <p:sp>
        <p:nvSpPr>
          <p:cNvPr id="313"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0B0C88D7-74E6-41FD-AC29-1D977FEC54C5}" type="slidenum">
              <a:rPr lang="en-US" sz="1200" b="0" strike="noStrike" spc="-1">
                <a:solidFill>
                  <a:schemeClr val="dk1"/>
                </a:solidFill>
                <a:latin typeface="+mn-lt"/>
                <a:ea typeface="+mn-ea"/>
              </a:rPr>
              <a:t>5</a:t>
            </a:fld>
            <a:endParaRPr lang="en-US" sz="1200" b="0" strike="noStrike" spc="-1">
              <a:solidFill>
                <a:srgbClr val="000000"/>
              </a:solid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PlaceHolder 1"/>
          <p:cNvSpPr>
            <a:spLocks noGrp="1" noRot="1" noChangeAspect="1"/>
          </p:cNvSpPr>
          <p:nvPr>
            <p:ph type="sldImg"/>
          </p:nvPr>
        </p:nvSpPr>
        <p:spPr>
          <a:xfrm>
            <a:off x="685800" y="1143000"/>
            <a:ext cx="5486040" cy="3085920"/>
          </a:xfrm>
          <a:prstGeom prst="rect">
            <a:avLst/>
          </a:prstGeom>
          <a:ln w="0">
            <a:noFill/>
          </a:ln>
        </p:spPr>
      </p:sp>
      <p:sp>
        <p:nvSpPr>
          <p:cNvPr id="31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This is the required project flow: define the problem, collect input, select algorithms, design pseudocode, implement, test with different sizes, compare performance, and conclude. Read the first row left to right, then the second row right to left.</a:t>
            </a:r>
          </a:p>
        </p:txBody>
      </p:sp>
      <p:sp>
        <p:nvSpPr>
          <p:cNvPr id="316"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826A68CD-47C0-40CF-AFB5-69967623C7F9}" type="slidenum">
              <a:rPr lang="en-US" sz="1200" b="0" strike="noStrike" spc="-1">
                <a:solidFill>
                  <a:schemeClr val="dk1"/>
                </a:solidFill>
                <a:latin typeface="+mn-lt"/>
                <a:ea typeface="+mn-ea"/>
              </a:rPr>
              <a:t>6</a:t>
            </a:fld>
            <a:endParaRPr lang="en-US" sz="1200" b="0" strike="noStrike" spc="-1">
              <a:solidFill>
                <a:srgbClr val="000000"/>
              </a:solidFill>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PlaceHolder 1"/>
          <p:cNvSpPr>
            <a:spLocks noGrp="1" noRot="1" noChangeAspect="1"/>
          </p:cNvSpPr>
          <p:nvPr>
            <p:ph type="sldImg"/>
          </p:nvPr>
        </p:nvSpPr>
        <p:spPr>
          <a:xfrm>
            <a:off x="685800" y="1143000"/>
            <a:ext cx="5486040" cy="3085920"/>
          </a:xfrm>
          <a:prstGeom prst="rect">
            <a:avLst/>
          </a:prstGeom>
          <a:ln w="0">
            <a:noFill/>
          </a:ln>
        </p:spPr>
      </p:sp>
      <p:sp>
        <p:nvSpPr>
          <p:cNvPr id="31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Each thumbnail shows the cells that algorithm explored on the same maze. BFS and Dijkstra flood outward, DFS wanders, A star leans toward the goal.</a:t>
            </a:r>
          </a:p>
        </p:txBody>
      </p:sp>
      <p:sp>
        <p:nvSpPr>
          <p:cNvPr id="319"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17E94109-A249-4C34-8D1F-A6CF93A8DAAF}" type="slidenum">
              <a:rPr lang="en-US" sz="1200" b="0" strike="noStrike" spc="-1">
                <a:solidFill>
                  <a:schemeClr val="dk1"/>
                </a:solidFill>
                <a:latin typeface="+mn-lt"/>
                <a:ea typeface="+mn-ea"/>
              </a:rPr>
              <a:t>7</a:t>
            </a:fld>
            <a:endParaRPr lang="en-US" sz="1200" b="0" strike="noStrike" spc="-1">
              <a:solidFill>
                <a:srgbClr val="000000"/>
              </a:solidFill>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 name="PlaceHolder 1"/>
          <p:cNvSpPr>
            <a:spLocks noGrp="1" noRot="1" noChangeAspect="1"/>
          </p:cNvSpPr>
          <p:nvPr>
            <p:ph type="sldImg"/>
          </p:nvPr>
        </p:nvSpPr>
        <p:spPr>
          <a:xfrm>
            <a:off x="685800" y="1143000"/>
            <a:ext cx="5486040" cy="3085920"/>
          </a:xfrm>
          <a:prstGeom prst="rect">
            <a:avLst/>
          </a:prstGeom>
          <a:ln w="0">
            <a:noFill/>
          </a:ln>
        </p:spPr>
      </p:sp>
      <p:sp>
        <p:nvSpPr>
          <p:cNvPr id="32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Only the key steps are shown. DFS is the same loop as BFS with a stack instead of a queue. Dijkstra is the A star loop with h equal to zero.</a:t>
            </a:r>
          </a:p>
        </p:txBody>
      </p:sp>
      <p:sp>
        <p:nvSpPr>
          <p:cNvPr id="322"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07444F24-BC2C-40C3-BE50-F1F7F679499E}" type="slidenum">
              <a:rPr lang="en-US" sz="1200" b="0" strike="noStrike" spc="-1">
                <a:solidFill>
                  <a:schemeClr val="dk1"/>
                </a:solidFill>
                <a:latin typeface="+mn-lt"/>
                <a:ea typeface="+mn-ea"/>
              </a:rPr>
              <a:t>8</a:t>
            </a:fld>
            <a:endParaRPr lang="en-US" sz="1200" b="0" strike="noStrike" spc="-1">
              <a:solidFill>
                <a:srgbClr val="000000"/>
              </a:solidFill>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 name="PlaceHolder 1"/>
          <p:cNvSpPr>
            <a:spLocks noGrp="1" noRot="1" noChangeAspect="1"/>
          </p:cNvSpPr>
          <p:nvPr>
            <p:ph type="sldImg"/>
          </p:nvPr>
        </p:nvSpPr>
        <p:spPr>
          <a:xfrm>
            <a:off x="685800" y="1143000"/>
            <a:ext cx="5486040" cy="3085920"/>
          </a:xfrm>
          <a:prstGeom prst="rect">
            <a:avLst/>
          </a:prstGeom>
          <a:ln w="0">
            <a:noFill/>
          </a:ln>
        </p:spPr>
      </p:sp>
      <p:sp>
        <p:nvSpPr>
          <p:cNvPr id="32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The user interacts only with the interface. The maze model is the single source of truth, every algorithm reads it, and the metrics module records the same three values for each run.</a:t>
            </a:r>
          </a:p>
        </p:txBody>
      </p:sp>
      <p:sp>
        <p:nvSpPr>
          <p:cNvPr id="325"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D0D8C006-82DD-4F97-B3F0-30AD871DA828}" type="slidenum">
              <a:rPr lang="en-US" sz="1200" b="0" strike="noStrike" spc="-1">
                <a:solidFill>
                  <a:schemeClr val="dk1"/>
                </a:solidFill>
                <a:latin typeface="+mn-lt"/>
                <a:ea typeface="+mn-ea"/>
              </a:rPr>
              <a:t>9</a:t>
            </a:fld>
            <a:endParaRPr lang="en-US" sz="1200" b="0" strike="noStrike" spc="-1">
              <a:solidFill>
                <a:srgbClr val="000000"/>
              </a:solidFill>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PlaceHolder 1"/>
          <p:cNvSpPr>
            <a:spLocks noGrp="1" noRot="1" noChangeAspect="1"/>
          </p:cNvSpPr>
          <p:nvPr>
            <p:ph type="sldImg"/>
          </p:nvPr>
        </p:nvSpPr>
        <p:spPr>
          <a:xfrm>
            <a:off x="685800" y="1143000"/>
            <a:ext cx="5486400" cy="3086100"/>
          </a:xfrm>
          <a:prstGeom prst="rect">
            <a:avLst/>
          </a:prstGeom>
          <a:ln w="0">
            <a:noFill/>
          </a:ln>
        </p:spPr>
      </p:sp>
      <p:sp>
        <p:nvSpPr>
          <p:cNvPr id="32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The app is a browser-based TypeScript and React project built with Vite. Module names here are descriptive; the table lists the data structure behind each algorithm.</a:t>
            </a:r>
          </a:p>
        </p:txBody>
      </p:sp>
      <p:sp>
        <p:nvSpPr>
          <p:cNvPr id="328"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A86B950F-BD2B-4366-B744-6EF194254920}" type="slidenum">
              <a:rPr lang="en-US" sz="1200" b="0" strike="noStrike" spc="-1">
                <a:solidFill>
                  <a:schemeClr val="dk1"/>
                </a:solidFill>
                <a:latin typeface="+mn-lt"/>
                <a:ea typeface="+mn-ea"/>
              </a:rPr>
              <a:t>10</a:t>
            </a:fld>
            <a:endParaRPr lang="en-US" sz="1200" b="0" strike="noStrike" spc="-1">
              <a:solidFill>
                <a:srgbClr val="000000"/>
              </a:solidFill>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 name="PlaceHolder 1"/>
          <p:cNvSpPr>
            <a:spLocks noGrp="1" noRot="1" noChangeAspect="1"/>
          </p:cNvSpPr>
          <p:nvPr>
            <p:ph type="sldImg"/>
          </p:nvPr>
        </p:nvSpPr>
        <p:spPr>
          <a:xfrm>
            <a:off x="685800" y="1143000"/>
            <a:ext cx="5486040" cy="3085920"/>
          </a:xfrm>
          <a:prstGeom prst="rect">
            <a:avLst/>
          </a:prstGeom>
          <a:ln w="0">
            <a:noFill/>
          </a:ln>
        </p:spPr>
      </p:sp>
      <p:sp>
        <p:nvSpPr>
          <p:cNvPr id="33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These four views show the workflow: set the input, watch the search, read the output, compare performance. Swap in real screenshots from the running PathOptix app before presenting if your marking scheme requires your own screenshots.</a:t>
            </a:r>
          </a:p>
        </p:txBody>
      </p:sp>
      <p:sp>
        <p:nvSpPr>
          <p:cNvPr id="331" name="PlaceHolder 3"/>
          <p:cNvSpPr>
            <a:spLocks noGrp="1"/>
          </p:cNvSpPr>
          <p:nvPr>
            <p:ph type="sldNum" idx="2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9C19BDE4-4745-4ED7-B9F5-1505F1E2C757}" type="slidenum">
              <a:rPr lang="en-US" sz="1200" b="0" strike="noStrike" spc="-1">
                <a:solidFill>
                  <a:schemeClr val="dk1"/>
                </a:solidFill>
                <a:latin typeface="+mn-lt"/>
                <a:ea typeface="+mn-ea"/>
              </a:rPr>
              <a:t>11</a:t>
            </a:fld>
            <a:endParaRPr lang="en-US" sz="1200" b="0" strike="noStrike" spc="-1">
              <a:solidFill>
                <a:srgbClr val="000000"/>
              </a:solidFill>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 name="PlaceHolder 1"/>
          <p:cNvSpPr>
            <a:spLocks noGrp="1" noRot="1" noChangeAspect="1"/>
          </p:cNvSpPr>
          <p:nvPr>
            <p:ph type="sldImg"/>
          </p:nvPr>
        </p:nvSpPr>
        <p:spPr>
          <a:xfrm>
            <a:off x="685800" y="1143000"/>
            <a:ext cx="5486400" cy="3086100"/>
          </a:xfrm>
          <a:prstGeom prst="rect">
            <a:avLst/>
          </a:prstGeom>
          <a:ln w="0">
            <a:noFill/>
          </a:ln>
        </p:spPr>
      </p:sp>
      <p:sp>
        <p:nvSpPr>
          <p:cNvPr id="33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Time grows with maze size for every algorithm, and the log scale shows roughly the same shape for all four. DFS is quickest; Dijkstra and A star are slowest per run because of the heap. At 501 by 501, A star no longer beats BFS on time even though it explores fewer nodes.</a:t>
            </a:r>
          </a:p>
        </p:txBody>
      </p:sp>
      <p:sp>
        <p:nvSpPr>
          <p:cNvPr id="334"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6B2C8FE5-AF2A-4758-B19E-75FE6DB2D232}" type="slidenum">
              <a:rPr lang="en-US" sz="1200" b="0" strike="noStrike" spc="-1">
                <a:solidFill>
                  <a:schemeClr val="dk1"/>
                </a:solidFill>
                <a:latin typeface="+mn-lt"/>
                <a:ea typeface="+mn-ea"/>
              </a:rPr>
              <a:t>12</a:t>
            </a:fld>
            <a:endParaRPr lang="en-US" sz="1200" b="0" strike="noStrike" spc="-1">
              <a:solidFill>
                <a:srgbClr val="000000"/>
              </a:solidFill>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 name="PlaceHolder 1"/>
          <p:cNvSpPr>
            <a:spLocks noGrp="1" noRot="1" noChangeAspect="1"/>
          </p:cNvSpPr>
          <p:nvPr>
            <p:ph type="sldImg"/>
          </p:nvPr>
        </p:nvSpPr>
        <p:spPr>
          <a:xfrm>
            <a:off x="685800" y="1143000"/>
            <a:ext cx="5486400" cy="3086100"/>
          </a:xfrm>
          <a:prstGeom prst="rect">
            <a:avLst/>
          </a:prstGeom>
          <a:ln w="0">
            <a:noFill/>
          </a:ln>
        </p:spPr>
      </p:sp>
      <p:sp>
        <p:nvSpPr>
          <p:cNvPr id="33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The table gives the theoretical cases. Practical results agree on growth: BFS scales roughly linearly with cells. They also show a constant-factor effect theory hides: priority-queue overhead can cancel the gain from exploring fewer nodes.</a:t>
            </a:r>
          </a:p>
        </p:txBody>
      </p:sp>
      <p:sp>
        <p:nvSpPr>
          <p:cNvPr id="337"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194286A8-9B2B-4869-8557-EFC2D624997D}" type="slidenum">
              <a:rPr lang="en-US" sz="1200" b="0" strike="noStrike" spc="-1">
                <a:solidFill>
                  <a:schemeClr val="dk1"/>
                </a:solidFill>
                <a:latin typeface="+mn-lt"/>
                <a:ea typeface="+mn-ea"/>
              </a:rPr>
              <a:t>13</a:t>
            </a:fld>
            <a:endParaRPr lang="en-US" sz="1200" b="0" strike="noStrike" spc="-1">
              <a:solidFill>
                <a:srgbClr val="000000"/>
              </a:solidFill>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 name="PlaceHolder 1"/>
          <p:cNvSpPr>
            <a:spLocks noGrp="1" noRot="1" noChangeAspect="1"/>
          </p:cNvSpPr>
          <p:nvPr>
            <p:ph type="sldImg"/>
          </p:nvPr>
        </p:nvSpPr>
        <p:spPr>
          <a:xfrm>
            <a:off x="685800" y="1143000"/>
            <a:ext cx="5486040" cy="3085920"/>
          </a:xfrm>
          <a:prstGeom prst="rect">
            <a:avLst/>
          </a:prstGeom>
          <a:ln w="0">
            <a:noFill/>
          </a:ln>
        </p:spPr>
      </p:sp>
      <p:sp>
        <p:nvSpPr>
          <p:cNvPr id="33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Be honest about limits: the results come from grid mazes and one machine. The natural next steps are diagonal movement, smarter search such as bidirectional and jump point search, and memory measurement.</a:t>
            </a:r>
          </a:p>
        </p:txBody>
      </p:sp>
      <p:sp>
        <p:nvSpPr>
          <p:cNvPr id="340"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C9FC4465-0752-4092-B8A4-7A49FA7F025D}" type="slidenum">
              <a:rPr lang="en-US" sz="1200" b="0" strike="noStrike" spc="-1">
                <a:solidFill>
                  <a:schemeClr val="dk1"/>
                </a:solidFill>
                <a:latin typeface="+mn-lt"/>
                <a:ea typeface="+mn-ea"/>
              </a:rPr>
              <a:t>14</a:t>
            </a:fld>
            <a:endParaRPr lang="en-US" sz="1200" b="0" strike="noStrike" spc="-1">
              <a:solidFill>
                <a:srgbClr val="000000"/>
              </a:solidFill>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1" name="PlaceHolder 1"/>
          <p:cNvSpPr>
            <a:spLocks noGrp="1" noRot="1" noChangeAspect="1"/>
          </p:cNvSpPr>
          <p:nvPr>
            <p:ph type="sldImg"/>
          </p:nvPr>
        </p:nvSpPr>
        <p:spPr>
          <a:xfrm>
            <a:off x="685800" y="1143000"/>
            <a:ext cx="5486040" cy="3085920"/>
          </a:xfrm>
          <a:prstGeom prst="rect">
            <a:avLst/>
          </a:prstGeom>
          <a:ln w="0">
            <a:noFill/>
          </a:ln>
        </p:spPr>
      </p:sp>
      <p:sp>
        <p:nvSpPr>
          <p:cNvPr id="3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Summarise the problem and the solution, then the three findings. Close with references.</a:t>
            </a:r>
          </a:p>
        </p:txBody>
      </p:sp>
      <p:sp>
        <p:nvSpPr>
          <p:cNvPr id="343"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E161596F-A2DD-47F5-8F91-52D97EF34EBA}" type="slidenum">
              <a:rPr lang="en-US" sz="1200" b="0" strike="noStrike" spc="-1">
                <a:solidFill>
                  <a:schemeClr val="dk1"/>
                </a:solidFill>
                <a:latin typeface="+mn-lt"/>
                <a:ea typeface="+mn-ea"/>
              </a:rPr>
              <a:t>15</a:t>
            </a:fld>
            <a:endParaRPr lang="en-US" sz="12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DARK">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CONTENT">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lstStyle/>
          <a:p>
            <a:fld id="{7D66ADAB-2D5B-4EC9-83FB-7C1697621973}"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TINT">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lstStyle/>
          <a:p>
            <a:fld id="{3B3A250B-FE8A-4D20-8E61-0A83A43BECE5}"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548640" y="1188720"/>
            <a:ext cx="4754520" cy="1828440"/>
          </a:xfrm>
          <a:prstGeom prst="rect">
            <a:avLst/>
          </a:prstGeom>
          <a:noFill/>
          <a:ln w="0">
            <a:noFill/>
          </a:ln>
        </p:spPr>
        <p:txBody>
          <a:bodyPr lIns="90000" tIns="45000" rIns="90000" bIns="45000" anchor="t">
            <a:noAutofit/>
          </a:bodyPr>
          <a:lstStyle/>
          <a:p>
            <a:pPr indent="0">
              <a:buNone/>
            </a:pPr>
            <a:r>
              <a:rPr lang="en-US" sz="3400" b="0" strike="noStrike" spc="-1">
                <a:solidFill>
                  <a:schemeClr val="dk1"/>
                </a:solidFill>
                <a:latin typeface="Calibri"/>
              </a:rPr>
              <a:t>Click to edit the title text format</a:t>
            </a:r>
          </a:p>
        </p:txBody>
      </p:sp>
      <p:sp>
        <p:nvSpPr>
          <p:cNvPr id="3" name="PlaceHolder 2"/>
          <p:cNvSpPr>
            <a:spLocks noGrp="1"/>
          </p:cNvSpPr>
          <p:nvPr>
            <p:ph type="body"/>
          </p:nvPr>
        </p:nvSpPr>
        <p:spPr>
          <a:xfrm>
            <a:off x="548640" y="3200400"/>
            <a:ext cx="4571640" cy="1096920"/>
          </a:xfrm>
          <a:prstGeom prst="rect">
            <a:avLst/>
          </a:prstGeom>
          <a:noFill/>
          <a:ln w="0">
            <a:noFill/>
          </a:ln>
        </p:spPr>
        <p:txBody>
          <a:bodyPr lIns="90000" tIns="45000" rIns="90000" bIns="45000" anchor="t">
            <a:noAutofit/>
          </a:bodyPr>
          <a:lstStyle/>
          <a:p>
            <a:pPr marL="432000" indent="-324000">
              <a:spcBef>
                <a:spcPts val="1417"/>
              </a:spcBef>
              <a:buClr>
                <a:srgbClr val="FFFFFF"/>
              </a:buClr>
              <a:buSzPct val="45000"/>
              <a:buFont typeface="Wingdings" charset="2"/>
              <a:buChar char=""/>
            </a:pPr>
            <a:r>
              <a:rPr lang="en-US" sz="1600" b="0" strike="noStrike" spc="-1">
                <a:solidFill>
                  <a:schemeClr val="dk1"/>
                </a:solidFill>
                <a:latin typeface="Calibri"/>
              </a:rPr>
              <a:t>Click to edit the outline text format</a:t>
            </a:r>
          </a:p>
          <a:p>
            <a:pPr marL="864000" lvl="1" indent="-324000">
              <a:spcBef>
                <a:spcPts val="1134"/>
              </a:spcBef>
              <a:buClr>
                <a:srgbClr val="FFFFFF"/>
              </a:buClr>
              <a:buSzPct val="75000"/>
              <a:buFont typeface="Symbol" charset="2"/>
              <a:buChar char=""/>
            </a:pPr>
            <a:r>
              <a:rPr lang="en-US" sz="1600" b="0" strike="noStrike" spc="-1">
                <a:solidFill>
                  <a:schemeClr val="dk1"/>
                </a:solidFill>
                <a:latin typeface="Calibri"/>
              </a:rPr>
              <a:t>Second Outline Level</a:t>
            </a:r>
          </a:p>
          <a:p>
            <a:pPr marL="1296000" lvl="2" indent="-288000">
              <a:spcBef>
                <a:spcPts val="850"/>
              </a:spcBef>
              <a:buClr>
                <a:srgbClr val="FFFFFF"/>
              </a:buClr>
              <a:buSzPct val="45000"/>
              <a:buFont typeface="Wingdings" charset="2"/>
              <a:buChar char=""/>
            </a:pPr>
            <a:r>
              <a:rPr lang="en-US" sz="1600" b="0" strike="noStrike" spc="-1">
                <a:solidFill>
                  <a:schemeClr val="dk1"/>
                </a:solidFill>
                <a:latin typeface="Calibri"/>
              </a:rPr>
              <a:t>Third Outline Level</a:t>
            </a:r>
          </a:p>
          <a:p>
            <a:pPr marL="1728000" lvl="3" indent="-216000">
              <a:spcBef>
                <a:spcPts val="567"/>
              </a:spcBef>
              <a:buClr>
                <a:srgbClr val="FFFFFF"/>
              </a:buClr>
              <a:buSzPct val="75000"/>
              <a:buFont typeface="Symbol" charset="2"/>
              <a:buChar char=""/>
            </a:pPr>
            <a:r>
              <a:rPr lang="en-US" sz="1600" b="0" strike="noStrike" spc="-1">
                <a:solidFill>
                  <a:schemeClr val="dk1"/>
                </a:solidFill>
                <a:latin typeface="Calibri"/>
              </a:rPr>
              <a:t>Fourth Outline Level</a:t>
            </a:r>
          </a:p>
          <a:p>
            <a:pPr marL="2160000" lvl="4" indent="-216000">
              <a:spcBef>
                <a:spcPts val="283"/>
              </a:spcBef>
              <a:buClr>
                <a:srgbClr val="FFFFFF"/>
              </a:buClr>
              <a:buSzPct val="45000"/>
              <a:buFont typeface="Wingdings" charset="2"/>
              <a:buChar char=""/>
            </a:pPr>
            <a:r>
              <a:rPr lang="en-US" sz="1600" b="0" strike="noStrike" spc="-1">
                <a:solidFill>
                  <a:schemeClr val="dk1"/>
                </a:solidFill>
                <a:latin typeface="Calibri"/>
              </a:rPr>
              <a:t>Fifth Outline Level</a:t>
            </a:r>
          </a:p>
          <a:p>
            <a:pPr marL="2592000" lvl="5" indent="-216000">
              <a:spcBef>
                <a:spcPts val="283"/>
              </a:spcBef>
              <a:buClr>
                <a:srgbClr val="FFFFFF"/>
              </a:buClr>
              <a:buSzPct val="45000"/>
              <a:buFont typeface="Wingdings" charset="2"/>
              <a:buChar char=""/>
            </a:pPr>
            <a:r>
              <a:rPr lang="en-US" sz="1600" b="0" strike="noStrike" spc="-1">
                <a:solidFill>
                  <a:schemeClr val="dk1"/>
                </a:solidFill>
                <a:latin typeface="Calibri"/>
              </a:rPr>
              <a:t>Sixth Outline Level</a:t>
            </a:r>
          </a:p>
          <a:p>
            <a:pPr marL="3024000" lvl="6" indent="-216000">
              <a:spcBef>
                <a:spcPts val="283"/>
              </a:spcBef>
              <a:buClr>
                <a:srgbClr val="FFFFFF"/>
              </a:buClr>
              <a:buSzPct val="45000"/>
              <a:buFont typeface="Wingdings" charset="2"/>
              <a:buChar char=""/>
            </a:pPr>
            <a:r>
              <a:rPr lang="en-US" sz="1600" b="0" strike="noStrike" spc="-1">
                <a:solidFill>
                  <a:schemeClr val="dk1"/>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4320"/>
            <a:ext cx="8229240" cy="685440"/>
          </a:xfrm>
          <a:prstGeom prst="rect">
            <a:avLst/>
          </a:prstGeom>
          <a:noFill/>
          <a:ln w="0">
            <a:noFill/>
          </a:ln>
        </p:spPr>
        <p:txBody>
          <a:bodyPr lIns="90000" tIns="45000" rIns="90000" bIns="45000" anchor="t">
            <a:noAutofit/>
          </a:bodyPr>
          <a:lstStyle/>
          <a:p>
            <a:pPr indent="0">
              <a:buNone/>
            </a:pPr>
            <a:r>
              <a:rPr lang="en-US" sz="3200" b="0" strike="noStrike" spc="-1">
                <a:solidFill>
                  <a:schemeClr val="dk1"/>
                </a:solidFill>
                <a:latin typeface="Calibri"/>
              </a:rPr>
              <a:t>Click to edit the title text format</a:t>
            </a:r>
          </a:p>
        </p:txBody>
      </p:sp>
      <p:sp>
        <p:nvSpPr>
          <p:cNvPr id="3" name="PlaceHolder 2"/>
          <p:cNvSpPr>
            <a:spLocks noGrp="1"/>
          </p:cNvSpPr>
          <p:nvPr>
            <p:ph type="sldNum" idx="1"/>
          </p:nvPr>
        </p:nvSpPr>
        <p:spPr>
          <a:xfrm>
            <a:off x="8321040" y="4754880"/>
            <a:ext cx="456840" cy="273960"/>
          </a:xfrm>
          <a:prstGeom prst="rect">
            <a:avLst/>
          </a:prstGeom>
          <a:noFill/>
          <a:ln w="0">
            <a:noFill/>
          </a:ln>
        </p:spPr>
        <p:txBody>
          <a:bodyPr lIns="90000" tIns="45000" rIns="90000" bIns="45000" anchor="t">
            <a:noAutofit/>
          </a:bodyPr>
          <a:lstStyle>
            <a:lvl1pPr indent="0" defTabSz="914400">
              <a:lnSpc>
                <a:spcPct val="100000"/>
              </a:lnSpc>
              <a:buNone/>
              <a:defRPr lang="en-US" sz="1000" b="0" strike="noStrike" spc="-1">
                <a:solidFill>
                  <a:schemeClr val="accent6"/>
                </a:solidFill>
                <a:latin typeface="Calibri"/>
              </a:defRPr>
            </a:lvl1pPr>
          </a:lstStyle>
          <a:p>
            <a:pPr indent="0" defTabSz="914400">
              <a:lnSpc>
                <a:spcPct val="100000"/>
              </a:lnSpc>
              <a:buNone/>
            </a:pPr>
            <a:fld id="{8A12763D-4C2A-4AF3-ACE6-7ED9EB481F0F}" type="slidenum">
              <a:rPr lang="en-US" sz="1000" b="0" strike="noStrike" spc="-1">
                <a:solidFill>
                  <a:schemeClr val="accent6"/>
                </a:solidFill>
                <a:latin typeface="Calibri"/>
              </a:rPr>
              <a:t>‹#›</a:t>
            </a:fld>
            <a:endParaRPr lang="en-US" sz="1000" b="0" strike="noStrike" spc="-1">
              <a:solidFill>
                <a:srgbClr val="000000"/>
              </a:solidFill>
              <a:latin typeface="Times New Roman"/>
            </a:endParaRPr>
          </a:p>
        </p:txBody>
      </p:sp>
      <p:sp>
        <p:nvSpPr>
          <p:cNvPr id="4"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chemeClr val="dk1"/>
                </a:solidFill>
                <a:latin typeface="Calibri"/>
              </a:rPr>
              <a:t>Click to edit the outline text format</a:t>
            </a:r>
          </a:p>
          <a:p>
            <a:pPr marL="864000" lvl="1" indent="-324000">
              <a:spcBef>
                <a:spcPts val="1134"/>
              </a:spcBef>
              <a:buClr>
                <a:srgbClr val="000000"/>
              </a:buClr>
              <a:buSzPct val="75000"/>
              <a:buFont typeface="Symbol" charset="2"/>
              <a:buChar char=""/>
            </a:pPr>
            <a:r>
              <a:rPr lang="en-US" sz="2400" b="0" strike="noStrike" spc="-1">
                <a:solidFill>
                  <a:schemeClr val="dk1"/>
                </a:solidFill>
                <a:latin typeface="Calibri"/>
              </a:rPr>
              <a:t>Second Outline Level</a:t>
            </a:r>
          </a:p>
          <a:p>
            <a:pPr marL="1296000" lvl="2" indent="-288000">
              <a:spcBef>
                <a:spcPts val="850"/>
              </a:spcBef>
              <a:buClr>
                <a:srgbClr val="000000"/>
              </a:buClr>
              <a:buSzPct val="45000"/>
              <a:buFont typeface="Wingdings" charset="2"/>
              <a:buChar char=""/>
            </a:pPr>
            <a:r>
              <a:rPr lang="en-US" sz="2000" b="0" strike="noStrike" spc="-1">
                <a:solidFill>
                  <a:schemeClr val="dk1"/>
                </a:solidFill>
                <a:latin typeface="Calibri"/>
              </a:rPr>
              <a:t>Third Outline Level</a:t>
            </a:r>
          </a:p>
          <a:p>
            <a:pPr marL="1728000" lvl="3" indent="-216000">
              <a:spcBef>
                <a:spcPts val="567"/>
              </a:spcBef>
              <a:buClr>
                <a:srgbClr val="000000"/>
              </a:buClr>
              <a:buSzPct val="75000"/>
              <a:buFont typeface="Symbol" charset="2"/>
              <a:buChar char=""/>
            </a:pPr>
            <a:r>
              <a:rPr lang="en-US" sz="2000" b="0" strike="noStrike" spc="-1">
                <a:solidFill>
                  <a:schemeClr val="dk1"/>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chemeClr val="dk1"/>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chemeClr val="dk1"/>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chemeClr val="dk1"/>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320"/>
            <a:ext cx="8229240" cy="685440"/>
          </a:xfrm>
          <a:prstGeom prst="rect">
            <a:avLst/>
          </a:prstGeom>
          <a:noFill/>
          <a:ln w="0">
            <a:noFill/>
          </a:ln>
        </p:spPr>
        <p:txBody>
          <a:bodyPr lIns="90000" tIns="45000" rIns="90000" bIns="45000" anchor="t">
            <a:noAutofit/>
          </a:bodyPr>
          <a:lstStyle/>
          <a:p>
            <a:pPr indent="0">
              <a:buNone/>
            </a:pPr>
            <a:r>
              <a:rPr lang="en-US" sz="3200" b="0" strike="noStrike" spc="-1">
                <a:solidFill>
                  <a:schemeClr val="dk1"/>
                </a:solidFill>
                <a:latin typeface="Calibri"/>
              </a:rPr>
              <a:t>Click to edit the title text format</a:t>
            </a:r>
          </a:p>
        </p:txBody>
      </p:sp>
      <p:sp>
        <p:nvSpPr>
          <p:cNvPr id="6" name="PlaceHolder 2"/>
          <p:cNvSpPr>
            <a:spLocks noGrp="1"/>
          </p:cNvSpPr>
          <p:nvPr>
            <p:ph type="sldNum" idx="2"/>
          </p:nvPr>
        </p:nvSpPr>
        <p:spPr>
          <a:xfrm>
            <a:off x="8321040" y="4754880"/>
            <a:ext cx="456840" cy="273960"/>
          </a:xfrm>
          <a:prstGeom prst="rect">
            <a:avLst/>
          </a:prstGeom>
          <a:noFill/>
          <a:ln w="0">
            <a:noFill/>
          </a:ln>
        </p:spPr>
        <p:txBody>
          <a:bodyPr lIns="90000" tIns="45000" rIns="90000" bIns="45000" anchor="t">
            <a:noAutofit/>
          </a:bodyPr>
          <a:lstStyle>
            <a:lvl1pPr indent="0" defTabSz="914400">
              <a:lnSpc>
                <a:spcPct val="100000"/>
              </a:lnSpc>
              <a:buNone/>
              <a:defRPr lang="en-US" sz="1000" b="0" strike="noStrike" spc="-1">
                <a:solidFill>
                  <a:schemeClr val="accent6"/>
                </a:solidFill>
                <a:latin typeface="Calibri"/>
              </a:defRPr>
            </a:lvl1pPr>
          </a:lstStyle>
          <a:p>
            <a:pPr indent="0" defTabSz="914400">
              <a:lnSpc>
                <a:spcPct val="100000"/>
              </a:lnSpc>
              <a:buNone/>
            </a:pPr>
            <a:fld id="{453BCCC9-3D85-4106-86E4-B9682C0C4C3B}" type="slidenum">
              <a:rPr lang="en-US" sz="1000" b="0" strike="noStrike" spc="-1">
                <a:solidFill>
                  <a:schemeClr val="accent6"/>
                </a:solidFill>
                <a:latin typeface="Calibri"/>
              </a:rPr>
              <a:t>‹#›</a:t>
            </a:fld>
            <a:endParaRPr lang="en-US" sz="1000" b="0" strike="noStrike" spc="-1">
              <a:solidFill>
                <a:srgbClr val="000000"/>
              </a:solidFill>
              <a:latin typeface="Times New Roman"/>
            </a:endParaRPr>
          </a:p>
        </p:txBody>
      </p:sp>
      <p:sp>
        <p:nvSpPr>
          <p:cNvPr id="7"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chemeClr val="dk1"/>
                </a:solidFill>
                <a:latin typeface="Calibri"/>
              </a:rPr>
              <a:t>Click to edit the outline text format</a:t>
            </a:r>
          </a:p>
          <a:p>
            <a:pPr marL="864000" lvl="1" indent="-324000">
              <a:spcBef>
                <a:spcPts val="1134"/>
              </a:spcBef>
              <a:buClr>
                <a:srgbClr val="000000"/>
              </a:buClr>
              <a:buSzPct val="75000"/>
              <a:buFont typeface="Symbol" charset="2"/>
              <a:buChar char=""/>
            </a:pPr>
            <a:r>
              <a:rPr lang="en-US" sz="2400" b="0" strike="noStrike" spc="-1">
                <a:solidFill>
                  <a:schemeClr val="dk1"/>
                </a:solidFill>
                <a:latin typeface="Calibri"/>
              </a:rPr>
              <a:t>Second Outline Level</a:t>
            </a:r>
          </a:p>
          <a:p>
            <a:pPr marL="1296000" lvl="2" indent="-288000">
              <a:spcBef>
                <a:spcPts val="850"/>
              </a:spcBef>
              <a:buClr>
                <a:srgbClr val="000000"/>
              </a:buClr>
              <a:buSzPct val="45000"/>
              <a:buFont typeface="Wingdings" charset="2"/>
              <a:buChar char=""/>
            </a:pPr>
            <a:r>
              <a:rPr lang="en-US" sz="2000" b="0" strike="noStrike" spc="-1">
                <a:solidFill>
                  <a:schemeClr val="dk1"/>
                </a:solidFill>
                <a:latin typeface="Calibri"/>
              </a:rPr>
              <a:t>Third Outline Level</a:t>
            </a:r>
          </a:p>
          <a:p>
            <a:pPr marL="1728000" lvl="3" indent="-216000">
              <a:spcBef>
                <a:spcPts val="567"/>
              </a:spcBef>
              <a:buClr>
                <a:srgbClr val="000000"/>
              </a:buClr>
              <a:buSzPct val="75000"/>
              <a:buFont typeface="Symbol" charset="2"/>
              <a:buChar char=""/>
            </a:pPr>
            <a:r>
              <a:rPr lang="en-US" sz="2000" b="0" strike="noStrike" spc="-1">
                <a:solidFill>
                  <a:schemeClr val="dk1"/>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chemeClr val="dk1"/>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chemeClr val="dk1"/>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chemeClr val="dk1"/>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2.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PlaceHolder 1"/>
          <p:cNvSpPr>
            <a:spLocks noGrp="1"/>
          </p:cNvSpPr>
          <p:nvPr>
            <p:ph type="title"/>
          </p:nvPr>
        </p:nvSpPr>
        <p:spPr>
          <a:xfrm>
            <a:off x="548640" y="502920"/>
            <a:ext cx="4754520" cy="1828440"/>
          </a:xfrm>
          <a:prstGeom prst="rect">
            <a:avLst/>
          </a:prstGeom>
          <a:noFill/>
          <a:ln w="0">
            <a:noFill/>
          </a:ln>
        </p:spPr>
        <p:txBody>
          <a:bodyPr lIns="90000" tIns="45000" rIns="90000" bIns="45000" anchor="b">
            <a:noAutofit/>
          </a:bodyPr>
          <a:lstStyle/>
          <a:p>
            <a:pPr indent="0" defTabSz="914400">
              <a:lnSpc>
                <a:spcPct val="100000"/>
              </a:lnSpc>
              <a:buNone/>
              <a:tabLst>
                <a:tab pos="0" algn="l"/>
              </a:tabLst>
            </a:pPr>
            <a:r>
              <a:rPr lang="en-US" sz="3400" b="1" strike="noStrike" spc="-1" dirty="0">
                <a:solidFill>
                  <a:schemeClr val="lt1"/>
                </a:solidFill>
                <a:latin typeface="Cambria"/>
              </a:rPr>
              <a:t>Maze and Path-Finding Optimization System</a:t>
            </a:r>
            <a:endParaRPr lang="en-US" sz="3400" b="0" strike="noStrike" spc="-1" dirty="0">
              <a:solidFill>
                <a:schemeClr val="dk1"/>
              </a:solidFill>
              <a:latin typeface="Calibri"/>
            </a:endParaRPr>
          </a:p>
        </p:txBody>
      </p:sp>
      <p:sp>
        <p:nvSpPr>
          <p:cNvPr id="15" name="PlaceHolder 2"/>
          <p:cNvSpPr>
            <a:spLocks noGrp="1"/>
          </p:cNvSpPr>
          <p:nvPr>
            <p:ph/>
          </p:nvPr>
        </p:nvSpPr>
        <p:spPr>
          <a:xfrm>
            <a:off x="366120" y="2571750"/>
            <a:ext cx="4571640" cy="1096920"/>
          </a:xfrm>
          <a:prstGeom prst="rect">
            <a:avLst/>
          </a:prstGeom>
          <a:noFill/>
          <a:ln w="0">
            <a:noFill/>
          </a:ln>
        </p:spPr>
        <p:txBody>
          <a:bodyPr lIns="90000" tIns="45000" rIns="90000" bIns="45000" anchor="t">
            <a:noAutofit/>
          </a:bodyPr>
          <a:lstStyle/>
          <a:p>
            <a:pPr indent="0" defTabSz="914400">
              <a:lnSpc>
                <a:spcPct val="100000"/>
              </a:lnSpc>
              <a:spcBef>
                <a:spcPts val="320"/>
              </a:spcBef>
              <a:buNone/>
              <a:tabLst>
                <a:tab pos="0" algn="l"/>
              </a:tabLst>
            </a:pPr>
            <a:r>
              <a:rPr lang="en-US" sz="1600" b="0" strike="noStrike" spc="-1" dirty="0">
                <a:solidFill>
                  <a:schemeClr val="lt2"/>
                </a:solidFill>
                <a:latin typeface="Calibri"/>
              </a:rPr>
              <a:t>BFS · DFS · Dijkstra · A*</a:t>
            </a:r>
            <a:endParaRPr lang="en-US" sz="1600" b="0" strike="noStrike" spc="-1" dirty="0">
              <a:solidFill>
                <a:schemeClr val="dk1"/>
              </a:solidFill>
              <a:latin typeface="Calibri"/>
            </a:endParaRPr>
          </a:p>
        </p:txBody>
      </p:sp>
      <p:sp>
        <p:nvSpPr>
          <p:cNvPr id="16" name="Text 2"/>
          <p:cNvSpPr/>
          <p:nvPr/>
        </p:nvSpPr>
        <p:spPr>
          <a:xfrm>
            <a:off x="548640" y="502920"/>
            <a:ext cx="4937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 dirty="0">
                <a:solidFill>
                  <a:schemeClr val="accent2"/>
                </a:solidFill>
                <a:latin typeface="Calibri"/>
              </a:rPr>
              <a:t>Design and Analysis of Algorithms  |  5th Sem</a:t>
            </a:r>
            <a:endParaRPr lang="en-US" sz="1200" b="0" strike="noStrike" spc="-1" dirty="0">
              <a:solidFill>
                <a:srgbClr val="FFFFFF"/>
              </a:solidFill>
              <a:latin typeface="Arial"/>
            </a:endParaRPr>
          </a:p>
        </p:txBody>
      </p:sp>
      <p:sp>
        <p:nvSpPr>
          <p:cNvPr id="17" name="Text 3"/>
          <p:cNvSpPr/>
          <p:nvPr/>
        </p:nvSpPr>
        <p:spPr>
          <a:xfrm>
            <a:off x="548640" y="3726540"/>
            <a:ext cx="493740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spcAft>
                <a:spcPts val="400"/>
              </a:spcAft>
              <a:tabLst>
                <a:tab pos="0" algn="l"/>
              </a:tabLst>
            </a:pPr>
            <a:r>
              <a:rPr lang="en-US" sz="1300" b="1" strike="noStrike" spc="-1" dirty="0">
                <a:solidFill>
                  <a:schemeClr val="lt2"/>
                </a:solidFill>
                <a:latin typeface="Calibri"/>
              </a:rPr>
              <a:t>Group No: </a:t>
            </a:r>
            <a:r>
              <a:rPr lang="en-US" sz="1300" spc="-1" dirty="0">
                <a:solidFill>
                  <a:schemeClr val="lt2"/>
                </a:solidFill>
                <a:latin typeface="Calibri"/>
              </a:rPr>
              <a:t>22</a:t>
            </a:r>
            <a:endParaRPr lang="en-US" sz="1300" b="0" strike="noStrike" spc="-1" dirty="0">
              <a:solidFill>
                <a:srgbClr val="FFFFFF"/>
              </a:solidFill>
              <a:latin typeface="Arial"/>
            </a:endParaRPr>
          </a:p>
          <a:p>
            <a:pPr defTabSz="914400">
              <a:lnSpc>
                <a:spcPct val="100000"/>
              </a:lnSpc>
              <a:spcAft>
                <a:spcPts val="400"/>
              </a:spcAft>
              <a:tabLst>
                <a:tab pos="0" algn="l"/>
              </a:tabLst>
            </a:pPr>
            <a:r>
              <a:rPr lang="en-US" sz="1300" b="1" strike="noStrike" spc="-1" dirty="0">
                <a:solidFill>
                  <a:schemeClr val="lt2"/>
                </a:solidFill>
                <a:latin typeface="Calibri"/>
              </a:rPr>
              <a:t>Students: </a:t>
            </a:r>
            <a:r>
              <a:rPr lang="en-US" sz="1300" spc="-1" dirty="0">
                <a:solidFill>
                  <a:schemeClr val="lt2"/>
                </a:solidFill>
                <a:latin typeface="Calibri"/>
              </a:rPr>
              <a:t>Patel Het </a:t>
            </a:r>
            <a:r>
              <a:rPr lang="en-US" sz="1300" spc="-1" dirty="0" err="1">
                <a:solidFill>
                  <a:schemeClr val="lt2"/>
                </a:solidFill>
                <a:latin typeface="Calibri"/>
              </a:rPr>
              <a:t>Chetankumar</a:t>
            </a:r>
            <a:r>
              <a:rPr lang="en-US" sz="1300" spc="-1" dirty="0">
                <a:solidFill>
                  <a:schemeClr val="lt2"/>
                </a:solidFill>
                <a:latin typeface="Calibri"/>
              </a:rPr>
              <a:t> (12502080603007)</a:t>
            </a:r>
          </a:p>
          <a:p>
            <a:pPr defTabSz="914400">
              <a:lnSpc>
                <a:spcPct val="100000"/>
              </a:lnSpc>
              <a:spcAft>
                <a:spcPts val="400"/>
              </a:spcAft>
              <a:tabLst>
                <a:tab pos="0" algn="l"/>
              </a:tabLst>
            </a:pPr>
            <a:r>
              <a:rPr lang="en-US" sz="1300" spc="-1" dirty="0">
                <a:solidFill>
                  <a:schemeClr val="lt2"/>
                </a:solidFill>
                <a:latin typeface="Calibri"/>
              </a:rPr>
              <a:t>	                  </a:t>
            </a:r>
            <a:r>
              <a:rPr lang="en-US" sz="1300" spc="-1" dirty="0" err="1">
                <a:solidFill>
                  <a:schemeClr val="lt2"/>
                </a:solidFill>
                <a:latin typeface="Calibri"/>
              </a:rPr>
              <a:t>Prabeer</a:t>
            </a:r>
            <a:r>
              <a:rPr lang="en-US" sz="1300" spc="-1" dirty="0">
                <a:solidFill>
                  <a:schemeClr val="lt2"/>
                </a:solidFill>
                <a:latin typeface="Calibri"/>
              </a:rPr>
              <a:t> </a:t>
            </a:r>
            <a:r>
              <a:rPr lang="en-US" sz="1300" spc="-1" dirty="0" err="1">
                <a:solidFill>
                  <a:schemeClr val="lt2"/>
                </a:solidFill>
                <a:latin typeface="Calibri"/>
              </a:rPr>
              <a:t>kumar</a:t>
            </a:r>
            <a:r>
              <a:rPr lang="en-US" sz="1300" spc="-1" dirty="0">
                <a:solidFill>
                  <a:schemeClr val="lt2"/>
                </a:solidFill>
                <a:latin typeface="Calibri"/>
              </a:rPr>
              <a:t> Mistry (12502080603014) </a:t>
            </a:r>
          </a:p>
          <a:p>
            <a:pPr>
              <a:spcAft>
                <a:spcPts val="400"/>
              </a:spcAft>
              <a:tabLst>
                <a:tab pos="0" algn="l"/>
              </a:tabLst>
            </a:pPr>
            <a:r>
              <a:rPr lang="en-US" sz="1300" b="0" strike="noStrike" spc="-1" dirty="0">
                <a:solidFill>
                  <a:schemeClr val="lt2"/>
                </a:solidFill>
                <a:latin typeface="Calibri"/>
              </a:rPr>
              <a:t>	</a:t>
            </a:r>
            <a:r>
              <a:rPr lang="en-US" sz="1300" spc="-1" dirty="0">
                <a:solidFill>
                  <a:schemeClr val="lt2"/>
                </a:solidFill>
              </a:rPr>
              <a:t>                  Parekh Moksh </a:t>
            </a:r>
            <a:r>
              <a:rPr lang="en-US" sz="1300" spc="-1" dirty="0" err="1">
                <a:solidFill>
                  <a:schemeClr val="lt2"/>
                </a:solidFill>
              </a:rPr>
              <a:t>Jigneshbhai</a:t>
            </a:r>
            <a:r>
              <a:rPr lang="en-US" sz="1300" spc="-1" dirty="0">
                <a:solidFill>
                  <a:schemeClr val="lt2"/>
                </a:solidFill>
              </a:rPr>
              <a:t> (12502080603012) </a:t>
            </a:r>
            <a:endParaRPr lang="en-US" sz="1300" b="0" strike="noStrike" spc="-1" dirty="0">
              <a:solidFill>
                <a:srgbClr val="FFFFFF"/>
              </a:solidFill>
              <a:latin typeface="Arial"/>
            </a:endParaRPr>
          </a:p>
          <a:p>
            <a:pPr defTabSz="914400">
              <a:lnSpc>
                <a:spcPct val="100000"/>
              </a:lnSpc>
              <a:spcAft>
                <a:spcPts val="400"/>
              </a:spcAft>
              <a:tabLst>
                <a:tab pos="0" algn="l"/>
              </a:tabLst>
            </a:pPr>
            <a:r>
              <a:rPr lang="en-US" sz="1300" b="1" strike="noStrike" spc="-1" dirty="0">
                <a:solidFill>
                  <a:schemeClr val="lt2"/>
                </a:solidFill>
                <a:latin typeface="Calibri"/>
              </a:rPr>
              <a:t>Faculty: </a:t>
            </a:r>
            <a:r>
              <a:rPr lang="en-US" sz="1300" spc="-1" dirty="0">
                <a:solidFill>
                  <a:schemeClr val="lt2"/>
                </a:solidFill>
                <a:latin typeface="Calibri"/>
              </a:rPr>
              <a:t>Yamini Dubey</a:t>
            </a:r>
            <a:endParaRPr lang="en-US" sz="1300" b="0" strike="noStrike" spc="-1" dirty="0">
              <a:solidFill>
                <a:srgbClr val="FFFFFF"/>
              </a:solidFill>
              <a:latin typeface="Arial"/>
            </a:endParaRPr>
          </a:p>
        </p:txBody>
      </p:sp>
      <p:pic>
        <p:nvPicPr>
          <p:cNvPr id="18" name="Image 0" descr="17 by 17 maze solved by A*, path in amber"/>
          <p:cNvPicPr/>
          <p:nvPr/>
        </p:nvPicPr>
        <p:blipFill>
          <a:blip r:embed="rId3"/>
          <a:stretch/>
        </p:blipFill>
        <p:spPr>
          <a:xfrm>
            <a:off x="5669280" y="1017450"/>
            <a:ext cx="3108600" cy="3108600"/>
          </a:xfrm>
          <a:prstGeom prst="rect">
            <a:avLst/>
          </a:prstGeom>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4320"/>
            <a:ext cx="8229240" cy="685440"/>
          </a:xfrm>
          <a:prstGeom prst="rect">
            <a:avLst/>
          </a:prstGeom>
          <a:noFill/>
          <a:ln w="0">
            <a:noFill/>
          </a:ln>
        </p:spPr>
        <p:txBody>
          <a:bodyPr lIns="90000" tIns="45000" rIns="90000" bIns="45000" anchor="ctr">
            <a:noAutofit/>
          </a:bodyPr>
          <a:lstStyle/>
          <a:p>
            <a:pPr indent="0" algn="ctr" defTabSz="914400">
              <a:lnSpc>
                <a:spcPct val="100000"/>
              </a:lnSpc>
              <a:buNone/>
              <a:tabLst>
                <a:tab pos="0" algn="l"/>
              </a:tabLst>
            </a:pPr>
            <a:r>
              <a:rPr lang="en-US" sz="3200" b="1" strike="noStrike" spc="-1">
                <a:solidFill>
                  <a:schemeClr val="dk2"/>
                </a:solidFill>
                <a:latin typeface="Cambria"/>
              </a:rPr>
              <a:t>Problem statement</a:t>
            </a:r>
            <a:endParaRPr lang="en-US" sz="3200" b="0" strike="noStrike" spc="-1">
              <a:solidFill>
                <a:schemeClr val="dk1"/>
              </a:solidFill>
              <a:latin typeface="Calibri"/>
            </a:endParaRPr>
          </a:p>
        </p:txBody>
      </p:sp>
      <p:sp>
        <p:nvSpPr>
          <p:cNvPr id="20" name="Text 1"/>
          <p:cNvSpPr/>
          <p:nvPr/>
        </p:nvSpPr>
        <p:spPr>
          <a:xfrm>
            <a:off x="457200" y="1051560"/>
            <a:ext cx="82292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600" b="1" strike="noStrike" spc="-1">
                <a:solidFill>
                  <a:schemeClr val="dk2"/>
                </a:solidFill>
                <a:latin typeface="Calibri"/>
              </a:rPr>
              <a:t>Find an optimal path through a maze from a source to a destination, and compare four algorithms on how well and how efficiently they do it.</a:t>
            </a:r>
            <a:endParaRPr lang="en-US" sz="1600" b="0" strike="noStrike" spc="-1">
              <a:solidFill>
                <a:srgbClr val="000000"/>
              </a:solidFill>
              <a:latin typeface="Arial"/>
            </a:endParaRPr>
          </a:p>
        </p:txBody>
      </p:sp>
      <p:sp>
        <p:nvSpPr>
          <p:cNvPr id="21" name="Problem Input"/>
          <p:cNvSpPr/>
          <p:nvPr/>
        </p:nvSpPr>
        <p:spPr>
          <a:xfrm>
            <a:off x="457200" y="1783080"/>
            <a:ext cx="5028840" cy="639720"/>
          </a:xfrm>
          <a:prstGeom prst="roundRect">
            <a:avLst>
              <a:gd name="adj" fmla="val 11429"/>
            </a:avLst>
          </a:prstGeom>
          <a:solidFill>
            <a:schemeClr val="bg2"/>
          </a:solidFill>
          <a:ln w="12700">
            <a:solidFill>
              <a:srgbClr val="F3F6F7"/>
            </a:solidFill>
            <a:round/>
          </a:ln>
          <a:effectLst>
            <a:outerShdw blurRad="1015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2" name="Input badge"/>
          <p:cNvSpPr/>
          <p:nvPr/>
        </p:nvSpPr>
        <p:spPr>
          <a:xfrm>
            <a:off x="594360" y="1856160"/>
            <a:ext cx="493560" cy="493560"/>
          </a:xfrm>
          <a:prstGeom prst="ellipse">
            <a:avLst/>
          </a:prstGeom>
          <a:solidFill>
            <a:schemeClr val="accent1"/>
          </a:solidFill>
          <a:ln w="12700">
            <a:solidFill>
              <a:srgbClr val="0E7C8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23" name="Image 0" descr="Input"/>
          <p:cNvPicPr/>
          <p:nvPr/>
        </p:nvPicPr>
        <p:blipFill>
          <a:blip r:embed="rId3"/>
          <a:stretch/>
        </p:blipFill>
        <p:spPr>
          <a:xfrm>
            <a:off x="712800" y="1974600"/>
            <a:ext cx="256320" cy="256320"/>
          </a:xfrm>
          <a:prstGeom prst="rect">
            <a:avLst/>
          </a:prstGeom>
          <a:ln w="0">
            <a:noFill/>
          </a:ln>
        </p:spPr>
      </p:pic>
      <p:sp>
        <p:nvSpPr>
          <p:cNvPr id="24" name="Text 4"/>
          <p:cNvSpPr/>
          <p:nvPr/>
        </p:nvSpPr>
        <p:spPr>
          <a:xfrm>
            <a:off x="1234440" y="1837800"/>
            <a:ext cx="127980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chemeClr val="dk2"/>
                </a:solidFill>
                <a:latin typeface="Calibri"/>
              </a:rPr>
              <a:t>Input</a:t>
            </a:r>
            <a:endParaRPr lang="en-US" sz="1500" b="0" strike="noStrike" spc="-1">
              <a:solidFill>
                <a:srgbClr val="000000"/>
              </a:solidFill>
              <a:latin typeface="Arial"/>
            </a:endParaRPr>
          </a:p>
        </p:txBody>
      </p:sp>
      <p:sp>
        <p:nvSpPr>
          <p:cNvPr id="25" name="Text 5"/>
          <p:cNvSpPr/>
          <p:nvPr/>
        </p:nvSpPr>
        <p:spPr>
          <a:xfrm>
            <a:off x="2514600" y="1837800"/>
            <a:ext cx="288000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strike="noStrike" spc="-1">
                <a:solidFill>
                  <a:schemeClr val="dk1"/>
                </a:solidFill>
                <a:latin typeface="Calibri"/>
              </a:rPr>
              <a:t>Maze grid, source cell, destination cell</a:t>
            </a:r>
            <a:endParaRPr lang="en-US" sz="1200" b="0" strike="noStrike" spc="-1">
              <a:solidFill>
                <a:srgbClr val="000000"/>
              </a:solidFill>
              <a:latin typeface="Arial"/>
            </a:endParaRPr>
          </a:p>
        </p:txBody>
      </p:sp>
      <p:sp>
        <p:nvSpPr>
          <p:cNvPr id="26" name="Problem Output"/>
          <p:cNvSpPr/>
          <p:nvPr/>
        </p:nvSpPr>
        <p:spPr>
          <a:xfrm>
            <a:off x="457200" y="2514600"/>
            <a:ext cx="5028840" cy="639720"/>
          </a:xfrm>
          <a:prstGeom prst="roundRect">
            <a:avLst>
              <a:gd name="adj" fmla="val 11429"/>
            </a:avLst>
          </a:prstGeom>
          <a:solidFill>
            <a:schemeClr val="bg2"/>
          </a:solidFill>
          <a:ln w="12700">
            <a:solidFill>
              <a:srgbClr val="F3F6F7"/>
            </a:solidFill>
            <a:round/>
          </a:ln>
          <a:effectLst>
            <a:outerShdw blurRad="1015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7" name="Output badge"/>
          <p:cNvSpPr/>
          <p:nvPr/>
        </p:nvSpPr>
        <p:spPr>
          <a:xfrm>
            <a:off x="594360" y="2587680"/>
            <a:ext cx="493560" cy="493560"/>
          </a:xfrm>
          <a:prstGeom prst="ellipse">
            <a:avLst/>
          </a:prstGeom>
          <a:solidFill>
            <a:schemeClr val="accent3"/>
          </a:solidFill>
          <a:ln w="12700">
            <a:solidFill>
              <a:srgbClr val="2E86A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28" name="Image 1" descr="Output"/>
          <p:cNvPicPr/>
          <p:nvPr/>
        </p:nvPicPr>
        <p:blipFill>
          <a:blip r:embed="rId4"/>
          <a:stretch/>
        </p:blipFill>
        <p:spPr>
          <a:xfrm>
            <a:off x="712800" y="2706120"/>
            <a:ext cx="256320" cy="256320"/>
          </a:xfrm>
          <a:prstGeom prst="rect">
            <a:avLst/>
          </a:prstGeom>
          <a:ln w="0">
            <a:noFill/>
          </a:ln>
        </p:spPr>
      </p:pic>
      <p:sp>
        <p:nvSpPr>
          <p:cNvPr id="29" name="Text 8"/>
          <p:cNvSpPr/>
          <p:nvPr/>
        </p:nvSpPr>
        <p:spPr>
          <a:xfrm>
            <a:off x="1234440" y="2569320"/>
            <a:ext cx="127980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chemeClr val="dk2"/>
                </a:solidFill>
                <a:latin typeface="Calibri"/>
              </a:rPr>
              <a:t>Output</a:t>
            </a:r>
            <a:endParaRPr lang="en-US" sz="1500" b="0" strike="noStrike" spc="-1">
              <a:solidFill>
                <a:srgbClr val="000000"/>
              </a:solidFill>
              <a:latin typeface="Arial"/>
            </a:endParaRPr>
          </a:p>
        </p:txBody>
      </p:sp>
      <p:sp>
        <p:nvSpPr>
          <p:cNvPr id="30" name="Text 9"/>
          <p:cNvSpPr/>
          <p:nvPr/>
        </p:nvSpPr>
        <p:spPr>
          <a:xfrm>
            <a:off x="2514600" y="2569320"/>
            <a:ext cx="288000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strike="noStrike" spc="-1">
                <a:solidFill>
                  <a:schemeClr val="dk1"/>
                </a:solidFill>
                <a:latin typeface="Calibri"/>
              </a:rPr>
              <a:t>Path, path length, execution time, nodes explored</a:t>
            </a:r>
            <a:endParaRPr lang="en-US" sz="1200" b="0" strike="noStrike" spc="-1">
              <a:solidFill>
                <a:srgbClr val="000000"/>
              </a:solidFill>
              <a:latin typeface="Arial"/>
            </a:endParaRPr>
          </a:p>
        </p:txBody>
      </p:sp>
      <p:sp>
        <p:nvSpPr>
          <p:cNvPr id="31" name="Problem Constraints"/>
          <p:cNvSpPr/>
          <p:nvPr/>
        </p:nvSpPr>
        <p:spPr>
          <a:xfrm>
            <a:off x="457200" y="3246120"/>
            <a:ext cx="5028840" cy="639720"/>
          </a:xfrm>
          <a:prstGeom prst="roundRect">
            <a:avLst>
              <a:gd name="adj" fmla="val 11429"/>
            </a:avLst>
          </a:prstGeom>
          <a:solidFill>
            <a:schemeClr val="bg2"/>
          </a:solidFill>
          <a:ln w="12700">
            <a:solidFill>
              <a:srgbClr val="F3F6F7"/>
            </a:solidFill>
            <a:round/>
          </a:ln>
          <a:effectLst>
            <a:outerShdw blurRad="1015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2" name="Constraints badge"/>
          <p:cNvSpPr/>
          <p:nvPr/>
        </p:nvSpPr>
        <p:spPr>
          <a:xfrm>
            <a:off x="594360" y="3319200"/>
            <a:ext cx="493560" cy="493560"/>
          </a:xfrm>
          <a:prstGeom prst="ellipse">
            <a:avLst/>
          </a:prstGeom>
          <a:solidFill>
            <a:schemeClr val="accent4"/>
          </a:solidFill>
          <a:ln w="12700">
            <a:solidFill>
              <a:srgbClr val="C8553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33" name="Image 2" descr="Constraints"/>
          <p:cNvPicPr/>
          <p:nvPr/>
        </p:nvPicPr>
        <p:blipFill>
          <a:blip r:embed="rId5"/>
          <a:stretch/>
        </p:blipFill>
        <p:spPr>
          <a:xfrm>
            <a:off x="712800" y="3437640"/>
            <a:ext cx="256320" cy="256320"/>
          </a:xfrm>
          <a:prstGeom prst="rect">
            <a:avLst/>
          </a:prstGeom>
          <a:ln w="0">
            <a:noFill/>
          </a:ln>
        </p:spPr>
      </p:pic>
      <p:sp>
        <p:nvSpPr>
          <p:cNvPr id="34" name="Text 12"/>
          <p:cNvSpPr/>
          <p:nvPr/>
        </p:nvSpPr>
        <p:spPr>
          <a:xfrm>
            <a:off x="1234440" y="3300840"/>
            <a:ext cx="127980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chemeClr val="dk2"/>
                </a:solidFill>
                <a:latin typeface="Calibri"/>
              </a:rPr>
              <a:t>Constraints</a:t>
            </a:r>
            <a:endParaRPr lang="en-US" sz="1500" b="0" strike="noStrike" spc="-1">
              <a:solidFill>
                <a:srgbClr val="000000"/>
              </a:solidFill>
              <a:latin typeface="Arial"/>
            </a:endParaRPr>
          </a:p>
        </p:txBody>
      </p:sp>
      <p:sp>
        <p:nvSpPr>
          <p:cNvPr id="35" name="Text 13"/>
          <p:cNvSpPr/>
          <p:nvPr/>
        </p:nvSpPr>
        <p:spPr>
          <a:xfrm>
            <a:off x="2514600" y="3300840"/>
            <a:ext cx="288000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strike="noStrike" spc="-1">
                <a:solidFill>
                  <a:schemeClr val="dk1"/>
                </a:solidFill>
                <a:latin typeface="Calibri"/>
              </a:rPr>
              <a:t>4-directional moves, non-negative costs, solvable maze</a:t>
            </a:r>
            <a:endParaRPr lang="en-US" sz="1200" b="0" strike="noStrike" spc="-1">
              <a:solidFill>
                <a:srgbClr val="000000"/>
              </a:solidFill>
              <a:latin typeface="Arial"/>
            </a:endParaRPr>
          </a:p>
        </p:txBody>
      </p:sp>
      <p:sp>
        <p:nvSpPr>
          <p:cNvPr id="36" name="Problem Objective"/>
          <p:cNvSpPr/>
          <p:nvPr/>
        </p:nvSpPr>
        <p:spPr>
          <a:xfrm>
            <a:off x="457200" y="3977640"/>
            <a:ext cx="5028840" cy="639720"/>
          </a:xfrm>
          <a:prstGeom prst="roundRect">
            <a:avLst>
              <a:gd name="adj" fmla="val 11429"/>
            </a:avLst>
          </a:prstGeom>
          <a:solidFill>
            <a:schemeClr val="bg2"/>
          </a:solidFill>
          <a:ln w="12700">
            <a:solidFill>
              <a:srgbClr val="F3F6F7"/>
            </a:solidFill>
            <a:round/>
          </a:ln>
          <a:effectLst>
            <a:outerShdw blurRad="1015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7" name="Objective badge"/>
          <p:cNvSpPr/>
          <p:nvPr/>
        </p:nvSpPr>
        <p:spPr>
          <a:xfrm>
            <a:off x="594360" y="4050720"/>
            <a:ext cx="493560" cy="493560"/>
          </a:xfrm>
          <a:prstGeom prst="ellipse">
            <a:avLst/>
          </a:prstGeom>
          <a:solidFill>
            <a:schemeClr val="accent5"/>
          </a:solidFill>
          <a:ln w="12700">
            <a:solidFill>
              <a:srgbClr val="5C9A3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38" name="Image 3" descr="Objective"/>
          <p:cNvPicPr/>
          <p:nvPr/>
        </p:nvPicPr>
        <p:blipFill>
          <a:blip r:embed="rId6"/>
          <a:stretch/>
        </p:blipFill>
        <p:spPr>
          <a:xfrm>
            <a:off x="712800" y="4169160"/>
            <a:ext cx="256320" cy="256320"/>
          </a:xfrm>
          <a:prstGeom prst="rect">
            <a:avLst/>
          </a:prstGeom>
          <a:ln w="0">
            <a:noFill/>
          </a:ln>
        </p:spPr>
      </p:pic>
      <p:sp>
        <p:nvSpPr>
          <p:cNvPr id="39" name="Text 16"/>
          <p:cNvSpPr/>
          <p:nvPr/>
        </p:nvSpPr>
        <p:spPr>
          <a:xfrm>
            <a:off x="1234440" y="4032360"/>
            <a:ext cx="127980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chemeClr val="dk2"/>
                </a:solidFill>
                <a:latin typeface="Calibri"/>
              </a:rPr>
              <a:t>Objective</a:t>
            </a:r>
            <a:endParaRPr lang="en-US" sz="1500" b="0" strike="noStrike" spc="-1">
              <a:solidFill>
                <a:srgbClr val="000000"/>
              </a:solidFill>
              <a:latin typeface="Arial"/>
            </a:endParaRPr>
          </a:p>
        </p:txBody>
      </p:sp>
      <p:sp>
        <p:nvSpPr>
          <p:cNvPr id="40" name="Text 17"/>
          <p:cNvSpPr/>
          <p:nvPr/>
        </p:nvSpPr>
        <p:spPr>
          <a:xfrm>
            <a:off x="2514600" y="4032360"/>
            <a:ext cx="288000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strike="noStrike" spc="-1">
                <a:solidFill>
                  <a:schemeClr val="dk1"/>
                </a:solidFill>
                <a:latin typeface="Calibri"/>
              </a:rPr>
              <a:t>Shortest path at lowest cost; rank BFS, DFS, Dijkstra, A*</a:t>
            </a:r>
            <a:endParaRPr lang="en-US" sz="1200" b="0" strike="noStrike" spc="-1">
              <a:solidFill>
                <a:srgbClr val="000000"/>
              </a:solidFill>
              <a:latin typeface="Arial"/>
            </a:endParaRPr>
          </a:p>
        </p:txBody>
      </p:sp>
      <p:pic>
        <p:nvPicPr>
          <p:cNvPr id="41" name="Image 4" descr="Input maze with source S and destination G"/>
          <p:cNvPicPr/>
          <p:nvPr/>
        </p:nvPicPr>
        <p:blipFill>
          <a:blip r:embed="rId7"/>
          <a:stretch/>
        </p:blipFill>
        <p:spPr>
          <a:xfrm>
            <a:off x="5943600" y="1737360"/>
            <a:ext cx="2742840" cy="2742840"/>
          </a:xfrm>
          <a:prstGeom prst="rect">
            <a:avLst/>
          </a:prstGeom>
          <a:ln w="0">
            <a:noFill/>
          </a:ln>
        </p:spPr>
      </p:pic>
      <p:sp>
        <p:nvSpPr>
          <p:cNvPr id="42" name="Text 18"/>
          <p:cNvSpPr/>
          <p:nvPr/>
        </p:nvSpPr>
        <p:spPr>
          <a:xfrm>
            <a:off x="5943600" y="452628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100" b="0" i="1" strike="noStrike" spc="-1">
                <a:solidFill>
                  <a:schemeClr val="accent6"/>
                </a:solidFill>
                <a:latin typeface="Calibri"/>
              </a:rPr>
              <a:t>Example input: source S, destination G</a:t>
            </a:r>
            <a:endParaRPr lang="en-US" sz="1100" b="0" strike="noStrike" spc="-1">
              <a:solidFill>
                <a:srgbClr val="000000"/>
              </a:solidFill>
              <a:latin typeface="Arial"/>
            </a:endParaRPr>
          </a:p>
        </p:txBody>
      </p:sp>
      <p:sp>
        <p:nvSpPr>
          <p:cNvPr id="43" name="PlaceHolder 2"/>
          <p:cNvSpPr>
            <a:spLocks noGrp="1"/>
          </p:cNvSpPr>
          <p:nvPr>
            <p:ph type="sldNum" idx="6"/>
          </p:nvPr>
        </p:nvSpPr>
        <p:spPr>
          <a:xfrm>
            <a:off x="8321040" y="4754880"/>
            <a:ext cx="456840" cy="273960"/>
          </a:xfrm>
          <a:prstGeom prst="rect">
            <a:avLst/>
          </a:prstGeom>
          <a:noFill/>
          <a:ln w="0">
            <a:noFill/>
          </a:ln>
        </p:spPr>
        <p:txBody>
          <a:bodyPr lIns="90000" tIns="45000" rIns="90000" bIns="45000" anchor="t">
            <a:noAutofit/>
          </a:bodyPr>
          <a:lstStyle>
            <a:lvl1pPr indent="0" defTabSz="914400">
              <a:lnSpc>
                <a:spcPct val="100000"/>
              </a:lnSpc>
              <a:buNone/>
              <a:defRPr lang="en-US" sz="1000" b="0" strike="noStrike" spc="-1">
                <a:solidFill>
                  <a:schemeClr val="accent6"/>
                </a:solidFill>
                <a:latin typeface="Calibri"/>
              </a:defRPr>
            </a:lvl1pPr>
          </a:lstStyle>
          <a:p>
            <a:pPr indent="0" defTabSz="914400">
              <a:lnSpc>
                <a:spcPct val="100000"/>
              </a:lnSpc>
              <a:buNone/>
            </a:pPr>
            <a:fld id="{2210B174-FDFB-4A52-86D5-CBA4F7E81DCA}" type="slidenum">
              <a:rPr lang="en-US" sz="1000" b="0" strike="noStrike" spc="-1">
                <a:solidFill>
                  <a:schemeClr val="accent6"/>
                </a:solidFill>
                <a:latin typeface="Calibri"/>
              </a:rPr>
              <a:t>2</a:t>
            </a:fld>
            <a:endParaRPr lang="en-US" sz="1000" b="0" strike="noStrike" spc="-1">
              <a:solidFill>
                <a:srgbClr val="000000"/>
              </a:solidFill>
              <a:latin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PlaceHolder 1"/>
          <p:cNvSpPr>
            <a:spLocks noGrp="1"/>
          </p:cNvSpPr>
          <p:nvPr>
            <p:ph type="title"/>
          </p:nvPr>
        </p:nvSpPr>
        <p:spPr>
          <a:xfrm>
            <a:off x="457200" y="274320"/>
            <a:ext cx="8229240" cy="685440"/>
          </a:xfrm>
          <a:prstGeom prst="rect">
            <a:avLst/>
          </a:prstGeom>
          <a:noFill/>
          <a:ln w="0">
            <a:noFill/>
          </a:ln>
        </p:spPr>
        <p:txBody>
          <a:bodyPr lIns="90000" tIns="45000" rIns="90000" bIns="45000" anchor="ctr">
            <a:noAutofit/>
          </a:bodyPr>
          <a:lstStyle/>
          <a:p>
            <a:pPr indent="0" algn="ctr" defTabSz="914400">
              <a:lnSpc>
                <a:spcPct val="100000"/>
              </a:lnSpc>
              <a:buNone/>
              <a:tabLst>
                <a:tab pos="0" algn="l"/>
              </a:tabLst>
            </a:pPr>
            <a:r>
              <a:rPr lang="en-US" sz="3200" b="1" strike="noStrike" spc="-1">
                <a:solidFill>
                  <a:schemeClr val="dk2"/>
                </a:solidFill>
                <a:latin typeface="Cambria"/>
              </a:rPr>
              <a:t>Motivation and real-world use</a:t>
            </a:r>
            <a:endParaRPr lang="en-US" sz="3200" b="0" strike="noStrike" spc="-1">
              <a:solidFill>
                <a:schemeClr val="dk1"/>
              </a:solidFill>
              <a:latin typeface="Calibri"/>
            </a:endParaRPr>
          </a:p>
        </p:txBody>
      </p:sp>
      <p:sp>
        <p:nvSpPr>
          <p:cNvPr id="45" name="Motivation Why it matters"/>
          <p:cNvSpPr/>
          <p:nvPr/>
        </p:nvSpPr>
        <p:spPr>
          <a:xfrm>
            <a:off x="457200" y="1143000"/>
            <a:ext cx="2559960" cy="3428640"/>
          </a:xfrm>
          <a:prstGeom prst="roundRect">
            <a:avLst>
              <a:gd name="adj" fmla="val 2857"/>
            </a:avLst>
          </a:prstGeom>
          <a:solidFill>
            <a:schemeClr val="bg1"/>
          </a:solidFill>
          <a:ln w="12700">
            <a:solidFill>
              <a:srgbClr val="FFFFFF"/>
            </a:solidFill>
            <a:round/>
          </a:ln>
          <a:effectLst>
            <a:outerShdw blurRad="1015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46" name="Image 0" descr="Route map with shortest path"/>
          <p:cNvPicPr/>
          <p:nvPr/>
        </p:nvPicPr>
        <p:blipFill>
          <a:blip r:embed="rId3"/>
          <a:stretch/>
        </p:blipFill>
        <p:spPr>
          <a:xfrm>
            <a:off x="640080" y="1280160"/>
            <a:ext cx="2194200" cy="1513080"/>
          </a:xfrm>
          <a:prstGeom prst="rect">
            <a:avLst/>
          </a:prstGeom>
          <a:ln w="0">
            <a:noFill/>
          </a:ln>
        </p:spPr>
      </p:pic>
      <p:sp>
        <p:nvSpPr>
          <p:cNvPr id="47" name="Text 2"/>
          <p:cNvSpPr/>
          <p:nvPr/>
        </p:nvSpPr>
        <p:spPr>
          <a:xfrm>
            <a:off x="640080" y="2926080"/>
            <a:ext cx="21942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700" b="1" strike="noStrike" spc="-1">
                <a:solidFill>
                  <a:schemeClr val="dk2"/>
                </a:solidFill>
                <a:latin typeface="Calibri"/>
              </a:rPr>
              <a:t>Why it matters</a:t>
            </a:r>
            <a:endParaRPr lang="en-US" sz="1700" b="0" strike="noStrike" spc="-1">
              <a:solidFill>
                <a:srgbClr val="000000"/>
              </a:solidFill>
              <a:latin typeface="Arial"/>
            </a:endParaRPr>
          </a:p>
        </p:txBody>
      </p:sp>
      <p:sp>
        <p:nvSpPr>
          <p:cNvPr id="48" name="Text 3"/>
          <p:cNvSpPr/>
          <p:nvPr/>
        </p:nvSpPr>
        <p:spPr>
          <a:xfrm>
            <a:off x="640080" y="3291840"/>
            <a:ext cx="219420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strike="noStrike" spc="-1">
                <a:solidFill>
                  <a:schemeClr val="dk1"/>
                </a:solidFill>
                <a:latin typeface="Calibri"/>
              </a:rPr>
              <a:t>Efficient routes save time, fuel and computation. The wrong algorithm wastes both.</a:t>
            </a:r>
            <a:endParaRPr lang="en-US" sz="1300" b="0" strike="noStrike" spc="-1">
              <a:solidFill>
                <a:srgbClr val="000000"/>
              </a:solidFill>
              <a:latin typeface="Arial"/>
            </a:endParaRPr>
          </a:p>
        </p:txBody>
      </p:sp>
      <p:sp>
        <p:nvSpPr>
          <p:cNvPr id="49" name="Motivation Where it is used"/>
          <p:cNvSpPr/>
          <p:nvPr/>
        </p:nvSpPr>
        <p:spPr>
          <a:xfrm>
            <a:off x="3291840" y="1143000"/>
            <a:ext cx="2559960" cy="3428640"/>
          </a:xfrm>
          <a:prstGeom prst="roundRect">
            <a:avLst>
              <a:gd name="adj" fmla="val 2857"/>
            </a:avLst>
          </a:prstGeom>
          <a:solidFill>
            <a:schemeClr val="bg1"/>
          </a:solidFill>
          <a:ln w="12700">
            <a:solidFill>
              <a:srgbClr val="FFFFFF"/>
            </a:solidFill>
            <a:round/>
          </a:ln>
          <a:effectLst>
            <a:outerShdw blurRad="1015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50" name="Image 1" descr="Warehouse robot path planning"/>
          <p:cNvPicPr/>
          <p:nvPr/>
        </p:nvPicPr>
        <p:blipFill>
          <a:blip r:embed="rId4"/>
          <a:stretch/>
        </p:blipFill>
        <p:spPr>
          <a:xfrm>
            <a:off x="3474720" y="1280160"/>
            <a:ext cx="2194200" cy="1513080"/>
          </a:xfrm>
          <a:prstGeom prst="rect">
            <a:avLst/>
          </a:prstGeom>
          <a:ln w="0">
            <a:noFill/>
          </a:ln>
        </p:spPr>
      </p:pic>
      <p:sp>
        <p:nvSpPr>
          <p:cNvPr id="51" name="Text 5"/>
          <p:cNvSpPr/>
          <p:nvPr/>
        </p:nvSpPr>
        <p:spPr>
          <a:xfrm>
            <a:off x="3474720" y="2926080"/>
            <a:ext cx="21942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700" b="1" strike="noStrike" spc="-1">
                <a:solidFill>
                  <a:schemeClr val="dk2"/>
                </a:solidFill>
                <a:latin typeface="Calibri"/>
              </a:rPr>
              <a:t>Where it is used</a:t>
            </a:r>
            <a:endParaRPr lang="en-US" sz="1700" b="0" strike="noStrike" spc="-1">
              <a:solidFill>
                <a:srgbClr val="000000"/>
              </a:solidFill>
              <a:latin typeface="Arial"/>
            </a:endParaRPr>
          </a:p>
        </p:txBody>
      </p:sp>
      <p:sp>
        <p:nvSpPr>
          <p:cNvPr id="52" name="Text 6"/>
          <p:cNvSpPr/>
          <p:nvPr/>
        </p:nvSpPr>
        <p:spPr>
          <a:xfrm>
            <a:off x="3474720" y="3291840"/>
            <a:ext cx="219420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strike="noStrike" spc="-1">
                <a:solidFill>
                  <a:schemeClr val="dk1"/>
                </a:solidFill>
                <a:latin typeface="Calibri"/>
              </a:rPr>
              <a:t>GPS navigation, game AI, warehouse robots, network routing</a:t>
            </a:r>
            <a:endParaRPr lang="en-US" sz="1300" b="0" strike="noStrike" spc="-1">
              <a:solidFill>
                <a:srgbClr val="000000"/>
              </a:solidFill>
              <a:latin typeface="Arial"/>
            </a:endParaRPr>
          </a:p>
        </p:txBody>
      </p:sp>
      <p:sp>
        <p:nvSpPr>
          <p:cNvPr id="53" name="Motivation Who benefits"/>
          <p:cNvSpPr/>
          <p:nvPr/>
        </p:nvSpPr>
        <p:spPr>
          <a:xfrm>
            <a:off x="6126480" y="1143000"/>
            <a:ext cx="2559960" cy="3428640"/>
          </a:xfrm>
          <a:prstGeom prst="roundRect">
            <a:avLst>
              <a:gd name="adj" fmla="val 2857"/>
            </a:avLst>
          </a:prstGeom>
          <a:solidFill>
            <a:schemeClr val="bg1"/>
          </a:solidFill>
          <a:ln w="12700">
            <a:solidFill>
              <a:srgbClr val="FFFFFF"/>
            </a:solidFill>
            <a:round/>
          </a:ln>
          <a:effectLst>
            <a:outerShdw blurRad="1015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54" name="Image 2" descr="Game character finding a path"/>
          <p:cNvPicPr/>
          <p:nvPr/>
        </p:nvPicPr>
        <p:blipFill>
          <a:blip r:embed="rId5"/>
          <a:stretch/>
        </p:blipFill>
        <p:spPr>
          <a:xfrm>
            <a:off x="6309360" y="1280160"/>
            <a:ext cx="2194200" cy="1513080"/>
          </a:xfrm>
          <a:prstGeom prst="rect">
            <a:avLst/>
          </a:prstGeom>
          <a:ln w="0">
            <a:noFill/>
          </a:ln>
        </p:spPr>
      </p:pic>
      <p:sp>
        <p:nvSpPr>
          <p:cNvPr id="55" name="Text 8"/>
          <p:cNvSpPr/>
          <p:nvPr/>
        </p:nvSpPr>
        <p:spPr>
          <a:xfrm>
            <a:off x="6309360" y="2926080"/>
            <a:ext cx="21942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700" b="1" strike="noStrike" spc="-1">
                <a:solidFill>
                  <a:schemeClr val="dk2"/>
                </a:solidFill>
                <a:latin typeface="Calibri"/>
              </a:rPr>
              <a:t>Who benefits</a:t>
            </a:r>
            <a:endParaRPr lang="en-US" sz="1700" b="0" strike="noStrike" spc="-1">
              <a:solidFill>
                <a:srgbClr val="000000"/>
              </a:solidFill>
              <a:latin typeface="Arial"/>
            </a:endParaRPr>
          </a:p>
        </p:txBody>
      </p:sp>
      <p:sp>
        <p:nvSpPr>
          <p:cNvPr id="56" name="Text 9"/>
          <p:cNvSpPr/>
          <p:nvPr/>
        </p:nvSpPr>
        <p:spPr>
          <a:xfrm>
            <a:off x="6309360" y="3291840"/>
            <a:ext cx="219420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strike="noStrike" spc="-1">
                <a:solidFill>
                  <a:schemeClr val="dk1"/>
                </a:solidFill>
                <a:latin typeface="Calibri"/>
              </a:rPr>
              <a:t>Students, game and robotics developers, logistics and mapping teams</a:t>
            </a:r>
            <a:endParaRPr lang="en-US" sz="1300" b="0" strike="noStrike" spc="-1">
              <a:solidFill>
                <a:srgbClr val="000000"/>
              </a:solidFill>
              <a:latin typeface="Arial"/>
            </a:endParaRPr>
          </a:p>
        </p:txBody>
      </p:sp>
      <p:sp>
        <p:nvSpPr>
          <p:cNvPr id="57" name="PlaceHolder 2"/>
          <p:cNvSpPr>
            <a:spLocks noGrp="1"/>
          </p:cNvSpPr>
          <p:nvPr>
            <p:ph type="sldNum" idx="7"/>
          </p:nvPr>
        </p:nvSpPr>
        <p:spPr>
          <a:xfrm>
            <a:off x="8321040" y="4754880"/>
            <a:ext cx="456840" cy="273960"/>
          </a:xfrm>
          <a:prstGeom prst="rect">
            <a:avLst/>
          </a:prstGeom>
          <a:noFill/>
          <a:ln w="0">
            <a:noFill/>
          </a:ln>
        </p:spPr>
        <p:txBody>
          <a:bodyPr lIns="90000" tIns="45000" rIns="90000" bIns="45000" anchor="t">
            <a:noAutofit/>
          </a:bodyPr>
          <a:lstStyle>
            <a:lvl1pPr indent="0" defTabSz="914400">
              <a:lnSpc>
                <a:spcPct val="100000"/>
              </a:lnSpc>
              <a:buNone/>
              <a:defRPr lang="en-US" sz="1000" b="0" strike="noStrike" spc="-1">
                <a:solidFill>
                  <a:schemeClr val="accent6"/>
                </a:solidFill>
                <a:latin typeface="Calibri"/>
              </a:defRPr>
            </a:lvl1pPr>
          </a:lstStyle>
          <a:p>
            <a:pPr indent="0" defTabSz="914400">
              <a:lnSpc>
                <a:spcPct val="100000"/>
              </a:lnSpc>
              <a:buNone/>
            </a:pPr>
            <a:fld id="{8E031EDC-E402-424F-B729-95BCC22D6A79}" type="slidenum">
              <a:rPr lang="en-US" sz="1000" b="0" strike="noStrike" spc="-1">
                <a:solidFill>
                  <a:schemeClr val="accent6"/>
                </a:solidFill>
                <a:latin typeface="Calibri"/>
              </a:rPr>
              <a:t>3</a:t>
            </a:fld>
            <a:endParaRPr lang="en-US" sz="1000" b="0" strike="noStrike" spc="-1">
              <a:solidFill>
                <a:srgbClr val="000000"/>
              </a:solidFill>
              <a:latin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320"/>
            <a:ext cx="8229240" cy="685440"/>
          </a:xfrm>
          <a:prstGeom prst="rect">
            <a:avLst/>
          </a:prstGeom>
          <a:noFill/>
          <a:ln w="0">
            <a:noFill/>
          </a:ln>
        </p:spPr>
        <p:txBody>
          <a:bodyPr lIns="90000" tIns="45000" rIns="90000" bIns="45000" anchor="ctr">
            <a:noAutofit/>
          </a:bodyPr>
          <a:lstStyle/>
          <a:p>
            <a:pPr indent="0" algn="ctr" defTabSz="914400">
              <a:lnSpc>
                <a:spcPct val="100000"/>
              </a:lnSpc>
              <a:buNone/>
              <a:tabLst>
                <a:tab pos="0" algn="l"/>
              </a:tabLst>
            </a:pPr>
            <a:r>
              <a:rPr lang="en-US" sz="3200" b="1" strike="noStrike" spc="-1">
                <a:solidFill>
                  <a:schemeClr val="dk2"/>
                </a:solidFill>
                <a:latin typeface="Cambria"/>
              </a:rPr>
              <a:t>Objectives</a:t>
            </a:r>
            <a:endParaRPr lang="en-US" sz="3200" b="0" strike="noStrike" spc="-1">
              <a:solidFill>
                <a:schemeClr val="dk1"/>
              </a:solidFill>
              <a:latin typeface="Calibri"/>
            </a:endParaRPr>
          </a:p>
        </p:txBody>
      </p:sp>
      <p:sp>
        <p:nvSpPr>
          <p:cNvPr id="59" name="Obj num 0"/>
          <p:cNvSpPr/>
          <p:nvPr/>
        </p:nvSpPr>
        <p:spPr>
          <a:xfrm>
            <a:off x="457200" y="1170360"/>
            <a:ext cx="456840" cy="456840"/>
          </a:xfrm>
          <a:prstGeom prst="ellipse">
            <a:avLst/>
          </a:prstGeom>
          <a:solidFill>
            <a:schemeClr val="accent1"/>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60" name="Text 2"/>
          <p:cNvSpPr/>
          <p:nvPr/>
        </p:nvSpPr>
        <p:spPr>
          <a:xfrm>
            <a:off x="457200" y="117036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chemeClr val="lt1"/>
                </a:solidFill>
                <a:latin typeface="Calibri"/>
              </a:rPr>
              <a:t>1</a:t>
            </a:r>
            <a:endParaRPr lang="en-US" sz="1600" b="0" strike="noStrike" spc="-1">
              <a:solidFill>
                <a:srgbClr val="000000"/>
              </a:solidFill>
              <a:latin typeface="Arial"/>
            </a:endParaRPr>
          </a:p>
        </p:txBody>
      </p:sp>
      <p:sp>
        <p:nvSpPr>
          <p:cNvPr id="61" name="Text 3"/>
          <p:cNvSpPr/>
          <p:nvPr/>
        </p:nvSpPr>
        <p:spPr>
          <a:xfrm>
            <a:off x="1097280" y="1143000"/>
            <a:ext cx="4114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600" b="1" strike="noStrike" spc="-1">
                <a:solidFill>
                  <a:schemeClr val="dk2"/>
                </a:solidFill>
                <a:latin typeface="Calibri"/>
              </a:rPr>
              <a:t>Implement</a:t>
            </a:r>
            <a:endParaRPr lang="en-US" sz="1600" b="0" strike="noStrike" spc="-1">
              <a:solidFill>
                <a:srgbClr val="000000"/>
              </a:solidFill>
              <a:latin typeface="Arial"/>
            </a:endParaRPr>
          </a:p>
        </p:txBody>
      </p:sp>
      <p:sp>
        <p:nvSpPr>
          <p:cNvPr id="62" name="Text 4"/>
          <p:cNvSpPr/>
          <p:nvPr/>
        </p:nvSpPr>
        <p:spPr>
          <a:xfrm>
            <a:off x="1097280" y="1417320"/>
            <a:ext cx="41144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strike="noStrike" spc="-1">
                <a:solidFill>
                  <a:schemeClr val="dk1"/>
                </a:solidFill>
                <a:latin typeface="Calibri"/>
              </a:rPr>
              <a:t>BFS, DFS, Dijkstra, A* on one shared grid model</a:t>
            </a:r>
            <a:endParaRPr lang="en-US" sz="1300" b="0" strike="noStrike" spc="-1">
              <a:solidFill>
                <a:srgbClr val="000000"/>
              </a:solidFill>
              <a:latin typeface="Arial"/>
            </a:endParaRPr>
          </a:p>
        </p:txBody>
      </p:sp>
      <p:sp>
        <p:nvSpPr>
          <p:cNvPr id="63" name="Obj num 1"/>
          <p:cNvSpPr/>
          <p:nvPr/>
        </p:nvSpPr>
        <p:spPr>
          <a:xfrm>
            <a:off x="457200" y="1865520"/>
            <a:ext cx="456840" cy="456840"/>
          </a:xfrm>
          <a:prstGeom prst="ellipse">
            <a:avLst/>
          </a:prstGeom>
          <a:solidFill>
            <a:schemeClr val="accent3"/>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64" name="Text 6"/>
          <p:cNvSpPr/>
          <p:nvPr/>
        </p:nvSpPr>
        <p:spPr>
          <a:xfrm>
            <a:off x="457200" y="186552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chemeClr val="lt1"/>
                </a:solidFill>
                <a:latin typeface="Calibri"/>
              </a:rPr>
              <a:t>2</a:t>
            </a:r>
            <a:endParaRPr lang="en-US" sz="1600" b="0" strike="noStrike" spc="-1">
              <a:solidFill>
                <a:srgbClr val="000000"/>
              </a:solidFill>
              <a:latin typeface="Arial"/>
            </a:endParaRPr>
          </a:p>
        </p:txBody>
      </p:sp>
      <p:sp>
        <p:nvSpPr>
          <p:cNvPr id="65" name="Text 7"/>
          <p:cNvSpPr/>
          <p:nvPr/>
        </p:nvSpPr>
        <p:spPr>
          <a:xfrm>
            <a:off x="1097280" y="1837800"/>
            <a:ext cx="4114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600" b="1" strike="noStrike" spc="-1">
                <a:solidFill>
                  <a:schemeClr val="dk2"/>
                </a:solidFill>
                <a:latin typeface="Calibri"/>
              </a:rPr>
              <a:t>Build</a:t>
            </a:r>
            <a:endParaRPr lang="en-US" sz="1600" b="0" strike="noStrike" spc="-1">
              <a:solidFill>
                <a:srgbClr val="000000"/>
              </a:solidFill>
              <a:latin typeface="Arial"/>
            </a:endParaRPr>
          </a:p>
        </p:txBody>
      </p:sp>
      <p:sp>
        <p:nvSpPr>
          <p:cNvPr id="66" name="Text 8"/>
          <p:cNvSpPr/>
          <p:nvPr/>
        </p:nvSpPr>
        <p:spPr>
          <a:xfrm>
            <a:off x="1097280" y="2112120"/>
            <a:ext cx="41144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strike="noStrike" spc="-1">
                <a:solidFill>
                  <a:schemeClr val="dk1"/>
                </a:solidFill>
                <a:latin typeface="Calibri"/>
              </a:rPr>
              <a:t>Interactive maze with walls, source and destination</a:t>
            </a:r>
            <a:endParaRPr lang="en-US" sz="1300" b="0" strike="noStrike" spc="-1">
              <a:solidFill>
                <a:srgbClr val="000000"/>
              </a:solidFill>
              <a:latin typeface="Arial"/>
            </a:endParaRPr>
          </a:p>
        </p:txBody>
      </p:sp>
      <p:sp>
        <p:nvSpPr>
          <p:cNvPr id="67" name="Obj num 2"/>
          <p:cNvSpPr/>
          <p:nvPr/>
        </p:nvSpPr>
        <p:spPr>
          <a:xfrm>
            <a:off x="457200" y="2560320"/>
            <a:ext cx="456840" cy="456840"/>
          </a:xfrm>
          <a:prstGeom prst="ellipse">
            <a:avLst/>
          </a:prstGeom>
          <a:solidFill>
            <a:schemeClr val="accent5"/>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68" name="Text 10"/>
          <p:cNvSpPr/>
          <p:nvPr/>
        </p:nvSpPr>
        <p:spPr>
          <a:xfrm>
            <a:off x="457200" y="256032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chemeClr val="lt1"/>
                </a:solidFill>
                <a:latin typeface="Calibri"/>
              </a:rPr>
              <a:t>3</a:t>
            </a:r>
            <a:endParaRPr lang="en-US" sz="1600" b="0" strike="noStrike" spc="-1">
              <a:solidFill>
                <a:srgbClr val="000000"/>
              </a:solidFill>
              <a:latin typeface="Arial"/>
            </a:endParaRPr>
          </a:p>
        </p:txBody>
      </p:sp>
      <p:sp>
        <p:nvSpPr>
          <p:cNvPr id="69" name="Text 11"/>
          <p:cNvSpPr/>
          <p:nvPr/>
        </p:nvSpPr>
        <p:spPr>
          <a:xfrm>
            <a:off x="1097280" y="2532960"/>
            <a:ext cx="4114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600" b="1" strike="noStrike" spc="-1">
                <a:solidFill>
                  <a:schemeClr val="dk2"/>
                </a:solidFill>
                <a:latin typeface="Calibri"/>
              </a:rPr>
              <a:t>Measure</a:t>
            </a:r>
            <a:endParaRPr lang="en-US" sz="1600" b="0" strike="noStrike" spc="-1">
              <a:solidFill>
                <a:srgbClr val="000000"/>
              </a:solidFill>
              <a:latin typeface="Arial"/>
            </a:endParaRPr>
          </a:p>
        </p:txBody>
      </p:sp>
      <p:sp>
        <p:nvSpPr>
          <p:cNvPr id="70" name="Text 12"/>
          <p:cNvSpPr/>
          <p:nvPr/>
        </p:nvSpPr>
        <p:spPr>
          <a:xfrm>
            <a:off x="1097280" y="2807280"/>
            <a:ext cx="41144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strike="noStrike" spc="-1">
                <a:solidFill>
                  <a:schemeClr val="dk1"/>
                </a:solidFill>
                <a:latin typeface="Calibri"/>
              </a:rPr>
              <a:t>Path length, time and nodes explored per run</a:t>
            </a:r>
            <a:endParaRPr lang="en-US" sz="1300" b="0" strike="noStrike" spc="-1">
              <a:solidFill>
                <a:srgbClr val="000000"/>
              </a:solidFill>
              <a:latin typeface="Arial"/>
            </a:endParaRPr>
          </a:p>
        </p:txBody>
      </p:sp>
      <p:sp>
        <p:nvSpPr>
          <p:cNvPr id="71" name="Obj num 3"/>
          <p:cNvSpPr/>
          <p:nvPr/>
        </p:nvSpPr>
        <p:spPr>
          <a:xfrm>
            <a:off x="457200" y="3255120"/>
            <a:ext cx="456840" cy="456840"/>
          </a:xfrm>
          <a:prstGeom prst="ellipse">
            <a:avLst/>
          </a:prstGeom>
          <a:solidFill>
            <a:schemeClr val="accent4"/>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72" name="Text 14"/>
          <p:cNvSpPr/>
          <p:nvPr/>
        </p:nvSpPr>
        <p:spPr>
          <a:xfrm>
            <a:off x="457200" y="325512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chemeClr val="lt1"/>
                </a:solidFill>
                <a:latin typeface="Calibri"/>
              </a:rPr>
              <a:t>4</a:t>
            </a:r>
            <a:endParaRPr lang="en-US" sz="1600" b="0" strike="noStrike" spc="-1">
              <a:solidFill>
                <a:srgbClr val="000000"/>
              </a:solidFill>
              <a:latin typeface="Arial"/>
            </a:endParaRPr>
          </a:p>
        </p:txBody>
      </p:sp>
      <p:sp>
        <p:nvSpPr>
          <p:cNvPr id="73" name="Text 15"/>
          <p:cNvSpPr/>
          <p:nvPr/>
        </p:nvSpPr>
        <p:spPr>
          <a:xfrm>
            <a:off x="1097280" y="3227760"/>
            <a:ext cx="4114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600" b="1" strike="noStrike" spc="-1">
                <a:solidFill>
                  <a:schemeClr val="dk2"/>
                </a:solidFill>
                <a:latin typeface="Calibri"/>
              </a:rPr>
              <a:t>Test</a:t>
            </a:r>
            <a:endParaRPr lang="en-US" sz="1600" b="0" strike="noStrike" spc="-1">
              <a:solidFill>
                <a:srgbClr val="000000"/>
              </a:solidFill>
              <a:latin typeface="Arial"/>
            </a:endParaRPr>
          </a:p>
        </p:txBody>
      </p:sp>
      <p:sp>
        <p:nvSpPr>
          <p:cNvPr id="74" name="Text 16"/>
          <p:cNvSpPr/>
          <p:nvPr/>
        </p:nvSpPr>
        <p:spPr>
          <a:xfrm>
            <a:off x="1097280" y="3502080"/>
            <a:ext cx="41144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strike="noStrike" spc="-1">
                <a:solidFill>
                  <a:schemeClr val="dk1"/>
                </a:solidFill>
                <a:latin typeface="Calibri"/>
              </a:rPr>
              <a:t>Four input sizes: about 10, 50, 100, 500 per side</a:t>
            </a:r>
            <a:endParaRPr lang="en-US" sz="1300" b="0" strike="noStrike" spc="-1">
              <a:solidFill>
                <a:srgbClr val="000000"/>
              </a:solidFill>
              <a:latin typeface="Arial"/>
            </a:endParaRPr>
          </a:p>
        </p:txBody>
      </p:sp>
      <p:sp>
        <p:nvSpPr>
          <p:cNvPr id="75" name="Obj num 4"/>
          <p:cNvSpPr/>
          <p:nvPr/>
        </p:nvSpPr>
        <p:spPr>
          <a:xfrm>
            <a:off x="457200" y="3950280"/>
            <a:ext cx="456840" cy="456840"/>
          </a:xfrm>
          <a:prstGeom prst="ellipse">
            <a:avLst/>
          </a:prstGeom>
          <a:solidFill>
            <a:schemeClr val="accent6"/>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76" name="Text 18"/>
          <p:cNvSpPr/>
          <p:nvPr/>
        </p:nvSpPr>
        <p:spPr>
          <a:xfrm>
            <a:off x="457200" y="395028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chemeClr val="lt1"/>
                </a:solidFill>
                <a:latin typeface="Calibri"/>
              </a:rPr>
              <a:t>5</a:t>
            </a:r>
            <a:endParaRPr lang="en-US" sz="1600" b="0" strike="noStrike" spc="-1">
              <a:solidFill>
                <a:srgbClr val="000000"/>
              </a:solidFill>
              <a:latin typeface="Arial"/>
            </a:endParaRPr>
          </a:p>
        </p:txBody>
      </p:sp>
      <p:sp>
        <p:nvSpPr>
          <p:cNvPr id="77" name="Text 19"/>
          <p:cNvSpPr/>
          <p:nvPr/>
        </p:nvSpPr>
        <p:spPr>
          <a:xfrm>
            <a:off x="1097280" y="3922920"/>
            <a:ext cx="4114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600" b="1" strike="noStrike" spc="-1">
                <a:solidFill>
                  <a:schemeClr val="dk2"/>
                </a:solidFill>
                <a:latin typeface="Calibri"/>
              </a:rPr>
              <a:t>Analyse</a:t>
            </a:r>
            <a:endParaRPr lang="en-US" sz="1600" b="0" strike="noStrike" spc="-1">
              <a:solidFill>
                <a:srgbClr val="000000"/>
              </a:solidFill>
              <a:latin typeface="Arial"/>
            </a:endParaRPr>
          </a:p>
        </p:txBody>
      </p:sp>
      <p:sp>
        <p:nvSpPr>
          <p:cNvPr id="78" name="Text 20"/>
          <p:cNvSpPr/>
          <p:nvPr/>
        </p:nvSpPr>
        <p:spPr>
          <a:xfrm>
            <a:off x="1097280" y="4197240"/>
            <a:ext cx="41144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strike="noStrike" spc="-1">
                <a:solidFill>
                  <a:schemeClr val="dk1"/>
                </a:solidFill>
                <a:latin typeface="Calibri"/>
              </a:rPr>
              <a:t>Complexity vs observed results</a:t>
            </a:r>
            <a:endParaRPr lang="en-US" sz="1300" b="0" strike="noStrike" spc="-1">
              <a:solidFill>
                <a:srgbClr val="000000"/>
              </a:solidFill>
              <a:latin typeface="Arial"/>
            </a:endParaRPr>
          </a:p>
        </p:txBody>
      </p:sp>
      <p:pic>
        <p:nvPicPr>
          <p:cNvPr id="79" name="Image 0" descr="BFS result on the same maze"/>
          <p:cNvPicPr/>
          <p:nvPr/>
        </p:nvPicPr>
        <p:blipFill>
          <a:blip r:embed="rId3"/>
          <a:stretch/>
        </p:blipFill>
        <p:spPr>
          <a:xfrm>
            <a:off x="5532120" y="1143000"/>
            <a:ext cx="1508400" cy="1508400"/>
          </a:xfrm>
          <a:prstGeom prst="rect">
            <a:avLst/>
          </a:prstGeom>
          <a:ln w="0">
            <a:noFill/>
          </a:ln>
        </p:spPr>
      </p:pic>
      <p:sp>
        <p:nvSpPr>
          <p:cNvPr id="80" name="Text 21"/>
          <p:cNvSpPr/>
          <p:nvPr/>
        </p:nvSpPr>
        <p:spPr>
          <a:xfrm>
            <a:off x="5532120" y="2697480"/>
            <a:ext cx="1508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200" b="1" strike="noStrike" spc="-1">
                <a:solidFill>
                  <a:srgbClr val="2E86AB"/>
                </a:solidFill>
                <a:latin typeface="Calibri"/>
              </a:rPr>
              <a:t>BFS</a:t>
            </a:r>
            <a:endParaRPr lang="en-US" sz="1200" b="0" strike="noStrike" spc="-1">
              <a:solidFill>
                <a:srgbClr val="000000"/>
              </a:solidFill>
              <a:latin typeface="Arial"/>
            </a:endParaRPr>
          </a:p>
        </p:txBody>
      </p:sp>
      <p:pic>
        <p:nvPicPr>
          <p:cNvPr id="81" name="Image 1" descr="DFS result on the same maze"/>
          <p:cNvPicPr/>
          <p:nvPr/>
        </p:nvPicPr>
        <p:blipFill>
          <a:blip r:embed="rId4"/>
          <a:stretch/>
        </p:blipFill>
        <p:spPr>
          <a:xfrm>
            <a:off x="7178040" y="1143000"/>
            <a:ext cx="1508400" cy="1508400"/>
          </a:xfrm>
          <a:prstGeom prst="rect">
            <a:avLst/>
          </a:prstGeom>
          <a:ln w="0">
            <a:noFill/>
          </a:ln>
        </p:spPr>
      </p:pic>
      <p:sp>
        <p:nvSpPr>
          <p:cNvPr id="82" name="Text 22"/>
          <p:cNvSpPr/>
          <p:nvPr/>
        </p:nvSpPr>
        <p:spPr>
          <a:xfrm>
            <a:off x="7178040" y="2697480"/>
            <a:ext cx="1508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200" b="1" strike="noStrike" spc="-1">
                <a:solidFill>
                  <a:srgbClr val="C8553D"/>
                </a:solidFill>
                <a:latin typeface="Calibri"/>
              </a:rPr>
              <a:t>DFS</a:t>
            </a:r>
            <a:endParaRPr lang="en-US" sz="1200" b="0" strike="noStrike" spc="-1">
              <a:solidFill>
                <a:srgbClr val="000000"/>
              </a:solidFill>
              <a:latin typeface="Arial"/>
            </a:endParaRPr>
          </a:p>
        </p:txBody>
      </p:sp>
      <p:pic>
        <p:nvPicPr>
          <p:cNvPr id="83" name="Image 2" descr="Dijkstra result on the same maze"/>
          <p:cNvPicPr/>
          <p:nvPr/>
        </p:nvPicPr>
        <p:blipFill>
          <a:blip r:embed="rId5"/>
          <a:stretch/>
        </p:blipFill>
        <p:spPr>
          <a:xfrm>
            <a:off x="5532120" y="2971800"/>
            <a:ext cx="1508400" cy="1508400"/>
          </a:xfrm>
          <a:prstGeom prst="rect">
            <a:avLst/>
          </a:prstGeom>
          <a:ln w="0">
            <a:noFill/>
          </a:ln>
        </p:spPr>
      </p:pic>
      <p:sp>
        <p:nvSpPr>
          <p:cNvPr id="84" name="Text 23"/>
          <p:cNvSpPr/>
          <p:nvPr/>
        </p:nvSpPr>
        <p:spPr>
          <a:xfrm>
            <a:off x="5532120" y="4526280"/>
            <a:ext cx="1508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200" b="1" strike="noStrike" spc="-1">
                <a:solidFill>
                  <a:srgbClr val="5C9A3E"/>
                </a:solidFill>
                <a:latin typeface="Calibri"/>
              </a:rPr>
              <a:t>Dijkstra</a:t>
            </a:r>
            <a:endParaRPr lang="en-US" sz="1200" b="0" strike="noStrike" spc="-1">
              <a:solidFill>
                <a:srgbClr val="000000"/>
              </a:solidFill>
              <a:latin typeface="Arial"/>
            </a:endParaRPr>
          </a:p>
        </p:txBody>
      </p:sp>
      <p:pic>
        <p:nvPicPr>
          <p:cNvPr id="85" name="Image 3" descr="A* result on the same maze"/>
          <p:cNvPicPr/>
          <p:nvPr/>
        </p:nvPicPr>
        <p:blipFill>
          <a:blip r:embed="rId6"/>
          <a:stretch/>
        </p:blipFill>
        <p:spPr>
          <a:xfrm>
            <a:off x="7178040" y="2971800"/>
            <a:ext cx="1508400" cy="1508400"/>
          </a:xfrm>
          <a:prstGeom prst="rect">
            <a:avLst/>
          </a:prstGeom>
          <a:ln w="0">
            <a:noFill/>
          </a:ln>
        </p:spPr>
      </p:pic>
      <p:sp>
        <p:nvSpPr>
          <p:cNvPr id="86" name="Text 24"/>
          <p:cNvSpPr/>
          <p:nvPr/>
        </p:nvSpPr>
        <p:spPr>
          <a:xfrm>
            <a:off x="7178040" y="4526280"/>
            <a:ext cx="1508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200" b="1" strike="noStrike" spc="-1">
                <a:solidFill>
                  <a:srgbClr val="B97800"/>
                </a:solidFill>
                <a:latin typeface="Calibri"/>
              </a:rPr>
              <a:t>A*</a:t>
            </a:r>
            <a:endParaRPr lang="en-US" sz="1200" b="0" strike="noStrike" spc="-1">
              <a:solidFill>
                <a:srgbClr val="000000"/>
              </a:solidFill>
              <a:latin typeface="Arial"/>
            </a:endParaRPr>
          </a:p>
        </p:txBody>
      </p:sp>
      <p:sp>
        <p:nvSpPr>
          <p:cNvPr id="87" name="PlaceHolder 2"/>
          <p:cNvSpPr>
            <a:spLocks noGrp="1"/>
          </p:cNvSpPr>
          <p:nvPr>
            <p:ph type="sldNum" idx="8"/>
          </p:nvPr>
        </p:nvSpPr>
        <p:spPr>
          <a:xfrm>
            <a:off x="8321040" y="4754880"/>
            <a:ext cx="456840" cy="273960"/>
          </a:xfrm>
          <a:prstGeom prst="rect">
            <a:avLst/>
          </a:prstGeom>
          <a:noFill/>
          <a:ln w="0">
            <a:noFill/>
          </a:ln>
        </p:spPr>
        <p:txBody>
          <a:bodyPr lIns="90000" tIns="45000" rIns="90000" bIns="45000" anchor="t">
            <a:noAutofit/>
          </a:bodyPr>
          <a:lstStyle>
            <a:lvl1pPr indent="0" defTabSz="914400">
              <a:lnSpc>
                <a:spcPct val="100000"/>
              </a:lnSpc>
              <a:buNone/>
              <a:defRPr lang="en-US" sz="1000" b="0" strike="noStrike" spc="-1">
                <a:solidFill>
                  <a:schemeClr val="accent6"/>
                </a:solidFill>
                <a:latin typeface="Calibri"/>
              </a:defRPr>
            </a:lvl1pPr>
          </a:lstStyle>
          <a:p>
            <a:pPr indent="0" defTabSz="914400">
              <a:lnSpc>
                <a:spcPct val="100000"/>
              </a:lnSpc>
              <a:buNone/>
            </a:pPr>
            <a:fld id="{FFD6D707-75C2-4DD3-93E0-7445AD00B613}" type="slidenum">
              <a:rPr lang="en-US" sz="1000" b="0" strike="noStrike" spc="-1">
                <a:solidFill>
                  <a:schemeClr val="accent6"/>
                </a:solidFill>
                <a:latin typeface="Calibri"/>
              </a:rPr>
              <a:t>4</a:t>
            </a:fld>
            <a:endParaRPr lang="en-US" sz="1000" b="0" strike="noStrike" spc="-1">
              <a:solidFill>
                <a:srgbClr val="000000"/>
              </a:solidFill>
              <a:latin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457200" y="274320"/>
            <a:ext cx="8229240" cy="685440"/>
          </a:xfrm>
          <a:prstGeom prst="rect">
            <a:avLst/>
          </a:prstGeom>
          <a:noFill/>
          <a:ln w="0">
            <a:noFill/>
          </a:ln>
        </p:spPr>
        <p:txBody>
          <a:bodyPr lIns="90000" tIns="45000" rIns="90000" bIns="45000" anchor="ctr">
            <a:noAutofit/>
          </a:bodyPr>
          <a:lstStyle/>
          <a:p>
            <a:pPr indent="0" algn="ctr" defTabSz="914400">
              <a:lnSpc>
                <a:spcPct val="100000"/>
              </a:lnSpc>
              <a:buNone/>
              <a:tabLst>
                <a:tab pos="0" algn="l"/>
              </a:tabLst>
            </a:pPr>
            <a:r>
              <a:rPr lang="en-US" sz="3200" b="1" strike="noStrike" spc="-1">
                <a:solidFill>
                  <a:schemeClr val="dk2"/>
                </a:solidFill>
                <a:latin typeface="Cambria"/>
              </a:rPr>
              <a:t>Existing approach and its limits</a:t>
            </a:r>
            <a:endParaRPr lang="en-US" sz="3200" b="0" strike="noStrike" spc="-1">
              <a:solidFill>
                <a:schemeClr val="dk1"/>
              </a:solidFill>
              <a:latin typeface="Calibri"/>
            </a:endParaRPr>
          </a:p>
        </p:txBody>
      </p:sp>
      <p:sp>
        <p:nvSpPr>
          <p:cNvPr id="89" name="Background Existing approach"/>
          <p:cNvSpPr/>
          <p:nvPr/>
        </p:nvSpPr>
        <p:spPr>
          <a:xfrm>
            <a:off x="457200" y="1143000"/>
            <a:ext cx="4754520" cy="1005480"/>
          </a:xfrm>
          <a:prstGeom prst="roundRect">
            <a:avLst>
              <a:gd name="adj" fmla="val 7273"/>
            </a:avLst>
          </a:prstGeom>
          <a:solidFill>
            <a:schemeClr val="bg1"/>
          </a:solidFill>
          <a:ln w="12700">
            <a:solidFill>
              <a:srgbClr val="FFFFFF"/>
            </a:solidFill>
            <a:round/>
          </a:ln>
          <a:effectLst>
            <a:outerShdw blurRad="1015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90" name="Existing approach badge"/>
          <p:cNvSpPr/>
          <p:nvPr/>
        </p:nvSpPr>
        <p:spPr>
          <a:xfrm>
            <a:off x="594360" y="1371600"/>
            <a:ext cx="548280" cy="548280"/>
          </a:xfrm>
          <a:prstGeom prst="ellipse">
            <a:avLst/>
          </a:prstGeom>
          <a:solidFill>
            <a:schemeClr val="accent6"/>
          </a:solidFill>
          <a:ln w="12700">
            <a:solidFill>
              <a:srgbClr val="6B7B8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91" name="Image 0" descr="Existing approach"/>
          <p:cNvPicPr/>
          <p:nvPr/>
        </p:nvPicPr>
        <p:blipFill>
          <a:blip r:embed="rId3"/>
          <a:stretch/>
        </p:blipFill>
        <p:spPr>
          <a:xfrm>
            <a:off x="726120" y="1503360"/>
            <a:ext cx="284760" cy="284760"/>
          </a:xfrm>
          <a:prstGeom prst="rect">
            <a:avLst/>
          </a:prstGeom>
          <a:ln w="0">
            <a:noFill/>
          </a:ln>
        </p:spPr>
      </p:pic>
      <p:sp>
        <p:nvSpPr>
          <p:cNvPr id="92" name="Text 3"/>
          <p:cNvSpPr/>
          <p:nvPr/>
        </p:nvSpPr>
        <p:spPr>
          <a:xfrm>
            <a:off x="1325880" y="1234440"/>
            <a:ext cx="37486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500" b="1" strike="noStrike" spc="-1">
                <a:solidFill>
                  <a:schemeClr val="dk2"/>
                </a:solidFill>
                <a:latin typeface="Calibri"/>
              </a:rPr>
              <a:t>Existing approach</a:t>
            </a:r>
            <a:endParaRPr lang="en-US" sz="1500" b="0" strike="noStrike" spc="-1">
              <a:solidFill>
                <a:srgbClr val="000000"/>
              </a:solidFill>
              <a:latin typeface="Arial"/>
            </a:endParaRPr>
          </a:p>
        </p:txBody>
      </p:sp>
      <p:sp>
        <p:nvSpPr>
          <p:cNvPr id="93" name="Text 4"/>
          <p:cNvSpPr/>
          <p:nvPr/>
        </p:nvSpPr>
        <p:spPr>
          <a:xfrm>
            <a:off x="1325880" y="1527120"/>
            <a:ext cx="374868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strike="noStrike" spc="-1">
                <a:solidFill>
                  <a:schemeClr val="dk1"/>
                </a:solidFill>
                <a:latin typeface="Calibri"/>
              </a:rPr>
              <a:t>Pick one search algorithm (usually BFS or DFS) and trust it for every maze</a:t>
            </a:r>
            <a:endParaRPr lang="en-US" sz="1200" b="0" strike="noStrike" spc="-1">
              <a:solidFill>
                <a:srgbClr val="000000"/>
              </a:solidFill>
              <a:latin typeface="Arial"/>
            </a:endParaRPr>
          </a:p>
        </p:txBody>
      </p:sp>
      <p:sp>
        <p:nvSpPr>
          <p:cNvPr id="94" name="Background Limitations"/>
          <p:cNvSpPr/>
          <p:nvPr/>
        </p:nvSpPr>
        <p:spPr>
          <a:xfrm>
            <a:off x="457200" y="2286000"/>
            <a:ext cx="4754520" cy="1005480"/>
          </a:xfrm>
          <a:prstGeom prst="roundRect">
            <a:avLst>
              <a:gd name="adj" fmla="val 7273"/>
            </a:avLst>
          </a:prstGeom>
          <a:solidFill>
            <a:schemeClr val="bg1"/>
          </a:solidFill>
          <a:ln w="12700">
            <a:solidFill>
              <a:srgbClr val="FFFFFF"/>
            </a:solidFill>
            <a:round/>
          </a:ln>
          <a:effectLst>
            <a:outerShdw blurRad="1015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95" name="Limitations badge"/>
          <p:cNvSpPr/>
          <p:nvPr/>
        </p:nvSpPr>
        <p:spPr>
          <a:xfrm>
            <a:off x="594360" y="2514600"/>
            <a:ext cx="548280" cy="548280"/>
          </a:xfrm>
          <a:prstGeom prst="ellipse">
            <a:avLst/>
          </a:prstGeom>
          <a:solidFill>
            <a:schemeClr val="accent4"/>
          </a:solidFill>
          <a:ln w="12700">
            <a:solidFill>
              <a:srgbClr val="C8553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96" name="Image 1" descr="Limitations"/>
          <p:cNvPicPr/>
          <p:nvPr/>
        </p:nvPicPr>
        <p:blipFill>
          <a:blip r:embed="rId4"/>
          <a:stretch/>
        </p:blipFill>
        <p:spPr>
          <a:xfrm>
            <a:off x="726120" y="2646360"/>
            <a:ext cx="284760" cy="284760"/>
          </a:xfrm>
          <a:prstGeom prst="rect">
            <a:avLst/>
          </a:prstGeom>
          <a:ln w="0">
            <a:noFill/>
          </a:ln>
        </p:spPr>
      </p:pic>
      <p:sp>
        <p:nvSpPr>
          <p:cNvPr id="97" name="Text 7"/>
          <p:cNvSpPr/>
          <p:nvPr/>
        </p:nvSpPr>
        <p:spPr>
          <a:xfrm>
            <a:off x="1325880" y="2377440"/>
            <a:ext cx="37486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500" b="1" strike="noStrike" spc="-1">
                <a:solidFill>
                  <a:schemeClr val="dk2"/>
                </a:solidFill>
                <a:latin typeface="Calibri"/>
              </a:rPr>
              <a:t>Limitations</a:t>
            </a:r>
            <a:endParaRPr lang="en-US" sz="1500" b="0" strike="noStrike" spc="-1">
              <a:solidFill>
                <a:srgbClr val="000000"/>
              </a:solidFill>
              <a:latin typeface="Arial"/>
            </a:endParaRPr>
          </a:p>
        </p:txBody>
      </p:sp>
      <p:sp>
        <p:nvSpPr>
          <p:cNvPr id="98" name="Text 8"/>
          <p:cNvSpPr/>
          <p:nvPr/>
        </p:nvSpPr>
        <p:spPr>
          <a:xfrm>
            <a:off x="1325880" y="2670120"/>
            <a:ext cx="374868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strike="noStrike" spc="-1">
                <a:solidFill>
                  <a:schemeClr val="dk1"/>
                </a:solidFill>
                <a:latin typeface="Calibri"/>
              </a:rPr>
              <a:t>DFS gives long paths. BFS ignores weights and explores everywhere. No side-by-side evidence.</a:t>
            </a:r>
            <a:endParaRPr lang="en-US" sz="1200" b="0" strike="noStrike" spc="-1">
              <a:solidFill>
                <a:srgbClr val="000000"/>
              </a:solidFill>
              <a:latin typeface="Arial"/>
            </a:endParaRPr>
          </a:p>
        </p:txBody>
      </p:sp>
      <p:sp>
        <p:nvSpPr>
          <p:cNvPr id="99" name="Background Need for our approach"/>
          <p:cNvSpPr/>
          <p:nvPr/>
        </p:nvSpPr>
        <p:spPr>
          <a:xfrm>
            <a:off x="457200" y="3429000"/>
            <a:ext cx="4754520" cy="1005480"/>
          </a:xfrm>
          <a:prstGeom prst="roundRect">
            <a:avLst>
              <a:gd name="adj" fmla="val 7273"/>
            </a:avLst>
          </a:prstGeom>
          <a:solidFill>
            <a:schemeClr val="bg1"/>
          </a:solidFill>
          <a:ln w="12700">
            <a:solidFill>
              <a:srgbClr val="FFFFFF"/>
            </a:solidFill>
            <a:round/>
          </a:ln>
          <a:effectLst>
            <a:outerShdw blurRad="1015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00" name="Need for our approach badge"/>
          <p:cNvSpPr/>
          <p:nvPr/>
        </p:nvSpPr>
        <p:spPr>
          <a:xfrm>
            <a:off x="594360" y="3657600"/>
            <a:ext cx="548280" cy="548280"/>
          </a:xfrm>
          <a:prstGeom prst="ellipse">
            <a:avLst/>
          </a:prstGeom>
          <a:solidFill>
            <a:schemeClr val="accent1"/>
          </a:solidFill>
          <a:ln w="12700">
            <a:solidFill>
              <a:srgbClr val="0E7C8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101" name="Image 2" descr="Need for our approach"/>
          <p:cNvPicPr/>
          <p:nvPr/>
        </p:nvPicPr>
        <p:blipFill>
          <a:blip r:embed="rId5"/>
          <a:stretch/>
        </p:blipFill>
        <p:spPr>
          <a:xfrm>
            <a:off x="726120" y="3789360"/>
            <a:ext cx="284760" cy="284760"/>
          </a:xfrm>
          <a:prstGeom prst="rect">
            <a:avLst/>
          </a:prstGeom>
          <a:ln w="0">
            <a:noFill/>
          </a:ln>
        </p:spPr>
      </p:pic>
      <p:sp>
        <p:nvSpPr>
          <p:cNvPr id="102" name="Text 11"/>
          <p:cNvSpPr/>
          <p:nvPr/>
        </p:nvSpPr>
        <p:spPr>
          <a:xfrm>
            <a:off x="1325880" y="3520440"/>
            <a:ext cx="37486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500" b="1" strike="noStrike" spc="-1">
                <a:solidFill>
                  <a:schemeClr val="dk2"/>
                </a:solidFill>
                <a:latin typeface="Calibri"/>
              </a:rPr>
              <a:t>Need for our approach</a:t>
            </a:r>
            <a:endParaRPr lang="en-US" sz="1500" b="0" strike="noStrike" spc="-1">
              <a:solidFill>
                <a:srgbClr val="000000"/>
              </a:solidFill>
              <a:latin typeface="Arial"/>
            </a:endParaRPr>
          </a:p>
        </p:txBody>
      </p:sp>
      <p:sp>
        <p:nvSpPr>
          <p:cNvPr id="103" name="Text 12"/>
          <p:cNvSpPr/>
          <p:nvPr/>
        </p:nvSpPr>
        <p:spPr>
          <a:xfrm>
            <a:off x="1325880" y="3813120"/>
            <a:ext cx="374868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strike="noStrike" spc="-1">
                <a:solidFill>
                  <a:schemeClr val="dk1"/>
                </a:solidFill>
                <a:latin typeface="Calibri"/>
              </a:rPr>
              <a:t>Run all four on the same maze and let measured results decide</a:t>
            </a:r>
            <a:endParaRPr lang="en-US" sz="1200" b="0" strike="noStrike" spc="-1">
              <a:solidFill>
                <a:srgbClr val="000000"/>
              </a:solidFill>
              <a:latin typeface="Arial"/>
            </a:endParaRPr>
          </a:p>
        </p:txBody>
      </p:sp>
      <p:pic>
        <p:nvPicPr>
          <p:cNvPr id="104" name="Image 3" descr="DFS path on the maze: long and winding"/>
          <p:cNvPicPr/>
          <p:nvPr/>
        </p:nvPicPr>
        <p:blipFill>
          <a:blip r:embed="rId6"/>
          <a:stretch/>
        </p:blipFill>
        <p:spPr>
          <a:xfrm>
            <a:off x="5486400" y="1234440"/>
            <a:ext cx="1554120" cy="1554120"/>
          </a:xfrm>
          <a:prstGeom prst="rect">
            <a:avLst/>
          </a:prstGeom>
          <a:ln w="0">
            <a:noFill/>
          </a:ln>
        </p:spPr>
      </p:pic>
      <p:pic>
        <p:nvPicPr>
          <p:cNvPr id="105" name="Image 4" descr="A* path on the same maze: short and direct"/>
          <p:cNvPicPr/>
          <p:nvPr/>
        </p:nvPicPr>
        <p:blipFill>
          <a:blip r:embed="rId7"/>
          <a:stretch/>
        </p:blipFill>
        <p:spPr>
          <a:xfrm>
            <a:off x="7178040" y="1234440"/>
            <a:ext cx="1554120" cy="1554120"/>
          </a:xfrm>
          <a:prstGeom prst="rect">
            <a:avLst/>
          </a:prstGeom>
          <a:ln w="0">
            <a:noFill/>
          </a:ln>
        </p:spPr>
      </p:pic>
      <p:sp>
        <p:nvSpPr>
          <p:cNvPr id="106" name="Text 13"/>
          <p:cNvSpPr/>
          <p:nvPr/>
        </p:nvSpPr>
        <p:spPr>
          <a:xfrm>
            <a:off x="5486400" y="2834640"/>
            <a:ext cx="15541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200" b="1" strike="noStrike" spc="-1">
                <a:solidFill>
                  <a:srgbClr val="C8553D"/>
                </a:solidFill>
                <a:latin typeface="Calibri"/>
              </a:rPr>
              <a:t>DFS: path of 100 cells</a:t>
            </a:r>
            <a:endParaRPr lang="en-US" sz="1200" b="0" strike="noStrike" spc="-1">
              <a:solidFill>
                <a:srgbClr val="000000"/>
              </a:solidFill>
              <a:latin typeface="Arial"/>
            </a:endParaRPr>
          </a:p>
        </p:txBody>
      </p:sp>
      <p:sp>
        <p:nvSpPr>
          <p:cNvPr id="107" name="Text 14"/>
          <p:cNvSpPr/>
          <p:nvPr/>
        </p:nvSpPr>
        <p:spPr>
          <a:xfrm>
            <a:off x="7178040" y="2834640"/>
            <a:ext cx="15541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200" b="1" strike="noStrike" spc="-1">
                <a:solidFill>
                  <a:srgbClr val="B97800"/>
                </a:solidFill>
                <a:latin typeface="Calibri"/>
              </a:rPr>
              <a:t>A*: path of 36 cells</a:t>
            </a:r>
            <a:endParaRPr lang="en-US" sz="1200" b="0" strike="noStrike" spc="-1">
              <a:solidFill>
                <a:srgbClr val="000000"/>
              </a:solidFill>
              <a:latin typeface="Arial"/>
            </a:endParaRPr>
          </a:p>
        </p:txBody>
      </p:sp>
      <p:sp>
        <p:nvSpPr>
          <p:cNvPr id="108" name="Text 15"/>
          <p:cNvSpPr/>
          <p:nvPr/>
        </p:nvSpPr>
        <p:spPr>
          <a:xfrm>
            <a:off x="5486400" y="3246120"/>
            <a:ext cx="324576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strike="noStrike" spc="-1">
                <a:solidFill>
                  <a:schemeClr val="dk1"/>
                </a:solidFill>
                <a:latin typeface="Calibri"/>
              </a:rPr>
              <a:t>Same maze, same source and destination. One algorithm choice changes the path almost threefold.</a:t>
            </a:r>
            <a:endParaRPr lang="en-US" sz="1300" b="0" strike="noStrike" spc="-1">
              <a:solidFill>
                <a:srgbClr val="000000"/>
              </a:solidFill>
              <a:latin typeface="Arial"/>
            </a:endParaRPr>
          </a:p>
        </p:txBody>
      </p:sp>
      <p:sp>
        <p:nvSpPr>
          <p:cNvPr id="109" name="PlaceHolder 2"/>
          <p:cNvSpPr>
            <a:spLocks noGrp="1"/>
          </p:cNvSpPr>
          <p:nvPr>
            <p:ph type="sldNum" idx="9"/>
          </p:nvPr>
        </p:nvSpPr>
        <p:spPr>
          <a:xfrm>
            <a:off x="8321040" y="4754880"/>
            <a:ext cx="456840" cy="273960"/>
          </a:xfrm>
          <a:prstGeom prst="rect">
            <a:avLst/>
          </a:prstGeom>
          <a:noFill/>
          <a:ln w="0">
            <a:noFill/>
          </a:ln>
        </p:spPr>
        <p:txBody>
          <a:bodyPr lIns="90000" tIns="45000" rIns="90000" bIns="45000" anchor="t">
            <a:noAutofit/>
          </a:bodyPr>
          <a:lstStyle>
            <a:lvl1pPr indent="0" defTabSz="914400">
              <a:lnSpc>
                <a:spcPct val="100000"/>
              </a:lnSpc>
              <a:buNone/>
              <a:defRPr lang="en-US" sz="1000" b="0" strike="noStrike" spc="-1">
                <a:solidFill>
                  <a:schemeClr val="accent6"/>
                </a:solidFill>
                <a:latin typeface="Calibri"/>
              </a:defRPr>
            </a:lvl1pPr>
          </a:lstStyle>
          <a:p>
            <a:pPr indent="0" defTabSz="914400">
              <a:lnSpc>
                <a:spcPct val="100000"/>
              </a:lnSpc>
              <a:buNone/>
            </a:pPr>
            <a:fld id="{13C27A4E-4B48-4369-BF6D-A8561AAEDEB5}" type="slidenum">
              <a:rPr lang="en-US" sz="1000" b="0" strike="noStrike" spc="-1">
                <a:solidFill>
                  <a:schemeClr val="accent6"/>
                </a:solidFill>
                <a:latin typeface="Calibri"/>
              </a:rPr>
              <a:t>5</a:t>
            </a:fld>
            <a:endParaRPr lang="en-US" sz="1000" b="0" strike="noStrike" spc="-1">
              <a:solidFill>
                <a:srgbClr val="000000"/>
              </a:solidFill>
              <a:latin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4320"/>
            <a:ext cx="8229240" cy="685440"/>
          </a:xfrm>
          <a:prstGeom prst="rect">
            <a:avLst/>
          </a:prstGeom>
          <a:noFill/>
          <a:ln w="0">
            <a:noFill/>
          </a:ln>
        </p:spPr>
        <p:txBody>
          <a:bodyPr lIns="90000" tIns="45000" rIns="90000" bIns="45000" anchor="ctr">
            <a:noAutofit/>
          </a:bodyPr>
          <a:lstStyle/>
          <a:p>
            <a:pPr indent="0" algn="ctr" defTabSz="914400">
              <a:lnSpc>
                <a:spcPct val="100000"/>
              </a:lnSpc>
              <a:buNone/>
              <a:tabLst>
                <a:tab pos="0" algn="l"/>
              </a:tabLst>
            </a:pPr>
            <a:r>
              <a:rPr lang="en-US" sz="3200" b="1" strike="noStrike" spc="-1">
                <a:solidFill>
                  <a:schemeClr val="dk2"/>
                </a:solidFill>
                <a:latin typeface="Cambria"/>
              </a:rPr>
              <a:t>Proposed approach: overall flow</a:t>
            </a:r>
            <a:endParaRPr lang="en-US" sz="3200" b="0" strike="noStrike" spc="-1">
              <a:solidFill>
                <a:schemeClr val="dk1"/>
              </a:solidFill>
              <a:latin typeface="Calibri"/>
            </a:endParaRPr>
          </a:p>
        </p:txBody>
      </p:sp>
      <p:sp>
        <p:nvSpPr>
          <p:cNvPr id="111" name="Step 1"/>
          <p:cNvSpPr/>
          <p:nvPr/>
        </p:nvSpPr>
        <p:spPr>
          <a:xfrm>
            <a:off x="457200" y="1234440"/>
            <a:ext cx="1828440" cy="1416960"/>
          </a:xfrm>
          <a:prstGeom prst="roundRect">
            <a:avLst>
              <a:gd name="adj" fmla="val 5161"/>
            </a:avLst>
          </a:prstGeom>
          <a:solidFill>
            <a:schemeClr val="bg1"/>
          </a:solidFill>
          <a:ln w="12700">
            <a:solidFill>
              <a:srgbClr val="FFFFFF"/>
            </a:solidFill>
            <a:round/>
          </a:ln>
          <a:effectLst>
            <a:outerShdw blurRad="1015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12" name="Step num 1"/>
          <p:cNvSpPr/>
          <p:nvPr/>
        </p:nvSpPr>
        <p:spPr>
          <a:xfrm>
            <a:off x="567000" y="1344240"/>
            <a:ext cx="347040" cy="347040"/>
          </a:xfrm>
          <a:prstGeom prst="ellipse">
            <a:avLst/>
          </a:prstGeom>
          <a:solidFill>
            <a:schemeClr val="accent1"/>
          </a:solidFill>
          <a:ln w="12700">
            <a:solidFill>
              <a:srgbClr val="0E7C8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13" name="Text 3"/>
          <p:cNvSpPr/>
          <p:nvPr/>
        </p:nvSpPr>
        <p:spPr>
          <a:xfrm>
            <a:off x="567000" y="134424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chemeClr val="lt1"/>
                </a:solidFill>
                <a:latin typeface="Calibri"/>
              </a:rPr>
              <a:t>1</a:t>
            </a:r>
            <a:endParaRPr lang="en-US" sz="1300" b="0" strike="noStrike" spc="-1">
              <a:solidFill>
                <a:srgbClr val="000000"/>
              </a:solidFill>
              <a:latin typeface="Arial"/>
            </a:endParaRPr>
          </a:p>
        </p:txBody>
      </p:sp>
      <p:sp>
        <p:nvSpPr>
          <p:cNvPr id="114" name="Text 4"/>
          <p:cNvSpPr/>
          <p:nvPr/>
        </p:nvSpPr>
        <p:spPr>
          <a:xfrm>
            <a:off x="567000" y="1764720"/>
            <a:ext cx="1608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1" strike="noStrike" spc="-1">
                <a:solidFill>
                  <a:schemeClr val="dk2"/>
                </a:solidFill>
                <a:latin typeface="Calibri"/>
              </a:rPr>
              <a:t>Problem definition</a:t>
            </a:r>
            <a:endParaRPr lang="en-US" sz="1300" b="0" strike="noStrike" spc="-1">
              <a:solidFill>
                <a:srgbClr val="000000"/>
              </a:solidFill>
              <a:latin typeface="Arial"/>
            </a:endParaRPr>
          </a:p>
        </p:txBody>
      </p:sp>
      <p:sp>
        <p:nvSpPr>
          <p:cNvPr id="115" name="Text 5"/>
          <p:cNvSpPr/>
          <p:nvPr/>
        </p:nvSpPr>
        <p:spPr>
          <a:xfrm>
            <a:off x="567000" y="2130480"/>
            <a:ext cx="1608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strike="noStrike" spc="-1">
                <a:solidFill>
                  <a:schemeClr val="dk1"/>
                </a:solidFill>
                <a:latin typeface="Calibri"/>
              </a:rPr>
              <a:t>Source to destination in a maze</a:t>
            </a:r>
            <a:endParaRPr lang="en-US" sz="1200" b="0" strike="noStrike" spc="-1">
              <a:solidFill>
                <a:srgbClr val="000000"/>
              </a:solidFill>
              <a:latin typeface="Arial"/>
            </a:endParaRPr>
          </a:p>
        </p:txBody>
      </p:sp>
      <p:sp>
        <p:nvSpPr>
          <p:cNvPr id="116" name="Flow arrow 0"/>
          <p:cNvSpPr/>
          <p:nvPr/>
        </p:nvSpPr>
        <p:spPr>
          <a:xfrm>
            <a:off x="2286000" y="1737360"/>
            <a:ext cx="273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chemeClr val="accent6"/>
                </a:solidFill>
                <a:latin typeface="Calibri"/>
              </a:rPr>
              <a:t>→</a:t>
            </a:r>
            <a:endParaRPr lang="en-US" sz="1800" b="0" strike="noStrike" spc="-1">
              <a:solidFill>
                <a:srgbClr val="000000"/>
              </a:solidFill>
              <a:latin typeface="Arial"/>
            </a:endParaRPr>
          </a:p>
        </p:txBody>
      </p:sp>
      <p:sp>
        <p:nvSpPr>
          <p:cNvPr id="117" name="Step 2"/>
          <p:cNvSpPr/>
          <p:nvPr/>
        </p:nvSpPr>
        <p:spPr>
          <a:xfrm>
            <a:off x="2560320" y="1234440"/>
            <a:ext cx="1828440" cy="1416960"/>
          </a:xfrm>
          <a:prstGeom prst="roundRect">
            <a:avLst>
              <a:gd name="adj" fmla="val 5161"/>
            </a:avLst>
          </a:prstGeom>
          <a:solidFill>
            <a:schemeClr val="bg1"/>
          </a:solidFill>
          <a:ln w="12700">
            <a:solidFill>
              <a:srgbClr val="FFFFFF"/>
            </a:solidFill>
            <a:round/>
          </a:ln>
          <a:effectLst>
            <a:outerShdw blurRad="1015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18" name="Step num 2"/>
          <p:cNvSpPr/>
          <p:nvPr/>
        </p:nvSpPr>
        <p:spPr>
          <a:xfrm>
            <a:off x="2670120" y="1344240"/>
            <a:ext cx="347040" cy="347040"/>
          </a:xfrm>
          <a:prstGeom prst="ellipse">
            <a:avLst/>
          </a:prstGeom>
          <a:solidFill>
            <a:schemeClr val="accent1"/>
          </a:solidFill>
          <a:ln w="12700">
            <a:solidFill>
              <a:srgbClr val="0E7C8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19" name="Text 9"/>
          <p:cNvSpPr/>
          <p:nvPr/>
        </p:nvSpPr>
        <p:spPr>
          <a:xfrm>
            <a:off x="2670120" y="134424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chemeClr val="lt1"/>
                </a:solidFill>
                <a:latin typeface="Calibri"/>
              </a:rPr>
              <a:t>2</a:t>
            </a:r>
            <a:endParaRPr lang="en-US" sz="1300" b="0" strike="noStrike" spc="-1">
              <a:solidFill>
                <a:srgbClr val="000000"/>
              </a:solidFill>
              <a:latin typeface="Arial"/>
            </a:endParaRPr>
          </a:p>
        </p:txBody>
      </p:sp>
      <p:sp>
        <p:nvSpPr>
          <p:cNvPr id="120" name="Text 10"/>
          <p:cNvSpPr/>
          <p:nvPr/>
        </p:nvSpPr>
        <p:spPr>
          <a:xfrm>
            <a:off x="2670120" y="1764720"/>
            <a:ext cx="1608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1" strike="noStrike" spc="-1">
                <a:solidFill>
                  <a:schemeClr val="dk2"/>
                </a:solidFill>
                <a:latin typeface="Calibri"/>
              </a:rPr>
              <a:t>Input / data</a:t>
            </a:r>
            <a:endParaRPr lang="en-US" sz="1300" b="0" strike="noStrike" spc="-1">
              <a:solidFill>
                <a:srgbClr val="000000"/>
              </a:solidFill>
              <a:latin typeface="Arial"/>
            </a:endParaRPr>
          </a:p>
        </p:txBody>
      </p:sp>
      <p:sp>
        <p:nvSpPr>
          <p:cNvPr id="121" name="Text 11"/>
          <p:cNvSpPr/>
          <p:nvPr/>
        </p:nvSpPr>
        <p:spPr>
          <a:xfrm>
            <a:off x="2670120" y="2130480"/>
            <a:ext cx="1608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strike="noStrike" spc="-1">
                <a:solidFill>
                  <a:schemeClr val="dk1"/>
                </a:solidFill>
                <a:latin typeface="Calibri"/>
              </a:rPr>
              <a:t>Generate or draw maze; set endpoints</a:t>
            </a:r>
            <a:endParaRPr lang="en-US" sz="1200" b="0" strike="noStrike" spc="-1">
              <a:solidFill>
                <a:srgbClr val="000000"/>
              </a:solidFill>
              <a:latin typeface="Arial"/>
            </a:endParaRPr>
          </a:p>
        </p:txBody>
      </p:sp>
      <p:sp>
        <p:nvSpPr>
          <p:cNvPr id="122" name="Flow arrow 1"/>
          <p:cNvSpPr/>
          <p:nvPr/>
        </p:nvSpPr>
        <p:spPr>
          <a:xfrm>
            <a:off x="4389120" y="1737360"/>
            <a:ext cx="273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chemeClr val="accent6"/>
                </a:solidFill>
                <a:latin typeface="Calibri"/>
              </a:rPr>
              <a:t>→</a:t>
            </a:r>
            <a:endParaRPr lang="en-US" sz="1800" b="0" strike="noStrike" spc="-1">
              <a:solidFill>
                <a:srgbClr val="000000"/>
              </a:solidFill>
              <a:latin typeface="Arial"/>
            </a:endParaRPr>
          </a:p>
        </p:txBody>
      </p:sp>
      <p:sp>
        <p:nvSpPr>
          <p:cNvPr id="123" name="Step 3"/>
          <p:cNvSpPr/>
          <p:nvPr/>
        </p:nvSpPr>
        <p:spPr>
          <a:xfrm>
            <a:off x="4663440" y="1234440"/>
            <a:ext cx="1828440" cy="1416960"/>
          </a:xfrm>
          <a:prstGeom prst="roundRect">
            <a:avLst>
              <a:gd name="adj" fmla="val 5161"/>
            </a:avLst>
          </a:prstGeom>
          <a:solidFill>
            <a:schemeClr val="bg1"/>
          </a:solidFill>
          <a:ln w="12700">
            <a:solidFill>
              <a:srgbClr val="FFFFFF"/>
            </a:solidFill>
            <a:round/>
          </a:ln>
          <a:effectLst>
            <a:outerShdw blurRad="1015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4" name="Step num 3"/>
          <p:cNvSpPr/>
          <p:nvPr/>
        </p:nvSpPr>
        <p:spPr>
          <a:xfrm>
            <a:off x="4773240" y="1344240"/>
            <a:ext cx="347040" cy="347040"/>
          </a:xfrm>
          <a:prstGeom prst="ellipse">
            <a:avLst/>
          </a:prstGeom>
          <a:solidFill>
            <a:schemeClr val="accent1"/>
          </a:solidFill>
          <a:ln w="12700">
            <a:solidFill>
              <a:srgbClr val="0E7C8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25" name="Text 15"/>
          <p:cNvSpPr/>
          <p:nvPr/>
        </p:nvSpPr>
        <p:spPr>
          <a:xfrm>
            <a:off x="4773240" y="134424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chemeClr val="lt1"/>
                </a:solidFill>
                <a:latin typeface="Calibri"/>
              </a:rPr>
              <a:t>3</a:t>
            </a:r>
            <a:endParaRPr lang="en-US" sz="1300" b="0" strike="noStrike" spc="-1">
              <a:solidFill>
                <a:srgbClr val="000000"/>
              </a:solidFill>
              <a:latin typeface="Arial"/>
            </a:endParaRPr>
          </a:p>
        </p:txBody>
      </p:sp>
      <p:sp>
        <p:nvSpPr>
          <p:cNvPr id="126" name="Text 16"/>
          <p:cNvSpPr/>
          <p:nvPr/>
        </p:nvSpPr>
        <p:spPr>
          <a:xfrm>
            <a:off x="4773240" y="1764720"/>
            <a:ext cx="1608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1" strike="noStrike" spc="-1">
                <a:solidFill>
                  <a:schemeClr val="dk2"/>
                </a:solidFill>
                <a:latin typeface="Calibri"/>
              </a:rPr>
              <a:t>Algorithm selection</a:t>
            </a:r>
            <a:endParaRPr lang="en-US" sz="1300" b="0" strike="noStrike" spc="-1">
              <a:solidFill>
                <a:srgbClr val="000000"/>
              </a:solidFill>
              <a:latin typeface="Arial"/>
            </a:endParaRPr>
          </a:p>
        </p:txBody>
      </p:sp>
      <p:sp>
        <p:nvSpPr>
          <p:cNvPr id="127" name="Text 17"/>
          <p:cNvSpPr/>
          <p:nvPr/>
        </p:nvSpPr>
        <p:spPr>
          <a:xfrm>
            <a:off x="4773240" y="2130480"/>
            <a:ext cx="1608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strike="noStrike" spc="-1">
                <a:solidFill>
                  <a:schemeClr val="dk1"/>
                </a:solidFill>
                <a:latin typeface="Calibri"/>
              </a:rPr>
              <a:t>BFS, DFS, Dijkstra, A*</a:t>
            </a:r>
            <a:endParaRPr lang="en-US" sz="1200" b="0" strike="noStrike" spc="-1">
              <a:solidFill>
                <a:srgbClr val="000000"/>
              </a:solidFill>
              <a:latin typeface="Arial"/>
            </a:endParaRPr>
          </a:p>
        </p:txBody>
      </p:sp>
      <p:sp>
        <p:nvSpPr>
          <p:cNvPr id="128" name="Flow arrow 2"/>
          <p:cNvSpPr/>
          <p:nvPr/>
        </p:nvSpPr>
        <p:spPr>
          <a:xfrm>
            <a:off x="6492240" y="1737360"/>
            <a:ext cx="273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chemeClr val="accent6"/>
                </a:solidFill>
                <a:latin typeface="Calibri"/>
              </a:rPr>
              <a:t>→</a:t>
            </a:r>
            <a:endParaRPr lang="en-US" sz="1800" b="0" strike="noStrike" spc="-1">
              <a:solidFill>
                <a:srgbClr val="000000"/>
              </a:solidFill>
              <a:latin typeface="Arial"/>
            </a:endParaRPr>
          </a:p>
        </p:txBody>
      </p:sp>
      <p:sp>
        <p:nvSpPr>
          <p:cNvPr id="129" name="Step 4"/>
          <p:cNvSpPr/>
          <p:nvPr/>
        </p:nvSpPr>
        <p:spPr>
          <a:xfrm>
            <a:off x="6766560" y="1234440"/>
            <a:ext cx="1828440" cy="1416960"/>
          </a:xfrm>
          <a:prstGeom prst="roundRect">
            <a:avLst>
              <a:gd name="adj" fmla="val 5161"/>
            </a:avLst>
          </a:prstGeom>
          <a:solidFill>
            <a:schemeClr val="bg1"/>
          </a:solidFill>
          <a:ln w="12700">
            <a:solidFill>
              <a:srgbClr val="FFFFFF"/>
            </a:solidFill>
            <a:round/>
          </a:ln>
          <a:effectLst>
            <a:outerShdw blurRad="1015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30" name="Step num 4"/>
          <p:cNvSpPr/>
          <p:nvPr/>
        </p:nvSpPr>
        <p:spPr>
          <a:xfrm>
            <a:off x="6876360" y="1344240"/>
            <a:ext cx="347040" cy="347040"/>
          </a:xfrm>
          <a:prstGeom prst="ellipse">
            <a:avLst/>
          </a:prstGeom>
          <a:solidFill>
            <a:schemeClr val="accent1"/>
          </a:solidFill>
          <a:ln w="12700">
            <a:solidFill>
              <a:srgbClr val="0E7C8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31" name="Text 21"/>
          <p:cNvSpPr/>
          <p:nvPr/>
        </p:nvSpPr>
        <p:spPr>
          <a:xfrm>
            <a:off x="6876360" y="134424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chemeClr val="lt1"/>
                </a:solidFill>
                <a:latin typeface="Calibri"/>
              </a:rPr>
              <a:t>4</a:t>
            </a:r>
            <a:endParaRPr lang="en-US" sz="1300" b="0" strike="noStrike" spc="-1">
              <a:solidFill>
                <a:srgbClr val="000000"/>
              </a:solidFill>
              <a:latin typeface="Arial"/>
            </a:endParaRPr>
          </a:p>
        </p:txBody>
      </p:sp>
      <p:sp>
        <p:nvSpPr>
          <p:cNvPr id="132" name="Text 22"/>
          <p:cNvSpPr/>
          <p:nvPr/>
        </p:nvSpPr>
        <p:spPr>
          <a:xfrm>
            <a:off x="6876360" y="1764720"/>
            <a:ext cx="1608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1" strike="noStrike" spc="-1">
                <a:solidFill>
                  <a:schemeClr val="dk2"/>
                </a:solidFill>
                <a:latin typeface="Calibri"/>
              </a:rPr>
              <a:t>Design / pseudocode</a:t>
            </a:r>
            <a:endParaRPr lang="en-US" sz="1300" b="0" strike="noStrike" spc="-1">
              <a:solidFill>
                <a:srgbClr val="000000"/>
              </a:solidFill>
              <a:latin typeface="Arial"/>
            </a:endParaRPr>
          </a:p>
        </p:txBody>
      </p:sp>
      <p:sp>
        <p:nvSpPr>
          <p:cNvPr id="133" name="Text 23"/>
          <p:cNvSpPr/>
          <p:nvPr/>
        </p:nvSpPr>
        <p:spPr>
          <a:xfrm>
            <a:off x="6876360" y="2130480"/>
            <a:ext cx="1608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strike="noStrike" spc="-1">
                <a:solidFill>
                  <a:schemeClr val="dk1"/>
                </a:solidFill>
                <a:latin typeface="Calibri"/>
              </a:rPr>
              <a:t>Queue, stack, min-heap, heuristic</a:t>
            </a:r>
            <a:endParaRPr lang="en-US" sz="1200" b="0" strike="noStrike" spc="-1">
              <a:solidFill>
                <a:srgbClr val="000000"/>
              </a:solidFill>
              <a:latin typeface="Arial"/>
            </a:endParaRPr>
          </a:p>
        </p:txBody>
      </p:sp>
      <p:sp>
        <p:nvSpPr>
          <p:cNvPr id="134" name="Down arrow"/>
          <p:cNvSpPr/>
          <p:nvPr/>
        </p:nvSpPr>
        <p:spPr>
          <a:xfrm>
            <a:off x="7315200" y="2651760"/>
            <a:ext cx="7311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chemeClr val="accent6"/>
                </a:solidFill>
                <a:latin typeface="Calibri"/>
              </a:rPr>
              <a:t>↓</a:t>
            </a:r>
            <a:endParaRPr lang="en-US" sz="2000" b="0" strike="noStrike" spc="-1">
              <a:solidFill>
                <a:srgbClr val="000000"/>
              </a:solidFill>
              <a:latin typeface="Arial"/>
            </a:endParaRPr>
          </a:p>
        </p:txBody>
      </p:sp>
      <p:sp>
        <p:nvSpPr>
          <p:cNvPr id="135" name="Step 5"/>
          <p:cNvSpPr/>
          <p:nvPr/>
        </p:nvSpPr>
        <p:spPr>
          <a:xfrm>
            <a:off x="6766560" y="2971800"/>
            <a:ext cx="1828440" cy="1416960"/>
          </a:xfrm>
          <a:prstGeom prst="roundRect">
            <a:avLst>
              <a:gd name="adj" fmla="val 5161"/>
            </a:avLst>
          </a:prstGeom>
          <a:solidFill>
            <a:schemeClr val="bg1"/>
          </a:solidFill>
          <a:ln w="12700">
            <a:solidFill>
              <a:srgbClr val="FFFFFF"/>
            </a:solidFill>
            <a:round/>
          </a:ln>
          <a:effectLst>
            <a:outerShdw blurRad="1015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36" name="Step num 5"/>
          <p:cNvSpPr/>
          <p:nvPr/>
        </p:nvSpPr>
        <p:spPr>
          <a:xfrm>
            <a:off x="6876360" y="3081600"/>
            <a:ext cx="347040" cy="347040"/>
          </a:xfrm>
          <a:prstGeom prst="ellipse">
            <a:avLst/>
          </a:prstGeom>
          <a:solidFill>
            <a:schemeClr val="accent1"/>
          </a:solidFill>
          <a:ln w="12700">
            <a:solidFill>
              <a:srgbClr val="0E7C8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37" name="Text 27"/>
          <p:cNvSpPr/>
          <p:nvPr/>
        </p:nvSpPr>
        <p:spPr>
          <a:xfrm>
            <a:off x="6876360" y="308160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chemeClr val="lt1"/>
                </a:solidFill>
                <a:latin typeface="Calibri"/>
              </a:rPr>
              <a:t>5</a:t>
            </a:r>
            <a:endParaRPr lang="en-US" sz="1300" b="0" strike="noStrike" spc="-1">
              <a:solidFill>
                <a:srgbClr val="000000"/>
              </a:solidFill>
              <a:latin typeface="Arial"/>
            </a:endParaRPr>
          </a:p>
        </p:txBody>
      </p:sp>
      <p:sp>
        <p:nvSpPr>
          <p:cNvPr id="138" name="Text 28"/>
          <p:cNvSpPr/>
          <p:nvPr/>
        </p:nvSpPr>
        <p:spPr>
          <a:xfrm>
            <a:off x="6876360" y="3502080"/>
            <a:ext cx="1608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1" strike="noStrike" spc="-1">
                <a:solidFill>
                  <a:schemeClr val="dk2"/>
                </a:solidFill>
                <a:latin typeface="Calibri"/>
              </a:rPr>
              <a:t>Implementation</a:t>
            </a:r>
            <a:endParaRPr lang="en-US" sz="1300" b="0" strike="noStrike" spc="-1">
              <a:solidFill>
                <a:srgbClr val="000000"/>
              </a:solidFill>
              <a:latin typeface="Arial"/>
            </a:endParaRPr>
          </a:p>
        </p:txBody>
      </p:sp>
      <p:sp>
        <p:nvSpPr>
          <p:cNvPr id="139" name="Text 29"/>
          <p:cNvSpPr/>
          <p:nvPr/>
        </p:nvSpPr>
        <p:spPr>
          <a:xfrm>
            <a:off x="6876360" y="3867840"/>
            <a:ext cx="1608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strike="noStrike" spc="-1">
                <a:solidFill>
                  <a:schemeClr val="dk1"/>
                </a:solidFill>
                <a:latin typeface="Calibri"/>
              </a:rPr>
              <a:t>Shared grid model in TypeScript</a:t>
            </a:r>
            <a:endParaRPr lang="en-US" sz="1200" b="0" strike="noStrike" spc="-1">
              <a:solidFill>
                <a:srgbClr val="000000"/>
              </a:solidFill>
              <a:latin typeface="Arial"/>
            </a:endParaRPr>
          </a:p>
        </p:txBody>
      </p:sp>
      <p:sp>
        <p:nvSpPr>
          <p:cNvPr id="140" name="Flow arrow 4"/>
          <p:cNvSpPr/>
          <p:nvPr/>
        </p:nvSpPr>
        <p:spPr>
          <a:xfrm>
            <a:off x="6492240" y="3474720"/>
            <a:ext cx="273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chemeClr val="accent6"/>
                </a:solidFill>
                <a:latin typeface="Calibri"/>
              </a:rPr>
              <a:t>←</a:t>
            </a:r>
            <a:endParaRPr lang="en-US" sz="1800" b="0" strike="noStrike" spc="-1">
              <a:solidFill>
                <a:srgbClr val="000000"/>
              </a:solidFill>
              <a:latin typeface="Arial"/>
            </a:endParaRPr>
          </a:p>
        </p:txBody>
      </p:sp>
      <p:sp>
        <p:nvSpPr>
          <p:cNvPr id="141" name="Step 6"/>
          <p:cNvSpPr/>
          <p:nvPr/>
        </p:nvSpPr>
        <p:spPr>
          <a:xfrm>
            <a:off x="4663440" y="2971800"/>
            <a:ext cx="1828440" cy="1416960"/>
          </a:xfrm>
          <a:prstGeom prst="roundRect">
            <a:avLst>
              <a:gd name="adj" fmla="val 5161"/>
            </a:avLst>
          </a:prstGeom>
          <a:solidFill>
            <a:schemeClr val="bg1"/>
          </a:solidFill>
          <a:ln w="12700">
            <a:solidFill>
              <a:srgbClr val="FFFFFF"/>
            </a:solidFill>
            <a:round/>
          </a:ln>
          <a:effectLst>
            <a:outerShdw blurRad="1015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42" name="Step num 6"/>
          <p:cNvSpPr/>
          <p:nvPr/>
        </p:nvSpPr>
        <p:spPr>
          <a:xfrm>
            <a:off x="4773240" y="3081600"/>
            <a:ext cx="347040" cy="347040"/>
          </a:xfrm>
          <a:prstGeom prst="ellipse">
            <a:avLst/>
          </a:prstGeom>
          <a:solidFill>
            <a:schemeClr val="accent1"/>
          </a:solidFill>
          <a:ln w="12700">
            <a:solidFill>
              <a:srgbClr val="0E7C8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43" name="Text 33"/>
          <p:cNvSpPr/>
          <p:nvPr/>
        </p:nvSpPr>
        <p:spPr>
          <a:xfrm>
            <a:off x="4773240" y="308160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chemeClr val="lt1"/>
                </a:solidFill>
                <a:latin typeface="Calibri"/>
              </a:rPr>
              <a:t>6</a:t>
            </a:r>
            <a:endParaRPr lang="en-US" sz="1300" b="0" strike="noStrike" spc="-1">
              <a:solidFill>
                <a:srgbClr val="000000"/>
              </a:solidFill>
              <a:latin typeface="Arial"/>
            </a:endParaRPr>
          </a:p>
        </p:txBody>
      </p:sp>
      <p:sp>
        <p:nvSpPr>
          <p:cNvPr id="144" name="Text 34"/>
          <p:cNvSpPr/>
          <p:nvPr/>
        </p:nvSpPr>
        <p:spPr>
          <a:xfrm>
            <a:off x="4773240" y="3502080"/>
            <a:ext cx="1608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1" strike="noStrike" spc="-1">
                <a:solidFill>
                  <a:schemeClr val="dk2"/>
                </a:solidFill>
                <a:latin typeface="Calibri"/>
              </a:rPr>
              <a:t>Testing</a:t>
            </a:r>
            <a:endParaRPr lang="en-US" sz="1300" b="0" strike="noStrike" spc="-1">
              <a:solidFill>
                <a:srgbClr val="000000"/>
              </a:solidFill>
              <a:latin typeface="Arial"/>
            </a:endParaRPr>
          </a:p>
        </p:txBody>
      </p:sp>
      <p:sp>
        <p:nvSpPr>
          <p:cNvPr id="145" name="Text 35"/>
          <p:cNvSpPr/>
          <p:nvPr/>
        </p:nvSpPr>
        <p:spPr>
          <a:xfrm>
            <a:off x="4773240" y="3867840"/>
            <a:ext cx="1608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strike="noStrike" spc="-1">
                <a:solidFill>
                  <a:schemeClr val="dk1"/>
                </a:solidFill>
                <a:latin typeface="Calibri"/>
              </a:rPr>
              <a:t>Sizes 11 to 501, 4 scenarios</a:t>
            </a:r>
            <a:endParaRPr lang="en-US" sz="1200" b="0" strike="noStrike" spc="-1">
              <a:solidFill>
                <a:srgbClr val="000000"/>
              </a:solidFill>
              <a:latin typeface="Arial"/>
            </a:endParaRPr>
          </a:p>
        </p:txBody>
      </p:sp>
      <p:sp>
        <p:nvSpPr>
          <p:cNvPr id="146" name="Flow arrow 5"/>
          <p:cNvSpPr/>
          <p:nvPr/>
        </p:nvSpPr>
        <p:spPr>
          <a:xfrm>
            <a:off x="4389120" y="3474720"/>
            <a:ext cx="273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chemeClr val="accent6"/>
                </a:solidFill>
                <a:latin typeface="Calibri"/>
              </a:rPr>
              <a:t>←</a:t>
            </a:r>
            <a:endParaRPr lang="en-US" sz="1800" b="0" strike="noStrike" spc="-1">
              <a:solidFill>
                <a:srgbClr val="000000"/>
              </a:solidFill>
              <a:latin typeface="Arial"/>
            </a:endParaRPr>
          </a:p>
        </p:txBody>
      </p:sp>
      <p:sp>
        <p:nvSpPr>
          <p:cNvPr id="147" name="Step 7"/>
          <p:cNvSpPr/>
          <p:nvPr/>
        </p:nvSpPr>
        <p:spPr>
          <a:xfrm>
            <a:off x="2560320" y="2971800"/>
            <a:ext cx="1828440" cy="1416960"/>
          </a:xfrm>
          <a:prstGeom prst="roundRect">
            <a:avLst>
              <a:gd name="adj" fmla="val 5161"/>
            </a:avLst>
          </a:prstGeom>
          <a:solidFill>
            <a:schemeClr val="bg1"/>
          </a:solidFill>
          <a:ln w="12700">
            <a:solidFill>
              <a:srgbClr val="FFFFFF"/>
            </a:solidFill>
            <a:round/>
          </a:ln>
          <a:effectLst>
            <a:outerShdw blurRad="1015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48" name="Step num 7"/>
          <p:cNvSpPr/>
          <p:nvPr/>
        </p:nvSpPr>
        <p:spPr>
          <a:xfrm>
            <a:off x="2670120" y="3081600"/>
            <a:ext cx="347040" cy="347040"/>
          </a:xfrm>
          <a:prstGeom prst="ellipse">
            <a:avLst/>
          </a:prstGeom>
          <a:solidFill>
            <a:schemeClr val="accent1"/>
          </a:solidFill>
          <a:ln w="12700">
            <a:solidFill>
              <a:srgbClr val="0E7C8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49" name="Text 39"/>
          <p:cNvSpPr/>
          <p:nvPr/>
        </p:nvSpPr>
        <p:spPr>
          <a:xfrm>
            <a:off x="2670120" y="308160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chemeClr val="lt1"/>
                </a:solidFill>
                <a:latin typeface="Calibri"/>
              </a:rPr>
              <a:t>7</a:t>
            </a:r>
            <a:endParaRPr lang="en-US" sz="1300" b="0" strike="noStrike" spc="-1">
              <a:solidFill>
                <a:srgbClr val="000000"/>
              </a:solidFill>
              <a:latin typeface="Arial"/>
            </a:endParaRPr>
          </a:p>
        </p:txBody>
      </p:sp>
      <p:sp>
        <p:nvSpPr>
          <p:cNvPr id="150" name="Text 40"/>
          <p:cNvSpPr/>
          <p:nvPr/>
        </p:nvSpPr>
        <p:spPr>
          <a:xfrm>
            <a:off x="2670120" y="3502080"/>
            <a:ext cx="1608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1" strike="noStrike" spc="-1">
                <a:solidFill>
                  <a:schemeClr val="dk2"/>
                </a:solidFill>
                <a:latin typeface="Calibri"/>
              </a:rPr>
              <a:t>Comparison</a:t>
            </a:r>
            <a:endParaRPr lang="en-US" sz="1300" b="0" strike="noStrike" spc="-1">
              <a:solidFill>
                <a:srgbClr val="000000"/>
              </a:solidFill>
              <a:latin typeface="Arial"/>
            </a:endParaRPr>
          </a:p>
        </p:txBody>
      </p:sp>
      <p:sp>
        <p:nvSpPr>
          <p:cNvPr id="151" name="Text 41"/>
          <p:cNvSpPr/>
          <p:nvPr/>
        </p:nvSpPr>
        <p:spPr>
          <a:xfrm>
            <a:off x="2670120" y="3867840"/>
            <a:ext cx="1608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strike="noStrike" spc="-1">
                <a:solidFill>
                  <a:schemeClr val="dk1"/>
                </a:solidFill>
                <a:latin typeface="Calibri"/>
              </a:rPr>
              <a:t>Length, time, nodes explored</a:t>
            </a:r>
            <a:endParaRPr lang="en-US" sz="1200" b="0" strike="noStrike" spc="-1">
              <a:solidFill>
                <a:srgbClr val="000000"/>
              </a:solidFill>
              <a:latin typeface="Arial"/>
            </a:endParaRPr>
          </a:p>
        </p:txBody>
      </p:sp>
      <p:sp>
        <p:nvSpPr>
          <p:cNvPr id="152" name="Flow arrow 6"/>
          <p:cNvSpPr/>
          <p:nvPr/>
        </p:nvSpPr>
        <p:spPr>
          <a:xfrm>
            <a:off x="2286000" y="3474720"/>
            <a:ext cx="273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chemeClr val="accent6"/>
                </a:solidFill>
                <a:latin typeface="Calibri"/>
              </a:rPr>
              <a:t>←</a:t>
            </a:r>
            <a:endParaRPr lang="en-US" sz="1800" b="0" strike="noStrike" spc="-1">
              <a:solidFill>
                <a:srgbClr val="000000"/>
              </a:solidFill>
              <a:latin typeface="Arial"/>
            </a:endParaRPr>
          </a:p>
        </p:txBody>
      </p:sp>
      <p:sp>
        <p:nvSpPr>
          <p:cNvPr id="153" name="Step 8"/>
          <p:cNvSpPr/>
          <p:nvPr/>
        </p:nvSpPr>
        <p:spPr>
          <a:xfrm>
            <a:off x="457200" y="2971800"/>
            <a:ext cx="1828440" cy="1416960"/>
          </a:xfrm>
          <a:prstGeom prst="roundRect">
            <a:avLst>
              <a:gd name="adj" fmla="val 5161"/>
            </a:avLst>
          </a:prstGeom>
          <a:solidFill>
            <a:schemeClr val="bg1"/>
          </a:solidFill>
          <a:ln w="12700">
            <a:solidFill>
              <a:srgbClr val="FFFFFF"/>
            </a:solidFill>
            <a:round/>
          </a:ln>
          <a:effectLst>
            <a:outerShdw blurRad="1015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54" name="Step num 8"/>
          <p:cNvSpPr/>
          <p:nvPr/>
        </p:nvSpPr>
        <p:spPr>
          <a:xfrm>
            <a:off x="567000" y="3081600"/>
            <a:ext cx="347040" cy="347040"/>
          </a:xfrm>
          <a:prstGeom prst="ellipse">
            <a:avLst/>
          </a:prstGeom>
          <a:solidFill>
            <a:schemeClr val="accent1"/>
          </a:solidFill>
          <a:ln w="12700">
            <a:solidFill>
              <a:srgbClr val="0E7C8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55" name="Text 45"/>
          <p:cNvSpPr/>
          <p:nvPr/>
        </p:nvSpPr>
        <p:spPr>
          <a:xfrm>
            <a:off x="567000" y="308160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chemeClr val="lt1"/>
                </a:solidFill>
                <a:latin typeface="Calibri"/>
              </a:rPr>
              <a:t>8</a:t>
            </a:r>
            <a:endParaRPr lang="en-US" sz="1300" b="0" strike="noStrike" spc="-1">
              <a:solidFill>
                <a:srgbClr val="000000"/>
              </a:solidFill>
              <a:latin typeface="Arial"/>
            </a:endParaRPr>
          </a:p>
        </p:txBody>
      </p:sp>
      <p:sp>
        <p:nvSpPr>
          <p:cNvPr id="156" name="Text 46"/>
          <p:cNvSpPr/>
          <p:nvPr/>
        </p:nvSpPr>
        <p:spPr>
          <a:xfrm>
            <a:off x="567000" y="3502080"/>
            <a:ext cx="1608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1" strike="noStrike" spc="-1">
                <a:solidFill>
                  <a:schemeClr val="dk2"/>
                </a:solidFill>
                <a:latin typeface="Calibri"/>
              </a:rPr>
              <a:t>Results / conclusion</a:t>
            </a:r>
            <a:endParaRPr lang="en-US" sz="1300" b="0" strike="noStrike" spc="-1">
              <a:solidFill>
                <a:srgbClr val="000000"/>
              </a:solidFill>
              <a:latin typeface="Arial"/>
            </a:endParaRPr>
          </a:p>
        </p:txBody>
      </p:sp>
      <p:sp>
        <p:nvSpPr>
          <p:cNvPr id="157" name="Text 47"/>
          <p:cNvSpPr/>
          <p:nvPr/>
        </p:nvSpPr>
        <p:spPr>
          <a:xfrm>
            <a:off x="567000" y="3867840"/>
            <a:ext cx="1608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strike="noStrike" spc="-1">
                <a:solidFill>
                  <a:schemeClr val="dk1"/>
                </a:solidFill>
                <a:latin typeface="Calibri"/>
              </a:rPr>
              <a:t>Pick the best fit per case</a:t>
            </a:r>
            <a:endParaRPr lang="en-US" sz="1200" b="0" strike="noStrike" spc="-1">
              <a:solidFill>
                <a:srgbClr val="000000"/>
              </a:solidFill>
              <a:latin typeface="Arial"/>
            </a:endParaRPr>
          </a:p>
        </p:txBody>
      </p:sp>
      <p:sp>
        <p:nvSpPr>
          <p:cNvPr id="158" name="PlaceHolder 2"/>
          <p:cNvSpPr>
            <a:spLocks noGrp="1"/>
          </p:cNvSpPr>
          <p:nvPr>
            <p:ph type="sldNum" idx="10"/>
          </p:nvPr>
        </p:nvSpPr>
        <p:spPr>
          <a:xfrm>
            <a:off x="8321040" y="4754880"/>
            <a:ext cx="456840" cy="273960"/>
          </a:xfrm>
          <a:prstGeom prst="rect">
            <a:avLst/>
          </a:prstGeom>
          <a:noFill/>
          <a:ln w="0">
            <a:noFill/>
          </a:ln>
        </p:spPr>
        <p:txBody>
          <a:bodyPr lIns="90000" tIns="45000" rIns="90000" bIns="45000" anchor="t">
            <a:noAutofit/>
          </a:bodyPr>
          <a:lstStyle>
            <a:lvl1pPr indent="0" defTabSz="914400">
              <a:lnSpc>
                <a:spcPct val="100000"/>
              </a:lnSpc>
              <a:buNone/>
              <a:defRPr lang="en-US" sz="1000" b="0" strike="noStrike" spc="-1">
                <a:solidFill>
                  <a:schemeClr val="accent6"/>
                </a:solidFill>
                <a:latin typeface="Calibri"/>
              </a:defRPr>
            </a:lvl1pPr>
          </a:lstStyle>
          <a:p>
            <a:pPr indent="0" defTabSz="914400">
              <a:lnSpc>
                <a:spcPct val="100000"/>
              </a:lnSpc>
              <a:buNone/>
            </a:pPr>
            <a:fld id="{616BAA91-5CB5-4252-B13C-4A056AD3D17B}" type="slidenum">
              <a:rPr lang="en-US" sz="1000" b="0" strike="noStrike" spc="-1">
                <a:solidFill>
                  <a:schemeClr val="accent6"/>
                </a:solidFill>
                <a:latin typeface="Calibri"/>
              </a:rPr>
              <a:t>6</a:t>
            </a:fld>
            <a:endParaRPr lang="en-US" sz="1000" b="0" strike="noStrike" spc="-1">
              <a:solidFill>
                <a:srgbClr val="000000"/>
              </a:solidFill>
              <a:latin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457200" y="274320"/>
            <a:ext cx="8229240" cy="685440"/>
          </a:xfrm>
          <a:prstGeom prst="rect">
            <a:avLst/>
          </a:prstGeom>
          <a:noFill/>
          <a:ln w="0">
            <a:noFill/>
          </a:ln>
        </p:spPr>
        <p:txBody>
          <a:bodyPr lIns="90000" tIns="45000" rIns="90000" bIns="45000" anchor="ctr">
            <a:noAutofit/>
          </a:bodyPr>
          <a:lstStyle/>
          <a:p>
            <a:pPr indent="0" algn="ctr" defTabSz="914400">
              <a:lnSpc>
                <a:spcPct val="100000"/>
              </a:lnSpc>
              <a:buNone/>
              <a:tabLst>
                <a:tab pos="0" algn="l"/>
              </a:tabLst>
            </a:pPr>
            <a:r>
              <a:rPr lang="en-US" sz="3200" b="1" strike="noStrike" spc="-1">
                <a:solidFill>
                  <a:schemeClr val="dk2"/>
                </a:solidFill>
                <a:latin typeface="Cambria"/>
              </a:rPr>
              <a:t>Algorithms used</a:t>
            </a:r>
            <a:endParaRPr lang="en-US" sz="3200" b="0" strike="noStrike" spc="-1">
              <a:solidFill>
                <a:schemeClr val="dk1"/>
              </a:solidFill>
              <a:latin typeface="Calibri"/>
            </a:endParaRPr>
          </a:p>
        </p:txBody>
      </p:sp>
      <p:sp>
        <p:nvSpPr>
          <p:cNvPr id="160" name="Algo card BFS"/>
          <p:cNvSpPr/>
          <p:nvPr/>
        </p:nvSpPr>
        <p:spPr>
          <a:xfrm>
            <a:off x="457200" y="1097280"/>
            <a:ext cx="1828440" cy="3474360"/>
          </a:xfrm>
          <a:prstGeom prst="roundRect">
            <a:avLst>
              <a:gd name="adj" fmla="val 4000"/>
            </a:avLst>
          </a:prstGeom>
          <a:solidFill>
            <a:schemeClr val="bg1"/>
          </a:solidFill>
          <a:ln w="12700">
            <a:solidFill>
              <a:srgbClr val="FFFFFF"/>
            </a:solidFill>
            <a:round/>
          </a:ln>
          <a:effectLst>
            <a:outerShdw blurRad="1015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61" name="Algo tag BFS"/>
          <p:cNvSpPr/>
          <p:nvPr/>
        </p:nvSpPr>
        <p:spPr>
          <a:xfrm>
            <a:off x="594360" y="1207080"/>
            <a:ext cx="1554120" cy="365400"/>
          </a:xfrm>
          <a:prstGeom prst="roundRect">
            <a:avLst>
              <a:gd name="adj" fmla="val 25000"/>
            </a:avLst>
          </a:prstGeom>
          <a:solidFill>
            <a:srgbClr val="2E86AB"/>
          </a:solidFill>
          <a:ln w="12700">
            <a:solidFill>
              <a:srgbClr val="2E86A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62" name="Text 3"/>
          <p:cNvSpPr/>
          <p:nvPr/>
        </p:nvSpPr>
        <p:spPr>
          <a:xfrm>
            <a:off x="594360" y="1207080"/>
            <a:ext cx="15541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rgbClr val="FFFFFF"/>
                </a:solidFill>
                <a:latin typeface="Calibri"/>
              </a:rPr>
              <a:t>BFS</a:t>
            </a:r>
            <a:endParaRPr lang="en-US" sz="1600" b="0" strike="noStrike" spc="-1">
              <a:solidFill>
                <a:srgbClr val="000000"/>
              </a:solidFill>
              <a:latin typeface="Arial"/>
            </a:endParaRPr>
          </a:p>
        </p:txBody>
      </p:sp>
      <p:pic>
        <p:nvPicPr>
          <p:cNvPr id="163" name="Image 0" descr="BFS exploration"/>
          <p:cNvPicPr/>
          <p:nvPr/>
        </p:nvPicPr>
        <p:blipFill>
          <a:blip r:embed="rId3"/>
          <a:stretch/>
        </p:blipFill>
        <p:spPr>
          <a:xfrm>
            <a:off x="685800" y="1691640"/>
            <a:ext cx="1371240" cy="1371240"/>
          </a:xfrm>
          <a:prstGeom prst="rect">
            <a:avLst/>
          </a:prstGeom>
          <a:ln w="0">
            <a:noFill/>
          </a:ln>
        </p:spPr>
      </p:pic>
      <p:sp>
        <p:nvSpPr>
          <p:cNvPr id="164" name="Text 4"/>
          <p:cNvSpPr/>
          <p:nvPr/>
        </p:nvSpPr>
        <p:spPr>
          <a:xfrm>
            <a:off x="594360" y="3154680"/>
            <a:ext cx="15541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
                <a:solidFill>
                  <a:schemeClr val="dk2"/>
                </a:solidFill>
                <a:latin typeface="Calibri"/>
              </a:rPr>
              <a:t>Idea: </a:t>
            </a:r>
            <a:r>
              <a:rPr lang="en-US" sz="1200" b="0" strike="noStrike" spc="-1">
                <a:solidFill>
                  <a:schemeClr val="dk1"/>
                </a:solidFill>
                <a:latin typeface="Calibri"/>
              </a:rPr>
              <a:t>Explores level by level</a:t>
            </a:r>
            <a:endParaRPr lang="en-US" sz="1200" b="0" strike="noStrike" spc="-1">
              <a:solidFill>
                <a:srgbClr val="000000"/>
              </a:solidFill>
              <a:latin typeface="Arial"/>
            </a:endParaRPr>
          </a:p>
        </p:txBody>
      </p:sp>
      <p:sp>
        <p:nvSpPr>
          <p:cNvPr id="165" name="Text 5"/>
          <p:cNvSpPr/>
          <p:nvPr/>
        </p:nvSpPr>
        <p:spPr>
          <a:xfrm>
            <a:off x="594360" y="3611880"/>
            <a:ext cx="15541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
                <a:solidFill>
                  <a:schemeClr val="dk2"/>
                </a:solidFill>
                <a:latin typeface="Calibri"/>
              </a:rPr>
              <a:t>Why: </a:t>
            </a:r>
            <a:r>
              <a:rPr lang="en-US" sz="1200" b="0" strike="noStrike" spc="-1">
                <a:solidFill>
                  <a:schemeClr val="dk1"/>
                </a:solidFill>
                <a:latin typeface="Calibri"/>
              </a:rPr>
              <a:t>Baseline for shortest path</a:t>
            </a:r>
            <a:endParaRPr lang="en-US" sz="1200" b="0" strike="noStrike" spc="-1">
              <a:solidFill>
                <a:srgbClr val="000000"/>
              </a:solidFill>
              <a:latin typeface="Arial"/>
            </a:endParaRPr>
          </a:p>
        </p:txBody>
      </p:sp>
      <p:sp>
        <p:nvSpPr>
          <p:cNvPr id="166" name="Text 6"/>
          <p:cNvSpPr/>
          <p:nvPr/>
        </p:nvSpPr>
        <p:spPr>
          <a:xfrm>
            <a:off x="594360" y="4114800"/>
            <a:ext cx="15541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
                <a:solidFill>
                  <a:schemeClr val="dk2"/>
                </a:solidFill>
                <a:latin typeface="Calibri"/>
              </a:rPr>
              <a:t>Data: </a:t>
            </a:r>
            <a:r>
              <a:rPr lang="en-US" sz="1200" b="0" strike="noStrike" spc="-1">
                <a:solidFill>
                  <a:schemeClr val="dk1"/>
                </a:solidFill>
                <a:latin typeface="Calibri"/>
              </a:rPr>
              <a:t>Queue (FIFO)</a:t>
            </a:r>
            <a:endParaRPr lang="en-US" sz="1200" b="0" strike="noStrike" spc="-1">
              <a:solidFill>
                <a:srgbClr val="000000"/>
              </a:solidFill>
              <a:latin typeface="Arial"/>
            </a:endParaRPr>
          </a:p>
        </p:txBody>
      </p:sp>
      <p:sp>
        <p:nvSpPr>
          <p:cNvPr id="167" name="Algo card DFS"/>
          <p:cNvSpPr/>
          <p:nvPr/>
        </p:nvSpPr>
        <p:spPr>
          <a:xfrm>
            <a:off x="2560320" y="1097280"/>
            <a:ext cx="1828440" cy="3474360"/>
          </a:xfrm>
          <a:prstGeom prst="roundRect">
            <a:avLst>
              <a:gd name="adj" fmla="val 4000"/>
            </a:avLst>
          </a:prstGeom>
          <a:solidFill>
            <a:schemeClr val="bg1"/>
          </a:solidFill>
          <a:ln w="12700">
            <a:solidFill>
              <a:srgbClr val="FFFFFF"/>
            </a:solidFill>
            <a:round/>
          </a:ln>
          <a:effectLst>
            <a:outerShdw blurRad="1015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68" name="Algo tag DFS"/>
          <p:cNvSpPr/>
          <p:nvPr/>
        </p:nvSpPr>
        <p:spPr>
          <a:xfrm>
            <a:off x="2697480" y="1207080"/>
            <a:ext cx="1554120" cy="365400"/>
          </a:xfrm>
          <a:prstGeom prst="roundRect">
            <a:avLst>
              <a:gd name="adj" fmla="val 25000"/>
            </a:avLst>
          </a:prstGeom>
          <a:solidFill>
            <a:srgbClr val="C8553D"/>
          </a:solidFill>
          <a:ln w="12700">
            <a:solidFill>
              <a:srgbClr val="C8553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69" name="Text 9"/>
          <p:cNvSpPr/>
          <p:nvPr/>
        </p:nvSpPr>
        <p:spPr>
          <a:xfrm>
            <a:off x="2697480" y="1207080"/>
            <a:ext cx="15541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rgbClr val="FFFFFF"/>
                </a:solidFill>
                <a:latin typeface="Calibri"/>
              </a:rPr>
              <a:t>DFS</a:t>
            </a:r>
            <a:endParaRPr lang="en-US" sz="1600" b="0" strike="noStrike" spc="-1">
              <a:solidFill>
                <a:srgbClr val="000000"/>
              </a:solidFill>
              <a:latin typeface="Arial"/>
            </a:endParaRPr>
          </a:p>
        </p:txBody>
      </p:sp>
      <p:pic>
        <p:nvPicPr>
          <p:cNvPr id="170" name="Image 1" descr="DFS exploration"/>
          <p:cNvPicPr/>
          <p:nvPr/>
        </p:nvPicPr>
        <p:blipFill>
          <a:blip r:embed="rId4"/>
          <a:stretch/>
        </p:blipFill>
        <p:spPr>
          <a:xfrm>
            <a:off x="2788920" y="1691640"/>
            <a:ext cx="1371240" cy="1371240"/>
          </a:xfrm>
          <a:prstGeom prst="rect">
            <a:avLst/>
          </a:prstGeom>
          <a:ln w="0">
            <a:noFill/>
          </a:ln>
        </p:spPr>
      </p:pic>
      <p:sp>
        <p:nvSpPr>
          <p:cNvPr id="171" name="Text 10"/>
          <p:cNvSpPr/>
          <p:nvPr/>
        </p:nvSpPr>
        <p:spPr>
          <a:xfrm>
            <a:off x="2697480" y="3154680"/>
            <a:ext cx="15541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
                <a:solidFill>
                  <a:schemeClr val="dk2"/>
                </a:solidFill>
                <a:latin typeface="Calibri"/>
              </a:rPr>
              <a:t>Idea: </a:t>
            </a:r>
            <a:r>
              <a:rPr lang="en-US" sz="1200" b="0" strike="noStrike" spc="-1">
                <a:solidFill>
                  <a:schemeClr val="dk1"/>
                </a:solidFill>
                <a:latin typeface="Calibri"/>
              </a:rPr>
              <a:t>Dives deep, then backtracks</a:t>
            </a:r>
            <a:endParaRPr lang="en-US" sz="1200" b="0" strike="noStrike" spc="-1">
              <a:solidFill>
                <a:srgbClr val="000000"/>
              </a:solidFill>
              <a:latin typeface="Arial"/>
            </a:endParaRPr>
          </a:p>
        </p:txBody>
      </p:sp>
      <p:sp>
        <p:nvSpPr>
          <p:cNvPr id="172" name="Text 11"/>
          <p:cNvSpPr/>
          <p:nvPr/>
        </p:nvSpPr>
        <p:spPr>
          <a:xfrm>
            <a:off x="2697480" y="3611880"/>
            <a:ext cx="15541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
                <a:solidFill>
                  <a:schemeClr val="dk2"/>
                </a:solidFill>
                <a:latin typeface="Calibri"/>
              </a:rPr>
              <a:t>Why: </a:t>
            </a:r>
            <a:r>
              <a:rPr lang="en-US" sz="1200" b="0" strike="noStrike" spc="-1">
                <a:solidFill>
                  <a:schemeClr val="dk1"/>
                </a:solidFill>
                <a:latin typeface="Calibri"/>
              </a:rPr>
              <a:t>Fast, low-memory contrast</a:t>
            </a:r>
            <a:endParaRPr lang="en-US" sz="1200" b="0" strike="noStrike" spc="-1">
              <a:solidFill>
                <a:srgbClr val="000000"/>
              </a:solidFill>
              <a:latin typeface="Arial"/>
            </a:endParaRPr>
          </a:p>
        </p:txBody>
      </p:sp>
      <p:sp>
        <p:nvSpPr>
          <p:cNvPr id="173" name="Text 12"/>
          <p:cNvSpPr/>
          <p:nvPr/>
        </p:nvSpPr>
        <p:spPr>
          <a:xfrm>
            <a:off x="2697480" y="4114800"/>
            <a:ext cx="15541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
                <a:solidFill>
                  <a:schemeClr val="dk2"/>
                </a:solidFill>
                <a:latin typeface="Calibri"/>
              </a:rPr>
              <a:t>Data: </a:t>
            </a:r>
            <a:r>
              <a:rPr lang="en-US" sz="1200" b="0" strike="noStrike" spc="-1">
                <a:solidFill>
                  <a:schemeClr val="dk1"/>
                </a:solidFill>
                <a:latin typeface="Calibri"/>
              </a:rPr>
              <a:t>Stack (LIFO)</a:t>
            </a:r>
            <a:endParaRPr lang="en-US" sz="1200" b="0" strike="noStrike" spc="-1">
              <a:solidFill>
                <a:srgbClr val="000000"/>
              </a:solidFill>
              <a:latin typeface="Arial"/>
            </a:endParaRPr>
          </a:p>
        </p:txBody>
      </p:sp>
      <p:sp>
        <p:nvSpPr>
          <p:cNvPr id="174" name="Algo card Dijkstra"/>
          <p:cNvSpPr/>
          <p:nvPr/>
        </p:nvSpPr>
        <p:spPr>
          <a:xfrm>
            <a:off x="4663440" y="1097280"/>
            <a:ext cx="1828440" cy="3474360"/>
          </a:xfrm>
          <a:prstGeom prst="roundRect">
            <a:avLst>
              <a:gd name="adj" fmla="val 4000"/>
            </a:avLst>
          </a:prstGeom>
          <a:solidFill>
            <a:schemeClr val="bg1"/>
          </a:solidFill>
          <a:ln w="12700">
            <a:solidFill>
              <a:srgbClr val="FFFFFF"/>
            </a:solidFill>
            <a:round/>
          </a:ln>
          <a:effectLst>
            <a:outerShdw blurRad="1015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75" name="Algo tag Dijkstra"/>
          <p:cNvSpPr/>
          <p:nvPr/>
        </p:nvSpPr>
        <p:spPr>
          <a:xfrm>
            <a:off x="4800600" y="1207080"/>
            <a:ext cx="1554120" cy="365400"/>
          </a:xfrm>
          <a:prstGeom prst="roundRect">
            <a:avLst>
              <a:gd name="adj" fmla="val 25000"/>
            </a:avLst>
          </a:prstGeom>
          <a:solidFill>
            <a:srgbClr val="5C9A3E"/>
          </a:solidFill>
          <a:ln w="12700">
            <a:solidFill>
              <a:srgbClr val="5C9A3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76" name="Text 15"/>
          <p:cNvSpPr/>
          <p:nvPr/>
        </p:nvSpPr>
        <p:spPr>
          <a:xfrm>
            <a:off x="4800600" y="1207080"/>
            <a:ext cx="15541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rgbClr val="FFFFFF"/>
                </a:solidFill>
                <a:latin typeface="Calibri"/>
              </a:rPr>
              <a:t>Dijkstra</a:t>
            </a:r>
            <a:endParaRPr lang="en-US" sz="1600" b="0" strike="noStrike" spc="-1">
              <a:solidFill>
                <a:srgbClr val="000000"/>
              </a:solidFill>
              <a:latin typeface="Arial"/>
            </a:endParaRPr>
          </a:p>
        </p:txBody>
      </p:sp>
      <p:pic>
        <p:nvPicPr>
          <p:cNvPr id="177" name="Image 2" descr="Dijkstra exploration"/>
          <p:cNvPicPr/>
          <p:nvPr/>
        </p:nvPicPr>
        <p:blipFill>
          <a:blip r:embed="rId5"/>
          <a:stretch/>
        </p:blipFill>
        <p:spPr>
          <a:xfrm>
            <a:off x="4892040" y="1691640"/>
            <a:ext cx="1371240" cy="1371240"/>
          </a:xfrm>
          <a:prstGeom prst="rect">
            <a:avLst/>
          </a:prstGeom>
          <a:ln w="0">
            <a:noFill/>
          </a:ln>
        </p:spPr>
      </p:pic>
      <p:sp>
        <p:nvSpPr>
          <p:cNvPr id="178" name="Text 16"/>
          <p:cNvSpPr/>
          <p:nvPr/>
        </p:nvSpPr>
        <p:spPr>
          <a:xfrm>
            <a:off x="4800600" y="3154680"/>
            <a:ext cx="15541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
                <a:solidFill>
                  <a:schemeClr val="dk2"/>
                </a:solidFill>
                <a:latin typeface="Calibri"/>
              </a:rPr>
              <a:t>Idea: </a:t>
            </a:r>
            <a:r>
              <a:rPr lang="en-US" sz="1200" b="0" strike="noStrike" spc="-1">
                <a:solidFill>
                  <a:schemeClr val="dk1"/>
                </a:solidFill>
                <a:latin typeface="Calibri"/>
              </a:rPr>
              <a:t>Expands cheapest node first</a:t>
            </a:r>
            <a:endParaRPr lang="en-US" sz="1200" b="0" strike="noStrike" spc="-1">
              <a:solidFill>
                <a:srgbClr val="000000"/>
              </a:solidFill>
              <a:latin typeface="Arial"/>
            </a:endParaRPr>
          </a:p>
        </p:txBody>
      </p:sp>
      <p:sp>
        <p:nvSpPr>
          <p:cNvPr id="179" name="Text 17"/>
          <p:cNvSpPr/>
          <p:nvPr/>
        </p:nvSpPr>
        <p:spPr>
          <a:xfrm>
            <a:off x="4800600" y="3611880"/>
            <a:ext cx="15541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
                <a:solidFill>
                  <a:schemeClr val="dk2"/>
                </a:solidFill>
                <a:latin typeface="Calibri"/>
              </a:rPr>
              <a:t>Why: </a:t>
            </a:r>
            <a:r>
              <a:rPr lang="en-US" sz="1200" b="0" strike="noStrike" spc="-1">
                <a:solidFill>
                  <a:schemeClr val="dk1"/>
                </a:solidFill>
                <a:latin typeface="Calibri"/>
              </a:rPr>
              <a:t>Optimal on weighted terrain</a:t>
            </a:r>
            <a:endParaRPr lang="en-US" sz="1200" b="0" strike="noStrike" spc="-1">
              <a:solidFill>
                <a:srgbClr val="000000"/>
              </a:solidFill>
              <a:latin typeface="Arial"/>
            </a:endParaRPr>
          </a:p>
        </p:txBody>
      </p:sp>
      <p:sp>
        <p:nvSpPr>
          <p:cNvPr id="180" name="Text 18"/>
          <p:cNvSpPr/>
          <p:nvPr/>
        </p:nvSpPr>
        <p:spPr>
          <a:xfrm>
            <a:off x="4800600" y="4114800"/>
            <a:ext cx="15541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
                <a:solidFill>
                  <a:schemeClr val="dk2"/>
                </a:solidFill>
                <a:latin typeface="Calibri"/>
              </a:rPr>
              <a:t>Data: </a:t>
            </a:r>
            <a:r>
              <a:rPr lang="en-US" sz="1200" b="0" strike="noStrike" spc="-1">
                <a:solidFill>
                  <a:schemeClr val="dk1"/>
                </a:solidFill>
                <a:latin typeface="Calibri"/>
              </a:rPr>
              <a:t>Min-heap on g(n)</a:t>
            </a:r>
            <a:endParaRPr lang="en-US" sz="1200" b="0" strike="noStrike" spc="-1">
              <a:solidFill>
                <a:srgbClr val="000000"/>
              </a:solidFill>
              <a:latin typeface="Arial"/>
            </a:endParaRPr>
          </a:p>
        </p:txBody>
      </p:sp>
      <p:sp>
        <p:nvSpPr>
          <p:cNvPr id="181" name="Algo card A*"/>
          <p:cNvSpPr/>
          <p:nvPr/>
        </p:nvSpPr>
        <p:spPr>
          <a:xfrm>
            <a:off x="6766560" y="1097280"/>
            <a:ext cx="1828440" cy="3474360"/>
          </a:xfrm>
          <a:prstGeom prst="roundRect">
            <a:avLst>
              <a:gd name="adj" fmla="val 4000"/>
            </a:avLst>
          </a:prstGeom>
          <a:solidFill>
            <a:schemeClr val="bg1"/>
          </a:solidFill>
          <a:ln w="12700">
            <a:solidFill>
              <a:srgbClr val="FFFFFF"/>
            </a:solidFill>
            <a:round/>
          </a:ln>
          <a:effectLst>
            <a:outerShdw blurRad="1015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82" name="Algo tag A*"/>
          <p:cNvSpPr/>
          <p:nvPr/>
        </p:nvSpPr>
        <p:spPr>
          <a:xfrm>
            <a:off x="6903720" y="1207080"/>
            <a:ext cx="1554120" cy="365400"/>
          </a:xfrm>
          <a:prstGeom prst="roundRect">
            <a:avLst>
              <a:gd name="adj" fmla="val 25000"/>
            </a:avLst>
          </a:prstGeom>
          <a:solidFill>
            <a:srgbClr val="F5A524"/>
          </a:solidFill>
          <a:ln w="12700">
            <a:solidFill>
              <a:srgbClr val="F5A52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83" name="Text 21"/>
          <p:cNvSpPr/>
          <p:nvPr/>
        </p:nvSpPr>
        <p:spPr>
          <a:xfrm>
            <a:off x="6903720" y="1207080"/>
            <a:ext cx="15541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rgbClr val="0B1F2A"/>
                </a:solidFill>
                <a:latin typeface="Calibri"/>
              </a:rPr>
              <a:t>A*</a:t>
            </a:r>
            <a:endParaRPr lang="en-US" sz="1600" b="0" strike="noStrike" spc="-1">
              <a:solidFill>
                <a:srgbClr val="000000"/>
              </a:solidFill>
              <a:latin typeface="Arial"/>
            </a:endParaRPr>
          </a:p>
        </p:txBody>
      </p:sp>
      <p:pic>
        <p:nvPicPr>
          <p:cNvPr id="184" name="Image 3" descr="A* exploration"/>
          <p:cNvPicPr/>
          <p:nvPr/>
        </p:nvPicPr>
        <p:blipFill>
          <a:blip r:embed="rId6"/>
          <a:stretch/>
        </p:blipFill>
        <p:spPr>
          <a:xfrm>
            <a:off x="6995160" y="1691640"/>
            <a:ext cx="1371240" cy="1371240"/>
          </a:xfrm>
          <a:prstGeom prst="rect">
            <a:avLst/>
          </a:prstGeom>
          <a:ln w="0">
            <a:noFill/>
          </a:ln>
        </p:spPr>
      </p:pic>
      <p:sp>
        <p:nvSpPr>
          <p:cNvPr id="185" name="Text 22"/>
          <p:cNvSpPr/>
          <p:nvPr/>
        </p:nvSpPr>
        <p:spPr>
          <a:xfrm>
            <a:off x="6903720" y="3154680"/>
            <a:ext cx="15541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
                <a:solidFill>
                  <a:schemeClr val="dk2"/>
                </a:solidFill>
                <a:latin typeface="Calibri"/>
              </a:rPr>
              <a:t>Idea: </a:t>
            </a:r>
            <a:r>
              <a:rPr lang="en-US" sz="1200" b="0" strike="noStrike" spc="-1">
                <a:solidFill>
                  <a:schemeClr val="dk1"/>
                </a:solidFill>
                <a:latin typeface="Calibri"/>
              </a:rPr>
              <a:t>Dijkstra plus goal heuristic</a:t>
            </a:r>
            <a:endParaRPr lang="en-US" sz="1200" b="0" strike="noStrike" spc="-1">
              <a:solidFill>
                <a:srgbClr val="000000"/>
              </a:solidFill>
              <a:latin typeface="Arial"/>
            </a:endParaRPr>
          </a:p>
        </p:txBody>
      </p:sp>
      <p:sp>
        <p:nvSpPr>
          <p:cNvPr id="186" name="Text 23"/>
          <p:cNvSpPr/>
          <p:nvPr/>
        </p:nvSpPr>
        <p:spPr>
          <a:xfrm>
            <a:off x="6903720" y="3611880"/>
            <a:ext cx="15541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
                <a:solidFill>
                  <a:schemeClr val="dk2"/>
                </a:solidFill>
                <a:latin typeface="Calibri"/>
              </a:rPr>
              <a:t>Why: </a:t>
            </a:r>
            <a:r>
              <a:rPr lang="en-US" sz="1200" b="0" strike="noStrike" spc="-1">
                <a:solidFill>
                  <a:schemeClr val="dk1"/>
                </a:solidFill>
                <a:latin typeface="Calibri"/>
              </a:rPr>
              <a:t>Optimal, fewer nodes</a:t>
            </a:r>
            <a:endParaRPr lang="en-US" sz="1200" b="0" strike="noStrike" spc="-1">
              <a:solidFill>
                <a:srgbClr val="000000"/>
              </a:solidFill>
              <a:latin typeface="Arial"/>
            </a:endParaRPr>
          </a:p>
        </p:txBody>
      </p:sp>
      <p:sp>
        <p:nvSpPr>
          <p:cNvPr id="187" name="Text 24"/>
          <p:cNvSpPr/>
          <p:nvPr/>
        </p:nvSpPr>
        <p:spPr>
          <a:xfrm>
            <a:off x="6903720" y="4114800"/>
            <a:ext cx="15541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
                <a:solidFill>
                  <a:schemeClr val="dk2"/>
                </a:solidFill>
                <a:latin typeface="Calibri"/>
              </a:rPr>
              <a:t>Data: </a:t>
            </a:r>
            <a:r>
              <a:rPr lang="en-US" sz="1200" b="0" strike="noStrike" spc="-1">
                <a:solidFill>
                  <a:schemeClr val="dk1"/>
                </a:solidFill>
                <a:latin typeface="Calibri"/>
              </a:rPr>
              <a:t>Min-heap on g+h</a:t>
            </a:r>
            <a:endParaRPr lang="en-US" sz="1200" b="0" strike="noStrike" spc="-1">
              <a:solidFill>
                <a:srgbClr val="000000"/>
              </a:solidFill>
              <a:latin typeface="Arial"/>
            </a:endParaRPr>
          </a:p>
        </p:txBody>
      </p:sp>
      <p:sp>
        <p:nvSpPr>
          <p:cNvPr id="188" name="PlaceHolder 2"/>
          <p:cNvSpPr>
            <a:spLocks noGrp="1"/>
          </p:cNvSpPr>
          <p:nvPr>
            <p:ph type="sldNum" idx="11"/>
          </p:nvPr>
        </p:nvSpPr>
        <p:spPr>
          <a:xfrm>
            <a:off x="8321040" y="4754880"/>
            <a:ext cx="456840" cy="273960"/>
          </a:xfrm>
          <a:prstGeom prst="rect">
            <a:avLst/>
          </a:prstGeom>
          <a:noFill/>
          <a:ln w="0">
            <a:noFill/>
          </a:ln>
        </p:spPr>
        <p:txBody>
          <a:bodyPr lIns="90000" tIns="45000" rIns="90000" bIns="45000" anchor="t">
            <a:noAutofit/>
          </a:bodyPr>
          <a:lstStyle>
            <a:lvl1pPr indent="0" defTabSz="914400">
              <a:lnSpc>
                <a:spcPct val="100000"/>
              </a:lnSpc>
              <a:buNone/>
              <a:defRPr lang="en-US" sz="1000" b="0" strike="noStrike" spc="-1">
                <a:solidFill>
                  <a:schemeClr val="accent6"/>
                </a:solidFill>
                <a:latin typeface="Calibri"/>
              </a:defRPr>
            </a:lvl1pPr>
          </a:lstStyle>
          <a:p>
            <a:pPr indent="0" defTabSz="914400">
              <a:lnSpc>
                <a:spcPct val="100000"/>
              </a:lnSpc>
              <a:buNone/>
            </a:pPr>
            <a:fld id="{55AC6A0A-BC62-4AC4-96F8-6CB6D13DD4D6}" type="slidenum">
              <a:rPr lang="en-US" sz="1000" b="0" strike="noStrike" spc="-1">
                <a:solidFill>
                  <a:schemeClr val="accent6"/>
                </a:solidFill>
                <a:latin typeface="Calibri"/>
              </a:rPr>
              <a:t>7</a:t>
            </a:fld>
            <a:endParaRPr lang="en-US" sz="1000" b="0" strike="noStrike" spc="-1">
              <a:solidFill>
                <a:srgbClr val="000000"/>
              </a:solidFill>
              <a:latin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PlaceHolder 1"/>
          <p:cNvSpPr>
            <a:spLocks noGrp="1"/>
          </p:cNvSpPr>
          <p:nvPr>
            <p:ph type="title"/>
          </p:nvPr>
        </p:nvSpPr>
        <p:spPr>
          <a:xfrm>
            <a:off x="457200" y="274320"/>
            <a:ext cx="8229240" cy="685440"/>
          </a:xfrm>
          <a:prstGeom prst="rect">
            <a:avLst/>
          </a:prstGeom>
          <a:noFill/>
          <a:ln w="0">
            <a:noFill/>
          </a:ln>
        </p:spPr>
        <p:txBody>
          <a:bodyPr lIns="90000" tIns="45000" rIns="90000" bIns="45000" anchor="ctr">
            <a:noAutofit/>
          </a:bodyPr>
          <a:lstStyle/>
          <a:p>
            <a:pPr indent="0" algn="ctr" defTabSz="914400">
              <a:lnSpc>
                <a:spcPct val="100000"/>
              </a:lnSpc>
              <a:buNone/>
              <a:tabLst>
                <a:tab pos="0" algn="l"/>
              </a:tabLst>
            </a:pPr>
            <a:r>
              <a:rPr lang="en-US" sz="3200" b="1" strike="noStrike" spc="-1">
                <a:solidFill>
                  <a:schemeClr val="dk2"/>
                </a:solidFill>
                <a:latin typeface="Cambria"/>
              </a:rPr>
              <a:t>Key pseudocode</a:t>
            </a:r>
            <a:endParaRPr lang="en-US" sz="3200" b="0" strike="noStrike" spc="-1">
              <a:solidFill>
                <a:schemeClr val="dk1"/>
              </a:solidFill>
              <a:latin typeface="Calibri"/>
            </a:endParaRPr>
          </a:p>
        </p:txBody>
      </p:sp>
      <p:sp>
        <p:nvSpPr>
          <p:cNvPr id="190" name="BFS code"/>
          <p:cNvSpPr/>
          <p:nvPr/>
        </p:nvSpPr>
        <p:spPr>
          <a:xfrm>
            <a:off x="457200" y="1143000"/>
            <a:ext cx="3931560" cy="2742840"/>
          </a:xfrm>
          <a:prstGeom prst="roundRect">
            <a:avLst>
              <a:gd name="adj" fmla="val 2667"/>
            </a:avLst>
          </a:prstGeom>
          <a:solidFill>
            <a:schemeClr val="tx2"/>
          </a:solidFill>
          <a:ln w="12700">
            <a:solidFill>
              <a:srgbClr val="0B1F2A"/>
            </a:solidFill>
            <a:round/>
          </a:ln>
          <a:effectLst>
            <a:outerShdw blurRad="1015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91" name="A* code"/>
          <p:cNvSpPr/>
          <p:nvPr/>
        </p:nvSpPr>
        <p:spPr>
          <a:xfrm>
            <a:off x="4754880" y="1143000"/>
            <a:ext cx="3931560" cy="2742840"/>
          </a:xfrm>
          <a:prstGeom prst="roundRect">
            <a:avLst>
              <a:gd name="adj" fmla="val 2667"/>
            </a:avLst>
          </a:prstGeom>
          <a:solidFill>
            <a:schemeClr val="tx2"/>
          </a:solidFill>
          <a:ln w="12700">
            <a:solidFill>
              <a:srgbClr val="0B1F2A"/>
            </a:solidFill>
            <a:round/>
          </a:ln>
          <a:effectLst>
            <a:outerShdw blurRad="1015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92" name="Text 3"/>
          <p:cNvSpPr/>
          <p:nvPr/>
        </p:nvSpPr>
        <p:spPr>
          <a:xfrm>
            <a:off x="640080" y="1261800"/>
            <a:ext cx="35658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strike="noStrike" spc="-1">
                <a:solidFill>
                  <a:schemeClr val="accent2"/>
                </a:solidFill>
                <a:latin typeface="Calibri"/>
              </a:rPr>
              <a:t>BFS</a:t>
            </a:r>
            <a:endParaRPr lang="en-US" sz="1400" b="0" strike="noStrike" spc="-1">
              <a:solidFill>
                <a:srgbClr val="000000"/>
              </a:solidFill>
              <a:latin typeface="Arial"/>
            </a:endParaRPr>
          </a:p>
        </p:txBody>
      </p:sp>
      <p:sp>
        <p:nvSpPr>
          <p:cNvPr id="193" name="Text 4"/>
          <p:cNvSpPr/>
          <p:nvPr/>
        </p:nvSpPr>
        <p:spPr>
          <a:xfrm>
            <a:off x="640080" y="1600200"/>
            <a:ext cx="3565800" cy="219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spcAft>
                <a:spcPts val="201"/>
              </a:spcAft>
              <a:tabLst>
                <a:tab pos="0" algn="l"/>
              </a:tabLst>
            </a:pPr>
            <a:r>
              <a:rPr lang="en-US" sz="1200" b="0" strike="noStrike" spc="-1">
                <a:solidFill>
                  <a:schemeClr val="lt1"/>
                </a:solidFill>
                <a:latin typeface="Courier New"/>
                <a:ea typeface="Courier New"/>
              </a:rPr>
              <a:t>Q ← queue {source}; mark source</a:t>
            </a:r>
            <a:endParaRPr lang="en-US" sz="1200" b="0" strike="noStrike" spc="-1">
              <a:solidFill>
                <a:srgbClr val="000000"/>
              </a:solidFill>
              <a:latin typeface="Arial"/>
            </a:endParaRPr>
          </a:p>
          <a:p>
            <a:pPr defTabSz="914400">
              <a:lnSpc>
                <a:spcPct val="100000"/>
              </a:lnSpc>
              <a:spcAft>
                <a:spcPts val="201"/>
              </a:spcAft>
              <a:tabLst>
                <a:tab pos="0" algn="l"/>
              </a:tabLst>
            </a:pPr>
            <a:r>
              <a:rPr lang="en-US" sz="1200" b="0" strike="noStrike" spc="-1">
                <a:solidFill>
                  <a:schemeClr val="lt1"/>
                </a:solidFill>
                <a:latin typeface="Courier New"/>
                <a:ea typeface="Courier New"/>
              </a:rPr>
              <a:t>while Q not empty:</a:t>
            </a:r>
            <a:endParaRPr lang="en-US" sz="1200" b="0" strike="noStrike" spc="-1">
              <a:solidFill>
                <a:srgbClr val="000000"/>
              </a:solidFill>
              <a:latin typeface="Arial"/>
            </a:endParaRPr>
          </a:p>
          <a:p>
            <a:pPr defTabSz="914400">
              <a:lnSpc>
                <a:spcPct val="100000"/>
              </a:lnSpc>
              <a:spcAft>
                <a:spcPts val="201"/>
              </a:spcAft>
              <a:tabLst>
                <a:tab pos="0" algn="l"/>
              </a:tabLst>
            </a:pPr>
            <a:r>
              <a:rPr lang="en-US" sz="1200" b="0" strike="noStrike" spc="-1">
                <a:solidFill>
                  <a:schemeClr val="lt1"/>
                </a:solidFill>
                <a:latin typeface="Courier New"/>
                <a:ea typeface="Courier New"/>
              </a:rPr>
              <a:t>  u ← dequeue</a:t>
            </a:r>
            <a:endParaRPr lang="en-US" sz="1200" b="0" strike="noStrike" spc="-1">
              <a:solidFill>
                <a:srgbClr val="000000"/>
              </a:solidFill>
              <a:latin typeface="Arial"/>
            </a:endParaRPr>
          </a:p>
          <a:p>
            <a:pPr defTabSz="914400">
              <a:lnSpc>
                <a:spcPct val="100000"/>
              </a:lnSpc>
              <a:spcAft>
                <a:spcPts val="201"/>
              </a:spcAft>
              <a:tabLst>
                <a:tab pos="0" algn="l"/>
              </a:tabLst>
            </a:pPr>
            <a:r>
              <a:rPr lang="en-US" sz="1200" b="0" strike="noStrike" spc="-1">
                <a:solidFill>
                  <a:schemeClr val="lt1"/>
                </a:solidFill>
                <a:latin typeface="Courier New"/>
                <a:ea typeface="Courier New"/>
              </a:rPr>
              <a:t>  if u = goal: return path</a:t>
            </a:r>
            <a:endParaRPr lang="en-US" sz="1200" b="0" strike="noStrike" spc="-1">
              <a:solidFill>
                <a:srgbClr val="000000"/>
              </a:solidFill>
              <a:latin typeface="Arial"/>
            </a:endParaRPr>
          </a:p>
          <a:p>
            <a:pPr defTabSz="914400">
              <a:lnSpc>
                <a:spcPct val="100000"/>
              </a:lnSpc>
              <a:spcAft>
                <a:spcPts val="201"/>
              </a:spcAft>
              <a:tabLst>
                <a:tab pos="0" algn="l"/>
              </a:tabLst>
            </a:pPr>
            <a:r>
              <a:rPr lang="en-US" sz="1200" b="0" strike="noStrike" spc="-1">
                <a:solidFill>
                  <a:schemeClr val="lt1"/>
                </a:solidFill>
                <a:latin typeface="Courier New"/>
                <a:ea typeface="Courier New"/>
              </a:rPr>
              <a:t>  for each unvisited neighbour v:</a:t>
            </a:r>
            <a:endParaRPr lang="en-US" sz="1200" b="0" strike="noStrike" spc="-1">
              <a:solidFill>
                <a:srgbClr val="000000"/>
              </a:solidFill>
              <a:latin typeface="Arial"/>
            </a:endParaRPr>
          </a:p>
          <a:p>
            <a:pPr defTabSz="914400">
              <a:lnSpc>
                <a:spcPct val="100000"/>
              </a:lnSpc>
              <a:spcAft>
                <a:spcPts val="201"/>
              </a:spcAft>
              <a:tabLst>
                <a:tab pos="0" algn="l"/>
              </a:tabLst>
            </a:pPr>
            <a:r>
              <a:rPr lang="en-US" sz="1200" b="0" strike="noStrike" spc="-1">
                <a:solidFill>
                  <a:schemeClr val="lt1"/>
                </a:solidFill>
                <a:latin typeface="Courier New"/>
                <a:ea typeface="Courier New"/>
              </a:rPr>
              <a:t>    mark v; parent[v] ← u</a:t>
            </a:r>
            <a:endParaRPr lang="en-US" sz="1200" b="0" strike="noStrike" spc="-1">
              <a:solidFill>
                <a:srgbClr val="000000"/>
              </a:solidFill>
              <a:latin typeface="Arial"/>
            </a:endParaRPr>
          </a:p>
          <a:p>
            <a:pPr defTabSz="914400">
              <a:lnSpc>
                <a:spcPct val="100000"/>
              </a:lnSpc>
              <a:spcAft>
                <a:spcPts val="201"/>
              </a:spcAft>
              <a:tabLst>
                <a:tab pos="0" algn="l"/>
              </a:tabLst>
            </a:pPr>
            <a:r>
              <a:rPr lang="en-US" sz="1200" b="0" strike="noStrike" spc="-1">
                <a:solidFill>
                  <a:schemeClr val="lt1"/>
                </a:solidFill>
                <a:latin typeface="Courier New"/>
                <a:ea typeface="Courier New"/>
              </a:rPr>
              <a:t>    enqueue v</a:t>
            </a:r>
            <a:endParaRPr lang="en-US" sz="1200" b="0" strike="noStrike" spc="-1">
              <a:solidFill>
                <a:srgbClr val="000000"/>
              </a:solidFill>
              <a:latin typeface="Arial"/>
            </a:endParaRPr>
          </a:p>
        </p:txBody>
      </p:sp>
      <p:sp>
        <p:nvSpPr>
          <p:cNvPr id="194" name="Text 5"/>
          <p:cNvSpPr/>
          <p:nvPr/>
        </p:nvSpPr>
        <p:spPr>
          <a:xfrm>
            <a:off x="4937760" y="1261800"/>
            <a:ext cx="35658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strike="noStrike" spc="-1">
                <a:solidFill>
                  <a:schemeClr val="accent2"/>
                </a:solidFill>
                <a:latin typeface="Calibri"/>
              </a:rPr>
              <a:t>A* (Dijkstra when h = 0)</a:t>
            </a:r>
            <a:endParaRPr lang="en-US" sz="1400" b="0" strike="noStrike" spc="-1">
              <a:solidFill>
                <a:srgbClr val="000000"/>
              </a:solidFill>
              <a:latin typeface="Arial"/>
            </a:endParaRPr>
          </a:p>
        </p:txBody>
      </p:sp>
      <p:sp>
        <p:nvSpPr>
          <p:cNvPr id="195" name="Text 6"/>
          <p:cNvSpPr/>
          <p:nvPr/>
        </p:nvSpPr>
        <p:spPr>
          <a:xfrm>
            <a:off x="4937760" y="1600200"/>
            <a:ext cx="3565800" cy="219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spcAft>
                <a:spcPts val="201"/>
              </a:spcAft>
              <a:tabLst>
                <a:tab pos="0" algn="l"/>
              </a:tabLst>
            </a:pPr>
            <a:r>
              <a:rPr lang="en-US" sz="1200" b="0" strike="noStrike" spc="-1">
                <a:solidFill>
                  <a:schemeClr val="lt1"/>
                </a:solidFill>
                <a:latin typeface="Courier New"/>
                <a:ea typeface="Courier New"/>
              </a:rPr>
              <a:t>open ← min-heap {source}; g[source] ← 0</a:t>
            </a:r>
            <a:endParaRPr lang="en-US" sz="1200" b="0" strike="noStrike" spc="-1">
              <a:solidFill>
                <a:srgbClr val="000000"/>
              </a:solidFill>
              <a:latin typeface="Arial"/>
            </a:endParaRPr>
          </a:p>
          <a:p>
            <a:pPr defTabSz="914400">
              <a:lnSpc>
                <a:spcPct val="100000"/>
              </a:lnSpc>
              <a:spcAft>
                <a:spcPts val="201"/>
              </a:spcAft>
              <a:tabLst>
                <a:tab pos="0" algn="l"/>
              </a:tabLst>
            </a:pPr>
            <a:r>
              <a:rPr lang="en-US" sz="1200" b="0" strike="noStrike" spc="-1">
                <a:solidFill>
                  <a:schemeClr val="lt1"/>
                </a:solidFill>
                <a:latin typeface="Courier New"/>
                <a:ea typeface="Courier New"/>
              </a:rPr>
              <a:t>while open not empty:</a:t>
            </a:r>
            <a:endParaRPr lang="en-US" sz="1200" b="0" strike="noStrike" spc="-1">
              <a:solidFill>
                <a:srgbClr val="000000"/>
              </a:solidFill>
              <a:latin typeface="Arial"/>
            </a:endParaRPr>
          </a:p>
          <a:p>
            <a:pPr defTabSz="914400">
              <a:lnSpc>
                <a:spcPct val="100000"/>
              </a:lnSpc>
              <a:spcAft>
                <a:spcPts val="201"/>
              </a:spcAft>
              <a:tabLst>
                <a:tab pos="0" algn="l"/>
              </a:tabLst>
            </a:pPr>
            <a:r>
              <a:rPr lang="en-US" sz="1200" b="0" strike="noStrike" spc="-1">
                <a:solidFill>
                  <a:schemeClr val="lt1"/>
                </a:solidFill>
                <a:latin typeface="Courier New"/>
                <a:ea typeface="Courier New"/>
              </a:rPr>
              <a:t>  u ← pop least f</a:t>
            </a:r>
            <a:endParaRPr lang="en-US" sz="1200" b="0" strike="noStrike" spc="-1">
              <a:solidFill>
                <a:srgbClr val="000000"/>
              </a:solidFill>
              <a:latin typeface="Arial"/>
            </a:endParaRPr>
          </a:p>
          <a:p>
            <a:pPr defTabSz="914400">
              <a:lnSpc>
                <a:spcPct val="100000"/>
              </a:lnSpc>
              <a:spcAft>
                <a:spcPts val="201"/>
              </a:spcAft>
              <a:tabLst>
                <a:tab pos="0" algn="l"/>
              </a:tabLst>
            </a:pPr>
            <a:r>
              <a:rPr lang="en-US" sz="1200" b="0" strike="noStrike" spc="-1">
                <a:solidFill>
                  <a:schemeClr val="lt1"/>
                </a:solidFill>
                <a:latin typeface="Courier New"/>
                <a:ea typeface="Courier New"/>
              </a:rPr>
              <a:t>  if u = goal: return path</a:t>
            </a:r>
            <a:endParaRPr lang="en-US" sz="1200" b="0" strike="noStrike" spc="-1">
              <a:solidFill>
                <a:srgbClr val="000000"/>
              </a:solidFill>
              <a:latin typeface="Arial"/>
            </a:endParaRPr>
          </a:p>
          <a:p>
            <a:pPr defTabSz="914400">
              <a:lnSpc>
                <a:spcPct val="100000"/>
              </a:lnSpc>
              <a:spcAft>
                <a:spcPts val="201"/>
              </a:spcAft>
              <a:tabLst>
                <a:tab pos="0" algn="l"/>
              </a:tabLst>
            </a:pPr>
            <a:r>
              <a:rPr lang="en-US" sz="1200" b="0" strike="noStrike" spc="-1">
                <a:solidFill>
                  <a:schemeClr val="lt1"/>
                </a:solidFill>
                <a:latin typeface="Courier New"/>
                <a:ea typeface="Courier New"/>
              </a:rPr>
              <a:t>  for each neighbour v of u:</a:t>
            </a:r>
            <a:endParaRPr lang="en-US" sz="1200" b="0" strike="noStrike" spc="-1">
              <a:solidFill>
                <a:srgbClr val="000000"/>
              </a:solidFill>
              <a:latin typeface="Arial"/>
            </a:endParaRPr>
          </a:p>
          <a:p>
            <a:pPr defTabSz="914400">
              <a:lnSpc>
                <a:spcPct val="100000"/>
              </a:lnSpc>
              <a:spcAft>
                <a:spcPts val="201"/>
              </a:spcAft>
              <a:tabLst>
                <a:tab pos="0" algn="l"/>
              </a:tabLst>
            </a:pPr>
            <a:r>
              <a:rPr lang="en-US" sz="1200" b="0" strike="noStrike" spc="-1">
                <a:solidFill>
                  <a:schemeClr val="lt1"/>
                </a:solidFill>
                <a:latin typeface="Courier New"/>
                <a:ea typeface="Courier New"/>
              </a:rPr>
              <a:t>    if g[u] + cost &lt; g[v]:</a:t>
            </a:r>
            <a:endParaRPr lang="en-US" sz="1200" b="0" strike="noStrike" spc="-1">
              <a:solidFill>
                <a:srgbClr val="000000"/>
              </a:solidFill>
              <a:latin typeface="Arial"/>
            </a:endParaRPr>
          </a:p>
          <a:p>
            <a:pPr defTabSz="914400">
              <a:lnSpc>
                <a:spcPct val="100000"/>
              </a:lnSpc>
              <a:spcAft>
                <a:spcPts val="201"/>
              </a:spcAft>
              <a:tabLst>
                <a:tab pos="0" algn="l"/>
              </a:tabLst>
            </a:pPr>
            <a:r>
              <a:rPr lang="en-US" sz="1200" b="0" strike="noStrike" spc="-1">
                <a:solidFill>
                  <a:schemeClr val="lt1"/>
                </a:solidFill>
                <a:latin typeface="Courier New"/>
                <a:ea typeface="Courier New"/>
              </a:rPr>
              <a:t>      g[v] ← g[u] + cost; parent[v] ← u</a:t>
            </a:r>
            <a:endParaRPr lang="en-US" sz="1200" b="0" strike="noStrike" spc="-1">
              <a:solidFill>
                <a:srgbClr val="000000"/>
              </a:solidFill>
              <a:latin typeface="Arial"/>
            </a:endParaRPr>
          </a:p>
          <a:p>
            <a:pPr defTabSz="914400">
              <a:lnSpc>
                <a:spcPct val="100000"/>
              </a:lnSpc>
              <a:spcAft>
                <a:spcPts val="201"/>
              </a:spcAft>
              <a:tabLst>
                <a:tab pos="0" algn="l"/>
              </a:tabLst>
            </a:pPr>
            <a:r>
              <a:rPr lang="en-US" sz="1200" b="0" strike="noStrike" spc="-1">
                <a:solidFill>
                  <a:schemeClr val="lt1"/>
                </a:solidFill>
                <a:latin typeface="Courier New"/>
                <a:ea typeface="Courier New"/>
              </a:rPr>
              <a:t>      push v with f = g[v] + h(v)</a:t>
            </a:r>
            <a:endParaRPr lang="en-US" sz="1200" b="0" strike="noStrike" spc="-1">
              <a:solidFill>
                <a:srgbClr val="000000"/>
              </a:solidFill>
              <a:latin typeface="Arial"/>
            </a:endParaRPr>
          </a:p>
        </p:txBody>
      </p:sp>
      <p:sp>
        <p:nvSpPr>
          <p:cNvPr id="196" name="Chip BFS"/>
          <p:cNvSpPr/>
          <p:nvPr/>
        </p:nvSpPr>
        <p:spPr>
          <a:xfrm>
            <a:off x="457200" y="4069080"/>
            <a:ext cx="2651400" cy="548280"/>
          </a:xfrm>
          <a:prstGeom prst="roundRect">
            <a:avLst>
              <a:gd name="adj" fmla="val 16667"/>
            </a:avLst>
          </a:prstGeom>
          <a:solidFill>
            <a:schemeClr val="bg2"/>
          </a:solidFill>
          <a:ln w="12700">
            <a:solidFill>
              <a:srgbClr val="F3F6F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97" name="Text 8"/>
          <p:cNvSpPr/>
          <p:nvPr/>
        </p:nvSpPr>
        <p:spPr>
          <a:xfrm>
            <a:off x="548640" y="4069080"/>
            <a:ext cx="246852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chemeClr val="dk2"/>
                </a:solidFill>
                <a:latin typeface="Calibri"/>
              </a:rPr>
              <a:t>BFS: </a:t>
            </a:r>
            <a:r>
              <a:rPr lang="en-US" sz="1200" b="0" strike="noStrike" spc="-1">
                <a:solidFill>
                  <a:schemeClr val="dk1"/>
                </a:solidFill>
                <a:latin typeface="Calibri"/>
              </a:rPr>
              <a:t>O(V + E) time, O(V) space</a:t>
            </a:r>
            <a:endParaRPr lang="en-US" sz="1200" b="0" strike="noStrike" spc="-1">
              <a:solidFill>
                <a:srgbClr val="000000"/>
              </a:solidFill>
              <a:latin typeface="Arial"/>
            </a:endParaRPr>
          </a:p>
        </p:txBody>
      </p:sp>
      <p:sp>
        <p:nvSpPr>
          <p:cNvPr id="198" name="Chip DFS"/>
          <p:cNvSpPr/>
          <p:nvPr/>
        </p:nvSpPr>
        <p:spPr>
          <a:xfrm>
            <a:off x="3291840" y="4069080"/>
            <a:ext cx="2651400" cy="548280"/>
          </a:xfrm>
          <a:prstGeom prst="roundRect">
            <a:avLst>
              <a:gd name="adj" fmla="val 16667"/>
            </a:avLst>
          </a:prstGeom>
          <a:solidFill>
            <a:schemeClr val="bg2"/>
          </a:solidFill>
          <a:ln w="12700">
            <a:solidFill>
              <a:srgbClr val="F3F6F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99" name="Text 10"/>
          <p:cNvSpPr/>
          <p:nvPr/>
        </p:nvSpPr>
        <p:spPr>
          <a:xfrm>
            <a:off x="3383280" y="4069080"/>
            <a:ext cx="246852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chemeClr val="dk2"/>
                </a:solidFill>
                <a:latin typeface="Calibri"/>
              </a:rPr>
              <a:t>DFS: </a:t>
            </a:r>
            <a:r>
              <a:rPr lang="en-US" sz="1200" b="0" strike="noStrike" spc="-1">
                <a:solidFill>
                  <a:schemeClr val="dk1"/>
                </a:solidFill>
                <a:latin typeface="Calibri"/>
              </a:rPr>
              <a:t>same loop with a stack</a:t>
            </a:r>
            <a:endParaRPr lang="en-US" sz="1200" b="0" strike="noStrike" spc="-1">
              <a:solidFill>
                <a:srgbClr val="000000"/>
              </a:solidFill>
              <a:latin typeface="Arial"/>
            </a:endParaRPr>
          </a:p>
        </p:txBody>
      </p:sp>
      <p:sp>
        <p:nvSpPr>
          <p:cNvPr id="200" name="Chip Dijkstra / A*"/>
          <p:cNvSpPr/>
          <p:nvPr/>
        </p:nvSpPr>
        <p:spPr>
          <a:xfrm>
            <a:off x="6126480" y="4069080"/>
            <a:ext cx="2651400" cy="548280"/>
          </a:xfrm>
          <a:prstGeom prst="roundRect">
            <a:avLst>
              <a:gd name="adj" fmla="val 16667"/>
            </a:avLst>
          </a:prstGeom>
          <a:solidFill>
            <a:schemeClr val="bg2"/>
          </a:solidFill>
          <a:ln w="12700">
            <a:solidFill>
              <a:srgbClr val="F3F6F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01" name="Text 12"/>
          <p:cNvSpPr/>
          <p:nvPr/>
        </p:nvSpPr>
        <p:spPr>
          <a:xfrm>
            <a:off x="6217920" y="4069080"/>
            <a:ext cx="246852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chemeClr val="dk2"/>
                </a:solidFill>
                <a:latin typeface="Calibri"/>
              </a:rPr>
              <a:t>Dijkstra / A*: </a:t>
            </a:r>
            <a:r>
              <a:rPr lang="en-US" sz="1200" b="0" strike="noStrike" spc="-1">
                <a:solidFill>
                  <a:schemeClr val="dk1"/>
                </a:solidFill>
                <a:latin typeface="Calibri"/>
              </a:rPr>
              <a:t>O((V + E) log V), O(V) space</a:t>
            </a:r>
            <a:endParaRPr lang="en-US" sz="1200" b="0" strike="noStrike" spc="-1">
              <a:solidFill>
                <a:srgbClr val="000000"/>
              </a:solidFill>
              <a:latin typeface="Arial"/>
            </a:endParaRPr>
          </a:p>
        </p:txBody>
      </p:sp>
      <p:sp>
        <p:nvSpPr>
          <p:cNvPr id="202" name="PlaceHolder 2"/>
          <p:cNvSpPr>
            <a:spLocks noGrp="1"/>
          </p:cNvSpPr>
          <p:nvPr>
            <p:ph type="sldNum" idx="12"/>
          </p:nvPr>
        </p:nvSpPr>
        <p:spPr>
          <a:xfrm>
            <a:off x="8321040" y="4754880"/>
            <a:ext cx="456840" cy="273960"/>
          </a:xfrm>
          <a:prstGeom prst="rect">
            <a:avLst/>
          </a:prstGeom>
          <a:noFill/>
          <a:ln w="0">
            <a:noFill/>
          </a:ln>
        </p:spPr>
        <p:txBody>
          <a:bodyPr lIns="90000" tIns="45000" rIns="90000" bIns="45000" anchor="t">
            <a:noAutofit/>
          </a:bodyPr>
          <a:lstStyle>
            <a:lvl1pPr indent="0" defTabSz="914400">
              <a:lnSpc>
                <a:spcPct val="100000"/>
              </a:lnSpc>
              <a:buNone/>
              <a:defRPr lang="en-US" sz="1000" b="0" strike="noStrike" spc="-1">
                <a:solidFill>
                  <a:schemeClr val="accent6"/>
                </a:solidFill>
                <a:latin typeface="Calibri"/>
              </a:defRPr>
            </a:lvl1pPr>
          </a:lstStyle>
          <a:p>
            <a:pPr indent="0" defTabSz="914400">
              <a:lnSpc>
                <a:spcPct val="100000"/>
              </a:lnSpc>
              <a:buNone/>
            </a:pPr>
            <a:fld id="{17E49618-7877-4847-81FE-13920DAF80DB}" type="slidenum">
              <a:rPr lang="en-US" sz="1000" b="0" strike="noStrike" spc="-1">
                <a:solidFill>
                  <a:schemeClr val="accent6"/>
                </a:solidFill>
                <a:latin typeface="Calibri"/>
              </a:rPr>
              <a:t>8</a:t>
            </a:fld>
            <a:endParaRPr lang="en-US" sz="1000" b="0" strike="noStrike" spc="-1">
              <a:solidFill>
                <a:srgbClr val="000000"/>
              </a:solidFill>
              <a:latin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PlaceHolder 1"/>
          <p:cNvSpPr>
            <a:spLocks noGrp="1"/>
          </p:cNvSpPr>
          <p:nvPr>
            <p:ph type="title"/>
          </p:nvPr>
        </p:nvSpPr>
        <p:spPr>
          <a:xfrm>
            <a:off x="457200" y="274320"/>
            <a:ext cx="8229240" cy="685440"/>
          </a:xfrm>
          <a:prstGeom prst="rect">
            <a:avLst/>
          </a:prstGeom>
          <a:noFill/>
          <a:ln w="0">
            <a:noFill/>
          </a:ln>
        </p:spPr>
        <p:txBody>
          <a:bodyPr lIns="90000" tIns="45000" rIns="90000" bIns="45000" anchor="ctr">
            <a:noAutofit/>
          </a:bodyPr>
          <a:lstStyle/>
          <a:p>
            <a:pPr indent="0" algn="ctr" defTabSz="914400">
              <a:lnSpc>
                <a:spcPct val="100000"/>
              </a:lnSpc>
              <a:buNone/>
              <a:tabLst>
                <a:tab pos="0" algn="l"/>
              </a:tabLst>
            </a:pPr>
            <a:r>
              <a:rPr lang="en-US" sz="3200" b="1" strike="noStrike" spc="-1">
                <a:solidFill>
                  <a:schemeClr val="dk2"/>
                </a:solidFill>
                <a:latin typeface="Cambria"/>
              </a:rPr>
              <a:t>System architecture</a:t>
            </a:r>
            <a:endParaRPr lang="en-US" sz="3200" b="0" strike="noStrike" spc="-1">
              <a:solidFill>
                <a:schemeClr val="dk1"/>
              </a:solidFill>
              <a:latin typeface="Calibri"/>
            </a:endParaRPr>
          </a:p>
        </p:txBody>
      </p:sp>
      <p:sp>
        <p:nvSpPr>
          <p:cNvPr id="204" name="Arch User"/>
          <p:cNvSpPr/>
          <p:nvPr/>
        </p:nvSpPr>
        <p:spPr>
          <a:xfrm>
            <a:off x="457200" y="1371600"/>
            <a:ext cx="1462680" cy="2102760"/>
          </a:xfrm>
          <a:prstGeom prst="roundRect">
            <a:avLst>
              <a:gd name="adj" fmla="val 5000"/>
            </a:avLst>
          </a:prstGeom>
          <a:solidFill>
            <a:schemeClr val="bg1"/>
          </a:solidFill>
          <a:ln w="12700">
            <a:solidFill>
              <a:srgbClr val="FFFFFF"/>
            </a:solidFill>
            <a:round/>
          </a:ln>
          <a:effectLst>
            <a:outerShdw blurRad="1015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05" name="User badge"/>
          <p:cNvSpPr/>
          <p:nvPr/>
        </p:nvSpPr>
        <p:spPr>
          <a:xfrm>
            <a:off x="914400" y="1508760"/>
            <a:ext cx="548280" cy="548280"/>
          </a:xfrm>
          <a:prstGeom prst="ellipse">
            <a:avLst/>
          </a:prstGeom>
          <a:solidFill>
            <a:schemeClr val="accent6"/>
          </a:solidFill>
          <a:ln w="12700">
            <a:solidFill>
              <a:srgbClr val="6B7B8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206" name="Image 0" descr="User"/>
          <p:cNvPicPr/>
          <p:nvPr/>
        </p:nvPicPr>
        <p:blipFill>
          <a:blip r:embed="rId3"/>
          <a:stretch/>
        </p:blipFill>
        <p:spPr>
          <a:xfrm>
            <a:off x="1046160" y="1640520"/>
            <a:ext cx="284760" cy="284760"/>
          </a:xfrm>
          <a:prstGeom prst="rect">
            <a:avLst/>
          </a:prstGeom>
          <a:ln w="0">
            <a:noFill/>
          </a:ln>
        </p:spPr>
      </p:pic>
      <p:sp>
        <p:nvSpPr>
          <p:cNvPr id="207" name="Text 3"/>
          <p:cNvSpPr/>
          <p:nvPr/>
        </p:nvSpPr>
        <p:spPr>
          <a:xfrm>
            <a:off x="548640" y="2194560"/>
            <a:ext cx="12798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1" strike="noStrike" spc="-1">
                <a:solidFill>
                  <a:schemeClr val="dk2"/>
                </a:solidFill>
                <a:latin typeface="Calibri"/>
              </a:rPr>
              <a:t>User</a:t>
            </a:r>
            <a:endParaRPr lang="en-US" sz="1400" b="0" strike="noStrike" spc="-1">
              <a:solidFill>
                <a:srgbClr val="000000"/>
              </a:solidFill>
              <a:latin typeface="Arial"/>
            </a:endParaRPr>
          </a:p>
        </p:txBody>
      </p:sp>
      <p:sp>
        <p:nvSpPr>
          <p:cNvPr id="208" name="Text 4"/>
          <p:cNvSpPr/>
          <p:nvPr/>
        </p:nvSpPr>
        <p:spPr>
          <a:xfrm>
            <a:off x="548640" y="2697480"/>
            <a:ext cx="127980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200" b="0" strike="noStrike" spc="-1">
                <a:solidFill>
                  <a:schemeClr val="dk1"/>
                </a:solidFill>
                <a:latin typeface="Calibri"/>
              </a:rPr>
              <a:t>Draws maze, picks source, destination and algorithm</a:t>
            </a:r>
            <a:endParaRPr lang="en-US" sz="1200" b="0" strike="noStrike" spc="-1">
              <a:solidFill>
                <a:srgbClr val="000000"/>
              </a:solidFill>
              <a:latin typeface="Arial"/>
            </a:endParaRPr>
          </a:p>
        </p:txBody>
      </p:sp>
      <p:sp>
        <p:nvSpPr>
          <p:cNvPr id="209" name="Arch arrow 0"/>
          <p:cNvSpPr/>
          <p:nvPr/>
        </p:nvSpPr>
        <p:spPr>
          <a:xfrm>
            <a:off x="1920240" y="2286000"/>
            <a:ext cx="228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strike="noStrike" spc="-1">
                <a:solidFill>
                  <a:schemeClr val="accent6"/>
                </a:solidFill>
                <a:latin typeface="Calibri"/>
              </a:rPr>
              <a:t>›</a:t>
            </a:r>
            <a:endParaRPr lang="en-US" sz="2200" b="0" strike="noStrike" spc="-1">
              <a:solidFill>
                <a:srgbClr val="000000"/>
              </a:solidFill>
              <a:latin typeface="Arial"/>
            </a:endParaRPr>
          </a:p>
        </p:txBody>
      </p:sp>
      <p:sp>
        <p:nvSpPr>
          <p:cNvPr id="210" name="Arch Interface"/>
          <p:cNvSpPr/>
          <p:nvPr/>
        </p:nvSpPr>
        <p:spPr>
          <a:xfrm>
            <a:off x="2148840" y="1371600"/>
            <a:ext cx="1462680" cy="2102760"/>
          </a:xfrm>
          <a:prstGeom prst="roundRect">
            <a:avLst>
              <a:gd name="adj" fmla="val 5000"/>
            </a:avLst>
          </a:prstGeom>
          <a:solidFill>
            <a:schemeClr val="bg1"/>
          </a:solidFill>
          <a:ln w="12700">
            <a:solidFill>
              <a:srgbClr val="FFFFFF"/>
            </a:solidFill>
            <a:round/>
          </a:ln>
          <a:effectLst>
            <a:outerShdw blurRad="1015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11" name="Interface badge"/>
          <p:cNvSpPr/>
          <p:nvPr/>
        </p:nvSpPr>
        <p:spPr>
          <a:xfrm>
            <a:off x="2606040" y="1508760"/>
            <a:ext cx="548280" cy="548280"/>
          </a:xfrm>
          <a:prstGeom prst="ellipse">
            <a:avLst/>
          </a:prstGeom>
          <a:solidFill>
            <a:schemeClr val="accent3"/>
          </a:solidFill>
          <a:ln w="12700">
            <a:solidFill>
              <a:srgbClr val="2E86A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212" name="Image 1" descr="Interface"/>
          <p:cNvPicPr/>
          <p:nvPr/>
        </p:nvPicPr>
        <p:blipFill>
          <a:blip r:embed="rId4"/>
          <a:stretch/>
        </p:blipFill>
        <p:spPr>
          <a:xfrm>
            <a:off x="2737800" y="1640520"/>
            <a:ext cx="284760" cy="284760"/>
          </a:xfrm>
          <a:prstGeom prst="rect">
            <a:avLst/>
          </a:prstGeom>
          <a:ln w="0">
            <a:noFill/>
          </a:ln>
        </p:spPr>
      </p:pic>
      <p:sp>
        <p:nvSpPr>
          <p:cNvPr id="213" name="Text 8"/>
          <p:cNvSpPr/>
          <p:nvPr/>
        </p:nvSpPr>
        <p:spPr>
          <a:xfrm>
            <a:off x="2240280" y="2194560"/>
            <a:ext cx="12798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1" strike="noStrike" spc="-1">
                <a:solidFill>
                  <a:schemeClr val="dk2"/>
                </a:solidFill>
                <a:latin typeface="Calibri"/>
              </a:rPr>
              <a:t>Interface</a:t>
            </a:r>
            <a:endParaRPr lang="en-US" sz="1400" b="0" strike="noStrike" spc="-1">
              <a:solidFill>
                <a:srgbClr val="000000"/>
              </a:solidFill>
              <a:latin typeface="Arial"/>
            </a:endParaRPr>
          </a:p>
        </p:txBody>
      </p:sp>
      <p:sp>
        <p:nvSpPr>
          <p:cNvPr id="214" name="Text 9"/>
          <p:cNvSpPr/>
          <p:nvPr/>
        </p:nvSpPr>
        <p:spPr>
          <a:xfrm>
            <a:off x="2240280" y="2697480"/>
            <a:ext cx="127980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200" b="0" strike="noStrike" spc="-1">
                <a:solidFill>
                  <a:schemeClr val="dk1"/>
                </a:solidFill>
                <a:latin typeface="Calibri"/>
              </a:rPr>
              <a:t>React + Tailwind UI, animated grid</a:t>
            </a:r>
            <a:endParaRPr lang="en-US" sz="1200" b="0" strike="noStrike" spc="-1">
              <a:solidFill>
                <a:srgbClr val="000000"/>
              </a:solidFill>
              <a:latin typeface="Arial"/>
            </a:endParaRPr>
          </a:p>
        </p:txBody>
      </p:sp>
      <p:sp>
        <p:nvSpPr>
          <p:cNvPr id="215" name="Arch arrow 1"/>
          <p:cNvSpPr/>
          <p:nvPr/>
        </p:nvSpPr>
        <p:spPr>
          <a:xfrm>
            <a:off x="3611880" y="2286000"/>
            <a:ext cx="228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strike="noStrike" spc="-1">
                <a:solidFill>
                  <a:schemeClr val="accent6"/>
                </a:solidFill>
                <a:latin typeface="Calibri"/>
              </a:rPr>
              <a:t>›</a:t>
            </a:r>
            <a:endParaRPr lang="en-US" sz="2200" b="0" strike="noStrike" spc="-1">
              <a:solidFill>
                <a:srgbClr val="000000"/>
              </a:solidFill>
              <a:latin typeface="Arial"/>
            </a:endParaRPr>
          </a:p>
        </p:txBody>
      </p:sp>
      <p:sp>
        <p:nvSpPr>
          <p:cNvPr id="216" name="Arch Maze model"/>
          <p:cNvSpPr/>
          <p:nvPr/>
        </p:nvSpPr>
        <p:spPr>
          <a:xfrm>
            <a:off x="3840480" y="1371600"/>
            <a:ext cx="1462680" cy="2102760"/>
          </a:xfrm>
          <a:prstGeom prst="roundRect">
            <a:avLst>
              <a:gd name="adj" fmla="val 5000"/>
            </a:avLst>
          </a:prstGeom>
          <a:solidFill>
            <a:schemeClr val="bg1"/>
          </a:solidFill>
          <a:ln w="12700">
            <a:solidFill>
              <a:srgbClr val="FFFFFF"/>
            </a:solidFill>
            <a:round/>
          </a:ln>
          <a:effectLst>
            <a:outerShdw blurRad="1015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17" name="Maze model badge"/>
          <p:cNvSpPr/>
          <p:nvPr/>
        </p:nvSpPr>
        <p:spPr>
          <a:xfrm>
            <a:off x="4297680" y="1508760"/>
            <a:ext cx="548280" cy="548280"/>
          </a:xfrm>
          <a:prstGeom prst="ellipse">
            <a:avLst/>
          </a:prstGeom>
          <a:solidFill>
            <a:schemeClr val="accent1"/>
          </a:solidFill>
          <a:ln w="12700">
            <a:solidFill>
              <a:srgbClr val="0E7C8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218" name="Image 2" descr="Maze model"/>
          <p:cNvPicPr/>
          <p:nvPr/>
        </p:nvPicPr>
        <p:blipFill>
          <a:blip r:embed="rId5"/>
          <a:stretch/>
        </p:blipFill>
        <p:spPr>
          <a:xfrm>
            <a:off x="4429440" y="1640520"/>
            <a:ext cx="284760" cy="284760"/>
          </a:xfrm>
          <a:prstGeom prst="rect">
            <a:avLst/>
          </a:prstGeom>
          <a:ln w="0">
            <a:noFill/>
          </a:ln>
        </p:spPr>
      </p:pic>
      <p:sp>
        <p:nvSpPr>
          <p:cNvPr id="219" name="Text 13"/>
          <p:cNvSpPr/>
          <p:nvPr/>
        </p:nvSpPr>
        <p:spPr>
          <a:xfrm>
            <a:off x="3931920" y="2194560"/>
            <a:ext cx="12798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1" strike="noStrike" spc="-1">
                <a:solidFill>
                  <a:schemeClr val="dk2"/>
                </a:solidFill>
                <a:latin typeface="Calibri"/>
              </a:rPr>
              <a:t>Maze model</a:t>
            </a:r>
            <a:endParaRPr lang="en-US" sz="1400" b="0" strike="noStrike" spc="-1">
              <a:solidFill>
                <a:srgbClr val="000000"/>
              </a:solidFill>
              <a:latin typeface="Arial"/>
            </a:endParaRPr>
          </a:p>
        </p:txBody>
      </p:sp>
      <p:sp>
        <p:nvSpPr>
          <p:cNvPr id="220" name="Text 14"/>
          <p:cNvSpPr/>
          <p:nvPr/>
        </p:nvSpPr>
        <p:spPr>
          <a:xfrm>
            <a:off x="3931920" y="2697480"/>
            <a:ext cx="127980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200" b="0" strike="noStrike" spc="-1">
                <a:solidFill>
                  <a:schemeClr val="dk1"/>
                </a:solidFill>
                <a:latin typeface="Calibri"/>
              </a:rPr>
              <a:t>Grid, walls, weights, endpoints</a:t>
            </a:r>
            <a:endParaRPr lang="en-US" sz="1200" b="0" strike="noStrike" spc="-1">
              <a:solidFill>
                <a:srgbClr val="000000"/>
              </a:solidFill>
              <a:latin typeface="Arial"/>
            </a:endParaRPr>
          </a:p>
        </p:txBody>
      </p:sp>
      <p:sp>
        <p:nvSpPr>
          <p:cNvPr id="221" name="Arch arrow 2"/>
          <p:cNvSpPr/>
          <p:nvPr/>
        </p:nvSpPr>
        <p:spPr>
          <a:xfrm>
            <a:off x="5303520" y="2286000"/>
            <a:ext cx="228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strike="noStrike" spc="-1">
                <a:solidFill>
                  <a:schemeClr val="accent6"/>
                </a:solidFill>
                <a:latin typeface="Calibri"/>
              </a:rPr>
              <a:t>›</a:t>
            </a:r>
            <a:endParaRPr lang="en-US" sz="2200" b="0" strike="noStrike" spc="-1">
              <a:solidFill>
                <a:srgbClr val="000000"/>
              </a:solidFill>
              <a:latin typeface="Arial"/>
            </a:endParaRPr>
          </a:p>
        </p:txBody>
      </p:sp>
      <p:sp>
        <p:nvSpPr>
          <p:cNvPr id="222" name="Arch Algorithm engine"/>
          <p:cNvSpPr/>
          <p:nvPr/>
        </p:nvSpPr>
        <p:spPr>
          <a:xfrm>
            <a:off x="5532120" y="1371600"/>
            <a:ext cx="1462680" cy="2102760"/>
          </a:xfrm>
          <a:prstGeom prst="roundRect">
            <a:avLst>
              <a:gd name="adj" fmla="val 5000"/>
            </a:avLst>
          </a:prstGeom>
          <a:solidFill>
            <a:schemeClr val="bg1"/>
          </a:solidFill>
          <a:ln w="12700">
            <a:solidFill>
              <a:srgbClr val="FFFFFF"/>
            </a:solidFill>
            <a:round/>
          </a:ln>
          <a:effectLst>
            <a:outerShdw blurRad="1015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23" name="Algorithm engine badge"/>
          <p:cNvSpPr/>
          <p:nvPr/>
        </p:nvSpPr>
        <p:spPr>
          <a:xfrm>
            <a:off x="5989320" y="1508760"/>
            <a:ext cx="548280" cy="548280"/>
          </a:xfrm>
          <a:prstGeom prst="ellipse">
            <a:avLst/>
          </a:prstGeom>
          <a:solidFill>
            <a:schemeClr val="accent4"/>
          </a:solidFill>
          <a:ln w="12700">
            <a:solidFill>
              <a:srgbClr val="C8553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224" name="Image 3" descr="Algorithm engine"/>
          <p:cNvPicPr/>
          <p:nvPr/>
        </p:nvPicPr>
        <p:blipFill>
          <a:blip r:embed="rId6"/>
          <a:stretch/>
        </p:blipFill>
        <p:spPr>
          <a:xfrm>
            <a:off x="6121080" y="1640520"/>
            <a:ext cx="284760" cy="284760"/>
          </a:xfrm>
          <a:prstGeom prst="rect">
            <a:avLst/>
          </a:prstGeom>
          <a:ln w="0">
            <a:noFill/>
          </a:ln>
        </p:spPr>
      </p:pic>
      <p:sp>
        <p:nvSpPr>
          <p:cNvPr id="225" name="Text 18"/>
          <p:cNvSpPr/>
          <p:nvPr/>
        </p:nvSpPr>
        <p:spPr>
          <a:xfrm>
            <a:off x="5623560" y="2194560"/>
            <a:ext cx="12798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1" strike="noStrike" spc="-1">
                <a:solidFill>
                  <a:schemeClr val="dk2"/>
                </a:solidFill>
                <a:latin typeface="Calibri"/>
              </a:rPr>
              <a:t>Algorithm engine</a:t>
            </a:r>
            <a:endParaRPr lang="en-US" sz="1400" b="0" strike="noStrike" spc="-1">
              <a:solidFill>
                <a:srgbClr val="000000"/>
              </a:solidFill>
              <a:latin typeface="Arial"/>
            </a:endParaRPr>
          </a:p>
        </p:txBody>
      </p:sp>
      <p:sp>
        <p:nvSpPr>
          <p:cNvPr id="226" name="Text 19"/>
          <p:cNvSpPr/>
          <p:nvPr/>
        </p:nvSpPr>
        <p:spPr>
          <a:xfrm>
            <a:off x="5623560" y="2697480"/>
            <a:ext cx="127980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200" b="0" strike="noStrike" spc="-1">
                <a:solidFill>
                  <a:schemeClr val="dk1"/>
                </a:solidFill>
                <a:latin typeface="Calibri"/>
              </a:rPr>
              <a:t>BFS · DFS · Dijkstra · A*</a:t>
            </a:r>
            <a:endParaRPr lang="en-US" sz="1200" b="0" strike="noStrike" spc="-1">
              <a:solidFill>
                <a:srgbClr val="000000"/>
              </a:solidFill>
              <a:latin typeface="Arial"/>
            </a:endParaRPr>
          </a:p>
        </p:txBody>
      </p:sp>
      <p:sp>
        <p:nvSpPr>
          <p:cNvPr id="227" name="Arch arrow 3"/>
          <p:cNvSpPr/>
          <p:nvPr/>
        </p:nvSpPr>
        <p:spPr>
          <a:xfrm>
            <a:off x="6995160" y="2286000"/>
            <a:ext cx="228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strike="noStrike" spc="-1">
                <a:solidFill>
                  <a:schemeClr val="accent6"/>
                </a:solidFill>
                <a:latin typeface="Calibri"/>
              </a:rPr>
              <a:t>›</a:t>
            </a:r>
            <a:endParaRPr lang="en-US" sz="2200" b="0" strike="noStrike" spc="-1">
              <a:solidFill>
                <a:srgbClr val="000000"/>
              </a:solidFill>
              <a:latin typeface="Arial"/>
            </a:endParaRPr>
          </a:p>
        </p:txBody>
      </p:sp>
      <p:sp>
        <p:nvSpPr>
          <p:cNvPr id="228" name="Arch Metrics + output"/>
          <p:cNvSpPr/>
          <p:nvPr/>
        </p:nvSpPr>
        <p:spPr>
          <a:xfrm>
            <a:off x="7223760" y="1371600"/>
            <a:ext cx="1462680" cy="2102760"/>
          </a:xfrm>
          <a:prstGeom prst="roundRect">
            <a:avLst>
              <a:gd name="adj" fmla="val 5000"/>
            </a:avLst>
          </a:prstGeom>
          <a:solidFill>
            <a:schemeClr val="bg1"/>
          </a:solidFill>
          <a:ln w="12700">
            <a:solidFill>
              <a:srgbClr val="FFFFFF"/>
            </a:solidFill>
            <a:round/>
          </a:ln>
          <a:effectLst>
            <a:outerShdw blurRad="1015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29" name="Metrics + output badge"/>
          <p:cNvSpPr/>
          <p:nvPr/>
        </p:nvSpPr>
        <p:spPr>
          <a:xfrm>
            <a:off x="7680960" y="1508760"/>
            <a:ext cx="548280" cy="548280"/>
          </a:xfrm>
          <a:prstGeom prst="ellipse">
            <a:avLst/>
          </a:prstGeom>
          <a:solidFill>
            <a:schemeClr val="accent5"/>
          </a:solidFill>
          <a:ln w="12700">
            <a:solidFill>
              <a:srgbClr val="5C9A3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230" name="Image 4" descr="Metrics + output"/>
          <p:cNvPicPr/>
          <p:nvPr/>
        </p:nvPicPr>
        <p:blipFill>
          <a:blip r:embed="rId7"/>
          <a:stretch/>
        </p:blipFill>
        <p:spPr>
          <a:xfrm>
            <a:off x="7812720" y="1640520"/>
            <a:ext cx="284760" cy="284760"/>
          </a:xfrm>
          <a:prstGeom prst="rect">
            <a:avLst/>
          </a:prstGeom>
          <a:ln w="0">
            <a:noFill/>
          </a:ln>
        </p:spPr>
      </p:pic>
      <p:sp>
        <p:nvSpPr>
          <p:cNvPr id="231" name="Text 23"/>
          <p:cNvSpPr/>
          <p:nvPr/>
        </p:nvSpPr>
        <p:spPr>
          <a:xfrm>
            <a:off x="7315200" y="2194560"/>
            <a:ext cx="12798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1" strike="noStrike" spc="-1">
                <a:solidFill>
                  <a:schemeClr val="dk2"/>
                </a:solidFill>
                <a:latin typeface="Calibri"/>
              </a:rPr>
              <a:t>Metrics + output</a:t>
            </a:r>
            <a:endParaRPr lang="en-US" sz="1400" b="0" strike="noStrike" spc="-1">
              <a:solidFill>
                <a:srgbClr val="000000"/>
              </a:solidFill>
              <a:latin typeface="Arial"/>
            </a:endParaRPr>
          </a:p>
        </p:txBody>
      </p:sp>
      <p:sp>
        <p:nvSpPr>
          <p:cNvPr id="232" name="Text 24"/>
          <p:cNvSpPr/>
          <p:nvPr/>
        </p:nvSpPr>
        <p:spPr>
          <a:xfrm>
            <a:off x="7315200" y="2697480"/>
            <a:ext cx="127980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200" b="0" strike="noStrike" spc="-1">
                <a:solidFill>
                  <a:schemeClr val="dk1"/>
                </a:solidFill>
                <a:latin typeface="Calibri"/>
              </a:rPr>
              <a:t>Path, length, time, nodes explored</a:t>
            </a:r>
            <a:endParaRPr lang="en-US" sz="1200" b="0" strike="noStrike" spc="-1">
              <a:solidFill>
                <a:srgbClr val="000000"/>
              </a:solidFill>
              <a:latin typeface="Arial"/>
            </a:endParaRPr>
          </a:p>
        </p:txBody>
      </p:sp>
      <p:sp>
        <p:nvSpPr>
          <p:cNvPr id="233" name="Text 25"/>
          <p:cNvSpPr/>
          <p:nvPr/>
        </p:nvSpPr>
        <p:spPr>
          <a:xfrm>
            <a:off x="457200" y="3840480"/>
            <a:ext cx="82292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strike="noStrike" spc="-1">
                <a:solidFill>
                  <a:schemeClr val="dk1"/>
                </a:solidFill>
                <a:latin typeface="Calibri"/>
              </a:rPr>
              <a:t>Results flow back to the interface: the path is highlighted, explored cells are shaded, and the metrics are shown for comparison.</a:t>
            </a:r>
            <a:endParaRPr lang="en-US" sz="1400" b="0" strike="noStrike" spc="-1">
              <a:solidFill>
                <a:srgbClr val="000000"/>
              </a:solidFill>
              <a:latin typeface="Arial"/>
            </a:endParaRPr>
          </a:p>
        </p:txBody>
      </p:sp>
      <p:sp>
        <p:nvSpPr>
          <p:cNvPr id="234" name="PlaceHolder 2"/>
          <p:cNvSpPr>
            <a:spLocks noGrp="1"/>
          </p:cNvSpPr>
          <p:nvPr>
            <p:ph type="sldNum" idx="13"/>
          </p:nvPr>
        </p:nvSpPr>
        <p:spPr>
          <a:xfrm>
            <a:off x="8321040" y="4754880"/>
            <a:ext cx="456840" cy="273960"/>
          </a:xfrm>
          <a:prstGeom prst="rect">
            <a:avLst/>
          </a:prstGeom>
          <a:noFill/>
          <a:ln w="0">
            <a:noFill/>
          </a:ln>
        </p:spPr>
        <p:txBody>
          <a:bodyPr lIns="90000" tIns="45000" rIns="90000" bIns="45000" anchor="t">
            <a:noAutofit/>
          </a:bodyPr>
          <a:lstStyle>
            <a:lvl1pPr indent="0" defTabSz="914400">
              <a:lnSpc>
                <a:spcPct val="100000"/>
              </a:lnSpc>
              <a:buNone/>
              <a:defRPr lang="en-US" sz="1000" b="0" strike="noStrike" spc="-1">
                <a:solidFill>
                  <a:schemeClr val="accent6"/>
                </a:solidFill>
                <a:latin typeface="Calibri"/>
              </a:defRPr>
            </a:lvl1pPr>
          </a:lstStyle>
          <a:p>
            <a:pPr indent="0" defTabSz="914400">
              <a:lnSpc>
                <a:spcPct val="100000"/>
              </a:lnSpc>
              <a:buNone/>
            </a:pPr>
            <a:fld id="{3A9F5608-5C43-466C-938D-20E26F646F7F}" type="slidenum">
              <a:rPr lang="en-US" sz="1000" b="0" strike="noStrike" spc="-1">
                <a:solidFill>
                  <a:schemeClr val="accent6"/>
                </a:solidFill>
                <a:latin typeface="Calibri"/>
              </a:rPr>
              <a:t>9</a:t>
            </a:fld>
            <a:endParaRPr lang="en-US" sz="1000" b="0" strike="noStrike" spc="-1">
              <a:solidFill>
                <a:srgbClr val="000000"/>
              </a:solidFill>
              <a:latin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PlaceHolder 1"/>
          <p:cNvSpPr>
            <a:spLocks noGrp="1"/>
          </p:cNvSpPr>
          <p:nvPr>
            <p:ph type="title"/>
          </p:nvPr>
        </p:nvSpPr>
        <p:spPr>
          <a:xfrm>
            <a:off x="457200" y="274320"/>
            <a:ext cx="8229240" cy="685440"/>
          </a:xfrm>
          <a:prstGeom prst="rect">
            <a:avLst/>
          </a:prstGeom>
          <a:noFill/>
          <a:ln w="0">
            <a:noFill/>
          </a:ln>
        </p:spPr>
        <p:txBody>
          <a:bodyPr lIns="90000" tIns="45000" rIns="90000" bIns="45000" anchor="ctr">
            <a:noAutofit/>
          </a:bodyPr>
          <a:lstStyle/>
          <a:p>
            <a:pPr indent="0" algn="ctr" defTabSz="914400">
              <a:lnSpc>
                <a:spcPct val="100000"/>
              </a:lnSpc>
              <a:buNone/>
              <a:tabLst>
                <a:tab pos="0" algn="l"/>
              </a:tabLst>
            </a:pPr>
            <a:r>
              <a:rPr lang="en-US" sz="3200" b="1" strike="noStrike" spc="-1">
                <a:solidFill>
                  <a:schemeClr val="dk2"/>
                </a:solidFill>
                <a:latin typeface="Cambria"/>
              </a:rPr>
              <a:t>Implementation</a:t>
            </a:r>
            <a:endParaRPr lang="en-US" sz="3200" b="0" strike="noStrike" spc="-1">
              <a:solidFill>
                <a:schemeClr val="dk1"/>
              </a:solidFill>
              <a:latin typeface="Calibri"/>
            </a:endParaRPr>
          </a:p>
        </p:txBody>
      </p:sp>
      <p:sp>
        <p:nvSpPr>
          <p:cNvPr id="236" name="Text 1"/>
          <p:cNvSpPr/>
          <p:nvPr/>
        </p:nvSpPr>
        <p:spPr>
          <a:xfrm>
            <a:off x="457200" y="1097280"/>
            <a:ext cx="3657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600" b="1" strike="noStrike" spc="-1">
                <a:solidFill>
                  <a:schemeClr val="dk2"/>
                </a:solidFill>
                <a:latin typeface="Calibri"/>
              </a:rPr>
              <a:t>Tools</a:t>
            </a:r>
            <a:endParaRPr lang="en-US" sz="1600" b="0" strike="noStrike" spc="-1">
              <a:solidFill>
                <a:srgbClr val="000000"/>
              </a:solidFill>
              <a:latin typeface="Arial"/>
            </a:endParaRPr>
          </a:p>
        </p:txBody>
      </p:sp>
      <p:sp>
        <p:nvSpPr>
          <p:cNvPr id="237" name="Tool TypeScript"/>
          <p:cNvSpPr/>
          <p:nvPr/>
        </p:nvSpPr>
        <p:spPr>
          <a:xfrm>
            <a:off x="457200" y="1463040"/>
            <a:ext cx="1279800" cy="365400"/>
          </a:xfrm>
          <a:prstGeom prst="roundRect">
            <a:avLst>
              <a:gd name="adj" fmla="val 25000"/>
            </a:avLst>
          </a:prstGeom>
          <a:solidFill>
            <a:schemeClr val="accent1"/>
          </a:solidFill>
          <a:ln w="12700">
            <a:solidFill>
              <a:srgbClr val="0E7C8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38" name="Text 3"/>
          <p:cNvSpPr/>
          <p:nvPr/>
        </p:nvSpPr>
        <p:spPr>
          <a:xfrm>
            <a:off x="457200" y="1463040"/>
            <a:ext cx="12798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chemeClr val="lt1"/>
                </a:solidFill>
                <a:latin typeface="Calibri"/>
              </a:rPr>
              <a:t>TypeScript</a:t>
            </a:r>
            <a:endParaRPr lang="en-US" sz="1200" b="0" strike="noStrike" spc="-1">
              <a:solidFill>
                <a:srgbClr val="000000"/>
              </a:solidFill>
              <a:latin typeface="Arial"/>
            </a:endParaRPr>
          </a:p>
        </p:txBody>
      </p:sp>
      <p:sp>
        <p:nvSpPr>
          <p:cNvPr id="239" name="Tool React 19"/>
          <p:cNvSpPr/>
          <p:nvPr/>
        </p:nvSpPr>
        <p:spPr>
          <a:xfrm>
            <a:off x="1828800" y="1463040"/>
            <a:ext cx="1279800" cy="365400"/>
          </a:xfrm>
          <a:prstGeom prst="roundRect">
            <a:avLst>
              <a:gd name="adj" fmla="val 25000"/>
            </a:avLst>
          </a:prstGeom>
          <a:solidFill>
            <a:schemeClr val="accent1"/>
          </a:solidFill>
          <a:ln w="12700">
            <a:solidFill>
              <a:srgbClr val="0E7C8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40" name="Text 5"/>
          <p:cNvSpPr/>
          <p:nvPr/>
        </p:nvSpPr>
        <p:spPr>
          <a:xfrm>
            <a:off x="1828800" y="1463040"/>
            <a:ext cx="12798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chemeClr val="lt1"/>
                </a:solidFill>
                <a:latin typeface="Calibri"/>
              </a:rPr>
              <a:t>React 19</a:t>
            </a:r>
            <a:endParaRPr lang="en-US" sz="1200" b="0" strike="noStrike" spc="-1">
              <a:solidFill>
                <a:srgbClr val="000000"/>
              </a:solidFill>
              <a:latin typeface="Arial"/>
            </a:endParaRPr>
          </a:p>
        </p:txBody>
      </p:sp>
      <p:sp>
        <p:nvSpPr>
          <p:cNvPr id="241" name="Tool Vite"/>
          <p:cNvSpPr/>
          <p:nvPr/>
        </p:nvSpPr>
        <p:spPr>
          <a:xfrm>
            <a:off x="3200400" y="1463040"/>
            <a:ext cx="1279800" cy="365400"/>
          </a:xfrm>
          <a:prstGeom prst="roundRect">
            <a:avLst>
              <a:gd name="adj" fmla="val 25000"/>
            </a:avLst>
          </a:prstGeom>
          <a:solidFill>
            <a:schemeClr val="accent1"/>
          </a:solidFill>
          <a:ln w="12700">
            <a:solidFill>
              <a:srgbClr val="0E7C8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42" name="Text 7"/>
          <p:cNvSpPr/>
          <p:nvPr/>
        </p:nvSpPr>
        <p:spPr>
          <a:xfrm>
            <a:off x="3200400" y="1463040"/>
            <a:ext cx="12798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chemeClr val="lt1"/>
                </a:solidFill>
                <a:latin typeface="Calibri"/>
              </a:rPr>
              <a:t>Vite</a:t>
            </a:r>
            <a:endParaRPr lang="en-US" sz="1200" b="0" strike="noStrike" spc="-1">
              <a:solidFill>
                <a:srgbClr val="000000"/>
              </a:solidFill>
              <a:latin typeface="Arial"/>
            </a:endParaRPr>
          </a:p>
        </p:txBody>
      </p:sp>
      <p:sp>
        <p:nvSpPr>
          <p:cNvPr id="243" name="Tool Tailwind CSS 4"/>
          <p:cNvSpPr/>
          <p:nvPr/>
        </p:nvSpPr>
        <p:spPr>
          <a:xfrm>
            <a:off x="457200" y="1920240"/>
            <a:ext cx="1279800" cy="365400"/>
          </a:xfrm>
          <a:prstGeom prst="roundRect">
            <a:avLst>
              <a:gd name="adj" fmla="val 25000"/>
            </a:avLst>
          </a:prstGeom>
          <a:solidFill>
            <a:schemeClr val="accent1"/>
          </a:solidFill>
          <a:ln w="12700">
            <a:solidFill>
              <a:srgbClr val="0E7C8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44" name="Text 9"/>
          <p:cNvSpPr/>
          <p:nvPr/>
        </p:nvSpPr>
        <p:spPr>
          <a:xfrm>
            <a:off x="457200" y="1920240"/>
            <a:ext cx="12798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chemeClr val="lt1"/>
                </a:solidFill>
                <a:latin typeface="Calibri"/>
              </a:rPr>
              <a:t>Tailwind CSS 4</a:t>
            </a:r>
            <a:endParaRPr lang="en-US" sz="1200" b="0" strike="noStrike" spc="-1">
              <a:solidFill>
                <a:srgbClr val="000000"/>
              </a:solidFill>
              <a:latin typeface="Arial"/>
            </a:endParaRPr>
          </a:p>
        </p:txBody>
      </p:sp>
      <p:sp>
        <p:nvSpPr>
          <p:cNvPr id="245" name="Tool motion"/>
          <p:cNvSpPr/>
          <p:nvPr/>
        </p:nvSpPr>
        <p:spPr>
          <a:xfrm>
            <a:off x="1828800" y="1920240"/>
            <a:ext cx="1279800" cy="365400"/>
          </a:xfrm>
          <a:prstGeom prst="roundRect">
            <a:avLst>
              <a:gd name="adj" fmla="val 25000"/>
            </a:avLst>
          </a:prstGeom>
          <a:solidFill>
            <a:schemeClr val="accent1"/>
          </a:solidFill>
          <a:ln w="12700">
            <a:solidFill>
              <a:srgbClr val="0E7C8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46" name="Text 11"/>
          <p:cNvSpPr/>
          <p:nvPr/>
        </p:nvSpPr>
        <p:spPr>
          <a:xfrm>
            <a:off x="1828800" y="1920240"/>
            <a:ext cx="12798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chemeClr val="lt1"/>
                </a:solidFill>
                <a:latin typeface="Calibri"/>
              </a:rPr>
              <a:t>motion</a:t>
            </a:r>
            <a:endParaRPr lang="en-US" sz="1200" b="0" strike="noStrike" spc="-1">
              <a:solidFill>
                <a:srgbClr val="000000"/>
              </a:solidFill>
              <a:latin typeface="Arial"/>
            </a:endParaRPr>
          </a:p>
        </p:txBody>
      </p:sp>
      <p:sp>
        <p:nvSpPr>
          <p:cNvPr id="247" name="Tool lucide-react"/>
          <p:cNvSpPr/>
          <p:nvPr/>
        </p:nvSpPr>
        <p:spPr>
          <a:xfrm>
            <a:off x="3200400" y="1920240"/>
            <a:ext cx="1279800" cy="365400"/>
          </a:xfrm>
          <a:prstGeom prst="roundRect">
            <a:avLst>
              <a:gd name="adj" fmla="val 25000"/>
            </a:avLst>
          </a:prstGeom>
          <a:solidFill>
            <a:schemeClr val="accent1"/>
          </a:solidFill>
          <a:ln w="12700">
            <a:solidFill>
              <a:srgbClr val="0E7C8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48" name="Text 13"/>
          <p:cNvSpPr/>
          <p:nvPr/>
        </p:nvSpPr>
        <p:spPr>
          <a:xfrm>
            <a:off x="3200400" y="1920240"/>
            <a:ext cx="12798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chemeClr val="lt1"/>
                </a:solidFill>
                <a:latin typeface="Calibri"/>
              </a:rPr>
              <a:t>lucide-react</a:t>
            </a:r>
            <a:endParaRPr lang="en-US" sz="1200" b="0" strike="noStrike" spc="-1">
              <a:solidFill>
                <a:srgbClr val="000000"/>
              </a:solidFill>
              <a:latin typeface="Arial"/>
            </a:endParaRPr>
          </a:p>
        </p:txBody>
      </p:sp>
      <p:sp>
        <p:nvSpPr>
          <p:cNvPr id="249" name="Text 14"/>
          <p:cNvSpPr/>
          <p:nvPr/>
        </p:nvSpPr>
        <p:spPr>
          <a:xfrm>
            <a:off x="457200" y="2560320"/>
            <a:ext cx="3657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600" b="1" strike="noStrike" spc="-1">
                <a:solidFill>
                  <a:schemeClr val="dk2"/>
                </a:solidFill>
                <a:latin typeface="Calibri"/>
              </a:rPr>
              <a:t>Important modules</a:t>
            </a:r>
            <a:endParaRPr lang="en-US" sz="1600" b="0" strike="noStrike" spc="-1">
              <a:solidFill>
                <a:srgbClr val="000000"/>
              </a:solidFill>
              <a:latin typeface="Arial"/>
            </a:endParaRPr>
          </a:p>
        </p:txBody>
      </p:sp>
      <p:sp>
        <p:nvSpPr>
          <p:cNvPr id="250" name="Text 15"/>
          <p:cNvSpPr/>
          <p:nvPr/>
        </p:nvSpPr>
        <p:spPr>
          <a:xfrm>
            <a:off x="457200" y="2880360"/>
            <a:ext cx="3840120" cy="155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00000"/>
              </a:lnSpc>
              <a:spcAft>
                <a:spcPts val="601"/>
              </a:spcAft>
              <a:buClr>
                <a:srgbClr val="1A2B34"/>
              </a:buClr>
              <a:buFont typeface="Symbol" charset="2"/>
              <a:buChar char=""/>
            </a:pPr>
            <a:r>
              <a:rPr lang="en-US" sz="1400" b="0" strike="noStrike" spc="-1">
                <a:solidFill>
                  <a:schemeClr val="dk1"/>
                </a:solidFill>
                <a:latin typeface="Calibri"/>
              </a:rPr>
              <a:t>Maze generator and editor</a:t>
            </a:r>
            <a:endParaRPr lang="en-US" sz="1400" b="0" strike="noStrike" spc="-1">
              <a:solidFill>
                <a:srgbClr val="000000"/>
              </a:solidFill>
              <a:latin typeface="Arial"/>
            </a:endParaRPr>
          </a:p>
          <a:p>
            <a:pPr marL="343080" indent="-343080" defTabSz="914400">
              <a:lnSpc>
                <a:spcPct val="100000"/>
              </a:lnSpc>
              <a:spcAft>
                <a:spcPts val="601"/>
              </a:spcAft>
              <a:buClr>
                <a:srgbClr val="1A2B34"/>
              </a:buClr>
              <a:buFont typeface="Symbol" charset="2"/>
              <a:buChar char=""/>
            </a:pPr>
            <a:r>
              <a:rPr lang="en-US" sz="1400" b="0" strike="noStrike" spc="-1">
                <a:solidFill>
                  <a:schemeClr val="dk1"/>
                </a:solidFill>
                <a:latin typeface="Calibri"/>
              </a:rPr>
              <a:t>Four algorithm implementations</a:t>
            </a:r>
            <a:endParaRPr lang="en-US" sz="1400" b="0" strike="noStrike" spc="-1">
              <a:solidFill>
                <a:srgbClr val="000000"/>
              </a:solidFill>
              <a:latin typeface="Arial"/>
            </a:endParaRPr>
          </a:p>
          <a:p>
            <a:pPr marL="343080" indent="-343080" defTabSz="914400">
              <a:lnSpc>
                <a:spcPct val="100000"/>
              </a:lnSpc>
              <a:spcAft>
                <a:spcPts val="601"/>
              </a:spcAft>
              <a:buClr>
                <a:srgbClr val="1A2B34"/>
              </a:buClr>
              <a:buFont typeface="Symbol" charset="2"/>
              <a:buChar char=""/>
            </a:pPr>
            <a:r>
              <a:rPr lang="en-US" sz="1400" b="0" strike="noStrike" spc="-1">
                <a:solidFill>
                  <a:schemeClr val="dk1"/>
                </a:solidFill>
                <a:latin typeface="Calibri"/>
              </a:rPr>
              <a:t>Metrics timer and counters</a:t>
            </a:r>
            <a:endParaRPr lang="en-US" sz="1400" b="0" strike="noStrike" spc="-1">
              <a:solidFill>
                <a:srgbClr val="000000"/>
              </a:solidFill>
              <a:latin typeface="Arial"/>
            </a:endParaRPr>
          </a:p>
          <a:p>
            <a:pPr marL="343080" indent="-343080" defTabSz="914400">
              <a:lnSpc>
                <a:spcPct val="100000"/>
              </a:lnSpc>
              <a:spcAft>
                <a:spcPts val="601"/>
              </a:spcAft>
              <a:buClr>
                <a:srgbClr val="1A2B34"/>
              </a:buClr>
              <a:buFont typeface="Symbol" charset="2"/>
              <a:buChar char=""/>
            </a:pPr>
            <a:r>
              <a:rPr lang="en-US" sz="1400" b="0" strike="noStrike" spc="-1">
                <a:solidFill>
                  <a:schemeClr val="dk1"/>
                </a:solidFill>
                <a:latin typeface="Calibri"/>
              </a:rPr>
              <a:t>Visualiser and comparison panel</a:t>
            </a:r>
            <a:endParaRPr lang="en-US" sz="1400" b="0" strike="noStrike" spc="-1">
              <a:solidFill>
                <a:srgbClr val="000000"/>
              </a:solidFill>
              <a:latin typeface="Arial"/>
            </a:endParaRPr>
          </a:p>
        </p:txBody>
      </p:sp>
      <p:graphicFrame>
        <p:nvGraphicFramePr>
          <p:cNvPr id="251" name="Data structures table"/>
          <p:cNvGraphicFramePr/>
          <p:nvPr/>
        </p:nvGraphicFramePr>
        <p:xfrm>
          <a:off x="4754880" y="1143000"/>
          <a:ext cx="3931920" cy="3200400"/>
        </p:xfrm>
        <a:graphic>
          <a:graphicData uri="http://schemas.openxmlformats.org/drawingml/2006/table">
            <a:tbl>
              <a:tblPr/>
              <a:tblGrid>
                <a:gridCol w="155448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tblGrid>
              <a:tr h="457200">
                <a:tc>
                  <a:txBody>
                    <a:bodyPr/>
                    <a:lstStyle/>
                    <a:p>
                      <a:pPr algn="ctr" defTabSz="914400">
                        <a:lnSpc>
                          <a:spcPct val="100000"/>
                        </a:lnSpc>
                        <a:tabLst>
                          <a:tab pos="0" algn="l"/>
                        </a:tabLst>
                      </a:pPr>
                      <a:r>
                        <a:rPr lang="en-US" sz="1300" b="1" strike="noStrike" spc="-1">
                          <a:solidFill>
                            <a:srgbClr val="FFFFFF"/>
                          </a:solidFill>
                          <a:latin typeface="Calibri"/>
                        </a:rPr>
                        <a:t>Structure</a:t>
                      </a:r>
                      <a:endParaRPr lang="en-US" sz="1300" b="0" strike="noStrike" spc="-1">
                        <a:solidFill>
                          <a:srgbClr val="FFFFFF"/>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0B1F2A"/>
                    </a:solidFill>
                  </a:tcPr>
                </a:tc>
                <a:tc>
                  <a:txBody>
                    <a:bodyPr/>
                    <a:lstStyle/>
                    <a:p>
                      <a:pPr algn="ctr" defTabSz="914400">
                        <a:lnSpc>
                          <a:spcPct val="100000"/>
                        </a:lnSpc>
                        <a:tabLst>
                          <a:tab pos="0" algn="l"/>
                        </a:tabLst>
                      </a:pPr>
                      <a:r>
                        <a:rPr lang="en-US" sz="1300" b="1" strike="noStrike" spc="-1">
                          <a:solidFill>
                            <a:srgbClr val="FFFFFF"/>
                          </a:solidFill>
                          <a:latin typeface="Calibri"/>
                        </a:rPr>
                        <a:t>Used for</a:t>
                      </a:r>
                      <a:endParaRPr lang="en-US" sz="1300" b="0" strike="noStrike" spc="-1">
                        <a:solidFill>
                          <a:srgbClr val="FFFFFF"/>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0B1F2A"/>
                    </a:solidFill>
                  </a:tcPr>
                </a:tc>
                <a:extLst>
                  <a:ext uri="{0D108BD9-81ED-4DB2-BD59-A6C34878D82A}">
                    <a16:rowId xmlns:a16="http://schemas.microsoft.com/office/drawing/2014/main" val="10000"/>
                  </a:ext>
                </a:extLst>
              </a:tr>
              <a:tr h="457200">
                <a:tc>
                  <a:txBody>
                    <a:bodyPr/>
                    <a:lstStyle/>
                    <a:p>
                      <a:pPr algn="ctr" defTabSz="914400">
                        <a:lnSpc>
                          <a:spcPct val="100000"/>
                        </a:lnSpc>
                        <a:tabLst>
                          <a:tab pos="0" algn="l"/>
                        </a:tabLst>
                      </a:pPr>
                      <a:r>
                        <a:rPr lang="en-US" sz="1300" b="0" strike="noStrike" spc="-1">
                          <a:solidFill>
                            <a:srgbClr val="1A2B34"/>
                          </a:solidFill>
                          <a:latin typeface="Calibri"/>
                        </a:rPr>
                        <a:t>2D grid array</a:t>
                      </a:r>
                      <a:endParaRPr lang="en-US" sz="13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tc>
                  <a:txBody>
                    <a:bodyPr/>
                    <a:lstStyle/>
                    <a:p>
                      <a:pPr algn="ctr" defTabSz="914400">
                        <a:lnSpc>
                          <a:spcPct val="100000"/>
                        </a:lnSpc>
                        <a:tabLst>
                          <a:tab pos="0" algn="l"/>
                        </a:tabLst>
                      </a:pPr>
                      <a:r>
                        <a:rPr lang="en-US" sz="1300" b="0" strike="noStrike" spc="-1">
                          <a:solidFill>
                            <a:srgbClr val="1A2B34"/>
                          </a:solidFill>
                          <a:latin typeface="Calibri"/>
                        </a:rPr>
                        <a:t>Maze cells</a:t>
                      </a:r>
                      <a:endParaRPr lang="en-US" sz="13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extLst>
                  <a:ext uri="{0D108BD9-81ED-4DB2-BD59-A6C34878D82A}">
                    <a16:rowId xmlns:a16="http://schemas.microsoft.com/office/drawing/2014/main" val="10001"/>
                  </a:ext>
                </a:extLst>
              </a:tr>
              <a:tr h="457200">
                <a:tc>
                  <a:txBody>
                    <a:bodyPr/>
                    <a:lstStyle/>
                    <a:p>
                      <a:pPr algn="ctr" defTabSz="914400">
                        <a:lnSpc>
                          <a:spcPct val="100000"/>
                        </a:lnSpc>
                        <a:tabLst>
                          <a:tab pos="0" algn="l"/>
                        </a:tabLst>
                      </a:pPr>
                      <a:r>
                        <a:rPr lang="en-US" sz="1300" b="0" strike="noStrike" spc="-1">
                          <a:solidFill>
                            <a:srgbClr val="1A2B34"/>
                          </a:solidFill>
                          <a:latin typeface="Calibri"/>
                        </a:rPr>
                        <a:t>Queue</a:t>
                      </a:r>
                      <a:endParaRPr lang="en-US" sz="13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tc>
                  <a:txBody>
                    <a:bodyPr/>
                    <a:lstStyle/>
                    <a:p>
                      <a:pPr algn="ctr" defTabSz="914400">
                        <a:lnSpc>
                          <a:spcPct val="100000"/>
                        </a:lnSpc>
                        <a:tabLst>
                          <a:tab pos="0" algn="l"/>
                        </a:tabLst>
                      </a:pPr>
                      <a:r>
                        <a:rPr lang="en-US" sz="1300" b="0" strike="noStrike" spc="-1">
                          <a:solidFill>
                            <a:srgbClr val="1A2B34"/>
                          </a:solidFill>
                          <a:latin typeface="Calibri"/>
                        </a:rPr>
                        <a:t>BFS frontier</a:t>
                      </a:r>
                      <a:endParaRPr lang="en-US" sz="13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extLst>
                  <a:ext uri="{0D108BD9-81ED-4DB2-BD59-A6C34878D82A}">
                    <a16:rowId xmlns:a16="http://schemas.microsoft.com/office/drawing/2014/main" val="10002"/>
                  </a:ext>
                </a:extLst>
              </a:tr>
              <a:tr h="457200">
                <a:tc>
                  <a:txBody>
                    <a:bodyPr/>
                    <a:lstStyle/>
                    <a:p>
                      <a:pPr algn="ctr" defTabSz="914400">
                        <a:lnSpc>
                          <a:spcPct val="100000"/>
                        </a:lnSpc>
                        <a:tabLst>
                          <a:tab pos="0" algn="l"/>
                        </a:tabLst>
                      </a:pPr>
                      <a:r>
                        <a:rPr lang="en-US" sz="1300" b="0" strike="noStrike" spc="-1">
                          <a:solidFill>
                            <a:srgbClr val="1A2B34"/>
                          </a:solidFill>
                          <a:latin typeface="Calibri"/>
                        </a:rPr>
                        <a:t>Stack</a:t>
                      </a:r>
                      <a:endParaRPr lang="en-US" sz="13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tc>
                  <a:txBody>
                    <a:bodyPr/>
                    <a:lstStyle/>
                    <a:p>
                      <a:pPr algn="ctr" defTabSz="914400">
                        <a:lnSpc>
                          <a:spcPct val="100000"/>
                        </a:lnSpc>
                        <a:tabLst>
                          <a:tab pos="0" algn="l"/>
                        </a:tabLst>
                      </a:pPr>
                      <a:r>
                        <a:rPr lang="en-US" sz="1300" b="0" strike="noStrike" spc="-1">
                          <a:solidFill>
                            <a:srgbClr val="1A2B34"/>
                          </a:solidFill>
                          <a:latin typeface="Calibri"/>
                        </a:rPr>
                        <a:t>DFS frontier</a:t>
                      </a:r>
                      <a:endParaRPr lang="en-US" sz="13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extLst>
                  <a:ext uri="{0D108BD9-81ED-4DB2-BD59-A6C34878D82A}">
                    <a16:rowId xmlns:a16="http://schemas.microsoft.com/office/drawing/2014/main" val="10003"/>
                  </a:ext>
                </a:extLst>
              </a:tr>
              <a:tr h="457200">
                <a:tc>
                  <a:txBody>
                    <a:bodyPr/>
                    <a:lstStyle/>
                    <a:p>
                      <a:pPr algn="ctr" defTabSz="914400">
                        <a:lnSpc>
                          <a:spcPct val="100000"/>
                        </a:lnSpc>
                        <a:tabLst>
                          <a:tab pos="0" algn="l"/>
                        </a:tabLst>
                      </a:pPr>
                      <a:r>
                        <a:rPr lang="en-US" sz="1300" b="0" strike="noStrike" spc="-1">
                          <a:solidFill>
                            <a:srgbClr val="1A2B34"/>
                          </a:solidFill>
                          <a:latin typeface="Calibri"/>
                        </a:rPr>
                        <a:t>Min-heap</a:t>
                      </a:r>
                      <a:endParaRPr lang="en-US" sz="13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tc>
                  <a:txBody>
                    <a:bodyPr/>
                    <a:lstStyle/>
                    <a:p>
                      <a:pPr algn="ctr" defTabSz="914400">
                        <a:lnSpc>
                          <a:spcPct val="100000"/>
                        </a:lnSpc>
                        <a:tabLst>
                          <a:tab pos="0" algn="l"/>
                        </a:tabLst>
                      </a:pPr>
                      <a:r>
                        <a:rPr lang="en-US" sz="1300" b="0" strike="noStrike" spc="-1">
                          <a:solidFill>
                            <a:srgbClr val="1A2B34"/>
                          </a:solidFill>
                          <a:latin typeface="Calibri"/>
                        </a:rPr>
                        <a:t>Dijkstra, A* frontier</a:t>
                      </a:r>
                      <a:endParaRPr lang="en-US" sz="13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extLst>
                  <a:ext uri="{0D108BD9-81ED-4DB2-BD59-A6C34878D82A}">
                    <a16:rowId xmlns:a16="http://schemas.microsoft.com/office/drawing/2014/main" val="10004"/>
                  </a:ext>
                </a:extLst>
              </a:tr>
              <a:tr h="457200">
                <a:tc>
                  <a:txBody>
                    <a:bodyPr/>
                    <a:lstStyle/>
                    <a:p>
                      <a:pPr algn="ctr" defTabSz="914400">
                        <a:lnSpc>
                          <a:spcPct val="100000"/>
                        </a:lnSpc>
                        <a:tabLst>
                          <a:tab pos="0" algn="l"/>
                        </a:tabLst>
                      </a:pPr>
                      <a:r>
                        <a:rPr lang="en-US" sz="1300" b="0" strike="noStrike" spc="-1">
                          <a:solidFill>
                            <a:srgbClr val="1A2B34"/>
                          </a:solidFill>
                          <a:latin typeface="Calibri"/>
                        </a:rPr>
                        <a:t>Visited set</a:t>
                      </a:r>
                      <a:endParaRPr lang="en-US" sz="13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tc>
                  <a:txBody>
                    <a:bodyPr/>
                    <a:lstStyle/>
                    <a:p>
                      <a:pPr algn="ctr" defTabSz="914400">
                        <a:lnSpc>
                          <a:spcPct val="100000"/>
                        </a:lnSpc>
                        <a:tabLst>
                          <a:tab pos="0" algn="l"/>
                        </a:tabLst>
                      </a:pPr>
                      <a:r>
                        <a:rPr lang="en-US" sz="1300" b="0" strike="noStrike" spc="-1">
                          <a:solidFill>
                            <a:srgbClr val="1A2B34"/>
                          </a:solidFill>
                          <a:latin typeface="Calibri"/>
                        </a:rPr>
                        <a:t>Avoid revisits</a:t>
                      </a:r>
                      <a:endParaRPr lang="en-US" sz="13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extLst>
                  <a:ext uri="{0D108BD9-81ED-4DB2-BD59-A6C34878D82A}">
                    <a16:rowId xmlns:a16="http://schemas.microsoft.com/office/drawing/2014/main" val="10005"/>
                  </a:ext>
                </a:extLst>
              </a:tr>
              <a:tr h="457200">
                <a:tc>
                  <a:txBody>
                    <a:bodyPr/>
                    <a:lstStyle/>
                    <a:p>
                      <a:pPr algn="ctr" defTabSz="914400">
                        <a:lnSpc>
                          <a:spcPct val="100000"/>
                        </a:lnSpc>
                        <a:tabLst>
                          <a:tab pos="0" algn="l"/>
                        </a:tabLst>
                      </a:pPr>
                      <a:r>
                        <a:rPr lang="en-US" sz="1300" b="0" strike="noStrike" spc="-1">
                          <a:solidFill>
                            <a:srgbClr val="1A2B34"/>
                          </a:solidFill>
                          <a:latin typeface="Calibri"/>
                        </a:rPr>
                        <a:t>Parent map</a:t>
                      </a:r>
                      <a:endParaRPr lang="en-US" sz="13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tc>
                  <a:txBody>
                    <a:bodyPr/>
                    <a:lstStyle/>
                    <a:p>
                      <a:pPr algn="ctr" defTabSz="914400">
                        <a:lnSpc>
                          <a:spcPct val="100000"/>
                        </a:lnSpc>
                        <a:tabLst>
                          <a:tab pos="0" algn="l"/>
                        </a:tabLst>
                      </a:pPr>
                      <a:r>
                        <a:rPr lang="en-US" sz="1300" b="0" strike="noStrike" spc="-1">
                          <a:solidFill>
                            <a:srgbClr val="1A2B34"/>
                          </a:solidFill>
                          <a:latin typeface="Calibri"/>
                        </a:rPr>
                        <a:t>Path rebuild</a:t>
                      </a:r>
                      <a:endParaRPr lang="en-US" sz="13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252" name="PlaceHolder 2"/>
          <p:cNvSpPr>
            <a:spLocks noGrp="1"/>
          </p:cNvSpPr>
          <p:nvPr>
            <p:ph type="sldNum" idx="14"/>
          </p:nvPr>
        </p:nvSpPr>
        <p:spPr>
          <a:xfrm>
            <a:off x="8321040" y="4754880"/>
            <a:ext cx="456840" cy="273960"/>
          </a:xfrm>
          <a:prstGeom prst="rect">
            <a:avLst/>
          </a:prstGeom>
          <a:noFill/>
          <a:ln w="0">
            <a:noFill/>
          </a:ln>
        </p:spPr>
        <p:txBody>
          <a:bodyPr lIns="90000" tIns="45000" rIns="90000" bIns="45000" anchor="t">
            <a:noAutofit/>
          </a:bodyPr>
          <a:lstStyle>
            <a:lvl1pPr indent="0" defTabSz="914400">
              <a:lnSpc>
                <a:spcPct val="100000"/>
              </a:lnSpc>
              <a:buNone/>
              <a:defRPr lang="en-US" sz="1000" b="0" strike="noStrike" spc="-1">
                <a:solidFill>
                  <a:schemeClr val="accent6"/>
                </a:solidFill>
                <a:latin typeface="Calibri"/>
              </a:defRPr>
            </a:lvl1pPr>
          </a:lstStyle>
          <a:p>
            <a:pPr indent="0" defTabSz="914400">
              <a:lnSpc>
                <a:spcPct val="100000"/>
              </a:lnSpc>
              <a:buNone/>
            </a:pPr>
            <a:fld id="{558370A3-1603-466B-945D-983B15D9220E}" type="slidenum">
              <a:rPr lang="en-US" sz="1000" b="0" strike="noStrike" spc="-1">
                <a:solidFill>
                  <a:schemeClr val="accent6"/>
                </a:solidFill>
                <a:latin typeface="Calibri"/>
              </a:rPr>
              <a:t>10</a:t>
            </a:fld>
            <a:endParaRPr lang="en-US" sz="1000" b="0" strike="noStrike" spc="-1">
              <a:solidFill>
                <a:srgbClr val="000000"/>
              </a:solidFill>
              <a:latin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PlaceHolder 1"/>
          <p:cNvSpPr>
            <a:spLocks noGrp="1"/>
          </p:cNvSpPr>
          <p:nvPr>
            <p:ph type="title"/>
          </p:nvPr>
        </p:nvSpPr>
        <p:spPr>
          <a:xfrm>
            <a:off x="457200" y="274320"/>
            <a:ext cx="8229240" cy="685440"/>
          </a:xfrm>
          <a:prstGeom prst="rect">
            <a:avLst/>
          </a:prstGeom>
          <a:noFill/>
          <a:ln w="0">
            <a:noFill/>
          </a:ln>
        </p:spPr>
        <p:txBody>
          <a:bodyPr lIns="90000" tIns="45000" rIns="90000" bIns="45000" anchor="ctr">
            <a:noAutofit/>
          </a:bodyPr>
          <a:lstStyle/>
          <a:p>
            <a:pPr indent="0" algn="ctr" defTabSz="914400">
              <a:lnSpc>
                <a:spcPct val="100000"/>
              </a:lnSpc>
              <a:buNone/>
              <a:tabLst>
                <a:tab pos="0" algn="l"/>
              </a:tabLst>
            </a:pPr>
            <a:r>
              <a:rPr lang="en-US" sz="3200" b="1" strike="noStrike" spc="-1">
                <a:solidFill>
                  <a:schemeClr val="dk2"/>
                </a:solidFill>
                <a:latin typeface="Cambria"/>
              </a:rPr>
              <a:t>Project screenshots</a:t>
            </a:r>
            <a:endParaRPr lang="en-US" sz="3200" b="0" strike="noStrike" spc="-1">
              <a:solidFill>
                <a:schemeClr val="dk1"/>
              </a:solidFill>
              <a:latin typeface="Calibri"/>
            </a:endParaRPr>
          </a:p>
        </p:txBody>
      </p:sp>
      <p:pic>
        <p:nvPicPr>
          <p:cNvPr id="254" name="Image 0" descr="Input screen"/>
          <p:cNvPicPr/>
          <p:nvPr/>
        </p:nvPicPr>
        <p:blipFill>
          <a:blip r:embed="rId3"/>
          <a:stretch/>
        </p:blipFill>
        <p:spPr>
          <a:xfrm>
            <a:off x="457200" y="1051560"/>
            <a:ext cx="2285640" cy="1403280"/>
          </a:xfrm>
          <a:prstGeom prst="rect">
            <a:avLst/>
          </a:prstGeom>
          <a:ln w="0">
            <a:noFill/>
          </a:ln>
        </p:spPr>
      </p:pic>
      <p:sp>
        <p:nvSpPr>
          <p:cNvPr id="255" name="Text 1"/>
          <p:cNvSpPr/>
          <p:nvPr/>
        </p:nvSpPr>
        <p:spPr>
          <a:xfrm>
            <a:off x="2834640" y="1143000"/>
            <a:ext cx="1645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strike="noStrike" spc="-1">
                <a:solidFill>
                  <a:schemeClr val="dk2"/>
                </a:solidFill>
                <a:latin typeface="Calibri"/>
              </a:rPr>
              <a:t>Input</a:t>
            </a:r>
            <a:endParaRPr lang="en-US" sz="1400" b="0" strike="noStrike" spc="-1">
              <a:solidFill>
                <a:srgbClr val="000000"/>
              </a:solidFill>
              <a:latin typeface="Arial"/>
            </a:endParaRPr>
          </a:p>
        </p:txBody>
      </p:sp>
      <p:sp>
        <p:nvSpPr>
          <p:cNvPr id="256" name="Text 2"/>
          <p:cNvSpPr/>
          <p:nvPr/>
        </p:nvSpPr>
        <p:spPr>
          <a:xfrm>
            <a:off x="2834640" y="1463040"/>
            <a:ext cx="164556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strike="noStrike" spc="-1">
                <a:solidFill>
                  <a:schemeClr val="dk1"/>
                </a:solidFill>
                <a:latin typeface="Calibri"/>
              </a:rPr>
              <a:t>Maze with source S and destination G set; A* chosen</a:t>
            </a:r>
            <a:endParaRPr lang="en-US" sz="1200" b="0" strike="noStrike" spc="-1">
              <a:solidFill>
                <a:srgbClr val="000000"/>
              </a:solidFill>
              <a:latin typeface="Arial"/>
            </a:endParaRPr>
          </a:p>
        </p:txBody>
      </p:sp>
      <p:pic>
        <p:nvPicPr>
          <p:cNvPr id="257" name="Image 1" descr="Processing screen"/>
          <p:cNvPicPr/>
          <p:nvPr/>
        </p:nvPicPr>
        <p:blipFill>
          <a:blip r:embed="rId4"/>
          <a:stretch/>
        </p:blipFill>
        <p:spPr>
          <a:xfrm>
            <a:off x="4663440" y="1051560"/>
            <a:ext cx="2285640" cy="1403280"/>
          </a:xfrm>
          <a:prstGeom prst="rect">
            <a:avLst/>
          </a:prstGeom>
          <a:ln w="0">
            <a:noFill/>
          </a:ln>
        </p:spPr>
      </p:pic>
      <p:sp>
        <p:nvSpPr>
          <p:cNvPr id="258" name="Text 3"/>
          <p:cNvSpPr/>
          <p:nvPr/>
        </p:nvSpPr>
        <p:spPr>
          <a:xfrm>
            <a:off x="7040880" y="1143000"/>
            <a:ext cx="1645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strike="noStrike" spc="-1">
                <a:solidFill>
                  <a:schemeClr val="dk2"/>
                </a:solidFill>
                <a:latin typeface="Calibri"/>
              </a:rPr>
              <a:t>Processing</a:t>
            </a:r>
            <a:endParaRPr lang="en-US" sz="1400" b="0" strike="noStrike" spc="-1">
              <a:solidFill>
                <a:srgbClr val="000000"/>
              </a:solidFill>
              <a:latin typeface="Arial"/>
            </a:endParaRPr>
          </a:p>
        </p:txBody>
      </p:sp>
      <p:sp>
        <p:nvSpPr>
          <p:cNvPr id="259" name="Text 4"/>
          <p:cNvSpPr/>
          <p:nvPr/>
        </p:nvSpPr>
        <p:spPr>
          <a:xfrm>
            <a:off x="7040880" y="1463040"/>
            <a:ext cx="164556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strike="noStrike" spc="-1">
                <a:solidFill>
                  <a:schemeClr val="dk1"/>
                </a:solidFill>
                <a:latin typeface="Calibri"/>
              </a:rPr>
              <a:t>A* mid-search: explored cells shaded, count rising</a:t>
            </a:r>
            <a:endParaRPr lang="en-US" sz="1200" b="0" strike="noStrike" spc="-1">
              <a:solidFill>
                <a:srgbClr val="000000"/>
              </a:solidFill>
              <a:latin typeface="Arial"/>
            </a:endParaRPr>
          </a:p>
        </p:txBody>
      </p:sp>
      <p:pic>
        <p:nvPicPr>
          <p:cNvPr id="260" name="Image 2" descr="Output screen"/>
          <p:cNvPicPr/>
          <p:nvPr/>
        </p:nvPicPr>
        <p:blipFill>
          <a:blip r:embed="rId5"/>
          <a:stretch/>
        </p:blipFill>
        <p:spPr>
          <a:xfrm>
            <a:off x="457200" y="2834640"/>
            <a:ext cx="2285640" cy="1403280"/>
          </a:xfrm>
          <a:prstGeom prst="rect">
            <a:avLst/>
          </a:prstGeom>
          <a:ln w="0">
            <a:noFill/>
          </a:ln>
        </p:spPr>
      </p:pic>
      <p:sp>
        <p:nvSpPr>
          <p:cNvPr id="261" name="Text 5"/>
          <p:cNvSpPr/>
          <p:nvPr/>
        </p:nvSpPr>
        <p:spPr>
          <a:xfrm>
            <a:off x="2834640" y="2926080"/>
            <a:ext cx="1645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strike="noStrike" spc="-1">
                <a:solidFill>
                  <a:schemeClr val="dk2"/>
                </a:solidFill>
                <a:latin typeface="Calibri"/>
              </a:rPr>
              <a:t>Output</a:t>
            </a:r>
            <a:endParaRPr lang="en-US" sz="1400" b="0" strike="noStrike" spc="-1">
              <a:solidFill>
                <a:srgbClr val="000000"/>
              </a:solidFill>
              <a:latin typeface="Arial"/>
            </a:endParaRPr>
          </a:p>
        </p:txBody>
      </p:sp>
      <p:sp>
        <p:nvSpPr>
          <p:cNvPr id="262" name="Text 6"/>
          <p:cNvSpPr/>
          <p:nvPr/>
        </p:nvSpPr>
        <p:spPr>
          <a:xfrm>
            <a:off x="2834640" y="3246120"/>
            <a:ext cx="164556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strike="noStrike" spc="-1">
                <a:solidFill>
                  <a:schemeClr val="dk1"/>
                </a:solidFill>
                <a:latin typeface="Calibri"/>
              </a:rPr>
              <a:t>Final path highlighted with path length, nodes, time</a:t>
            </a:r>
            <a:endParaRPr lang="en-US" sz="1200" b="0" strike="noStrike" spc="-1">
              <a:solidFill>
                <a:srgbClr val="000000"/>
              </a:solidFill>
              <a:latin typeface="Arial"/>
            </a:endParaRPr>
          </a:p>
        </p:txBody>
      </p:sp>
      <p:pic>
        <p:nvPicPr>
          <p:cNvPr id="263" name="Image 3" descr="Performance screen"/>
          <p:cNvPicPr/>
          <p:nvPr/>
        </p:nvPicPr>
        <p:blipFill>
          <a:blip r:embed="rId6"/>
          <a:stretch/>
        </p:blipFill>
        <p:spPr>
          <a:xfrm>
            <a:off x="4663440" y="2834640"/>
            <a:ext cx="2285640" cy="1403280"/>
          </a:xfrm>
          <a:prstGeom prst="rect">
            <a:avLst/>
          </a:prstGeom>
          <a:ln w="0">
            <a:noFill/>
          </a:ln>
        </p:spPr>
      </p:pic>
      <p:sp>
        <p:nvSpPr>
          <p:cNvPr id="264" name="Text 7"/>
          <p:cNvSpPr/>
          <p:nvPr/>
        </p:nvSpPr>
        <p:spPr>
          <a:xfrm>
            <a:off x="7040880" y="2926080"/>
            <a:ext cx="1645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strike="noStrike" spc="-1">
                <a:solidFill>
                  <a:schemeClr val="dk2"/>
                </a:solidFill>
                <a:latin typeface="Calibri"/>
              </a:rPr>
              <a:t>Performance</a:t>
            </a:r>
            <a:endParaRPr lang="en-US" sz="1400" b="0" strike="noStrike" spc="-1">
              <a:solidFill>
                <a:srgbClr val="000000"/>
              </a:solidFill>
              <a:latin typeface="Arial"/>
            </a:endParaRPr>
          </a:p>
        </p:txBody>
      </p:sp>
      <p:sp>
        <p:nvSpPr>
          <p:cNvPr id="265" name="Text 8"/>
          <p:cNvSpPr/>
          <p:nvPr/>
        </p:nvSpPr>
        <p:spPr>
          <a:xfrm>
            <a:off x="7040880" y="3246120"/>
            <a:ext cx="164556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strike="noStrike" spc="-1">
                <a:solidFill>
                  <a:schemeClr val="dk1"/>
                </a:solidFill>
                <a:latin typeface="Calibri"/>
              </a:rPr>
              <a:t>All four algorithms compared on three metrics</a:t>
            </a:r>
            <a:endParaRPr lang="en-US" sz="1200" b="0" strike="noStrike" spc="-1">
              <a:solidFill>
                <a:srgbClr val="000000"/>
              </a:solidFill>
              <a:latin typeface="Arial"/>
            </a:endParaRPr>
          </a:p>
        </p:txBody>
      </p:sp>
      <p:sp>
        <p:nvSpPr>
          <p:cNvPr id="266" name="Text 9"/>
          <p:cNvSpPr/>
          <p:nvPr/>
        </p:nvSpPr>
        <p:spPr>
          <a:xfrm>
            <a:off x="457200" y="4572000"/>
            <a:ext cx="80463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i="1" strike="noStrike" spc="-1">
                <a:solidFill>
                  <a:schemeClr val="accent6"/>
                </a:solidFill>
                <a:latin typeface="Calibri"/>
              </a:rPr>
              <a:t>Rendered from the algorithm implementation on a 17×17 demo maze. Replace with screenshots of your running app.</a:t>
            </a:r>
            <a:endParaRPr lang="en-US" sz="1100" b="0" strike="noStrike" spc="-1">
              <a:solidFill>
                <a:srgbClr val="000000"/>
              </a:solidFill>
              <a:latin typeface="Arial"/>
            </a:endParaRPr>
          </a:p>
        </p:txBody>
      </p:sp>
      <p:sp>
        <p:nvSpPr>
          <p:cNvPr id="267" name="PlaceHolder 2"/>
          <p:cNvSpPr>
            <a:spLocks noGrp="1"/>
          </p:cNvSpPr>
          <p:nvPr>
            <p:ph type="sldNum" idx="15"/>
          </p:nvPr>
        </p:nvSpPr>
        <p:spPr>
          <a:xfrm>
            <a:off x="8321040" y="4754880"/>
            <a:ext cx="456840" cy="273960"/>
          </a:xfrm>
          <a:prstGeom prst="rect">
            <a:avLst/>
          </a:prstGeom>
          <a:noFill/>
          <a:ln w="0">
            <a:noFill/>
          </a:ln>
        </p:spPr>
        <p:txBody>
          <a:bodyPr lIns="90000" tIns="45000" rIns="90000" bIns="45000" anchor="t">
            <a:noAutofit/>
          </a:bodyPr>
          <a:lstStyle>
            <a:lvl1pPr indent="0" defTabSz="914400">
              <a:lnSpc>
                <a:spcPct val="100000"/>
              </a:lnSpc>
              <a:buNone/>
              <a:defRPr lang="en-US" sz="1000" b="0" strike="noStrike" spc="-1">
                <a:solidFill>
                  <a:schemeClr val="accent6"/>
                </a:solidFill>
                <a:latin typeface="Calibri"/>
              </a:defRPr>
            </a:lvl1pPr>
          </a:lstStyle>
          <a:p>
            <a:pPr indent="0" defTabSz="914400">
              <a:lnSpc>
                <a:spcPct val="100000"/>
              </a:lnSpc>
              <a:buNone/>
            </a:pPr>
            <a:fld id="{3FC26E86-F66C-42E9-884D-FBB4EB8DFC58}" type="slidenum">
              <a:rPr lang="en-US" sz="1000" b="0" strike="noStrike" spc="-1">
                <a:solidFill>
                  <a:schemeClr val="accent6"/>
                </a:solidFill>
                <a:latin typeface="Calibri"/>
              </a:rPr>
              <a:t>11</a:t>
            </a:fld>
            <a:endParaRPr lang="en-US" sz="1000" b="0" strike="noStrike" spc="-1">
              <a:solidFill>
                <a:srgbClr val="000000"/>
              </a:solidFill>
              <a:latin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 name="PlaceHolder 1"/>
          <p:cNvSpPr>
            <a:spLocks noGrp="1"/>
          </p:cNvSpPr>
          <p:nvPr>
            <p:ph type="title"/>
          </p:nvPr>
        </p:nvSpPr>
        <p:spPr>
          <a:xfrm>
            <a:off x="457200" y="274320"/>
            <a:ext cx="8229240" cy="685440"/>
          </a:xfrm>
          <a:prstGeom prst="rect">
            <a:avLst/>
          </a:prstGeom>
          <a:noFill/>
          <a:ln w="0">
            <a:noFill/>
          </a:ln>
        </p:spPr>
        <p:txBody>
          <a:bodyPr lIns="90000" tIns="45000" rIns="90000" bIns="45000" anchor="ctr">
            <a:noAutofit/>
          </a:bodyPr>
          <a:lstStyle/>
          <a:p>
            <a:pPr indent="0" algn="ctr" defTabSz="914400">
              <a:lnSpc>
                <a:spcPct val="100000"/>
              </a:lnSpc>
              <a:buNone/>
              <a:tabLst>
                <a:tab pos="0" algn="l"/>
              </a:tabLst>
            </a:pPr>
            <a:r>
              <a:rPr lang="en-US" sz="3200" b="1" strike="noStrike" spc="-1">
                <a:solidFill>
                  <a:schemeClr val="dk2"/>
                </a:solidFill>
                <a:latin typeface="Cambria"/>
              </a:rPr>
              <a:t>Results: input size vs time</a:t>
            </a:r>
            <a:endParaRPr lang="en-US" sz="3200" b="0" strike="noStrike" spc="-1">
              <a:solidFill>
                <a:schemeClr val="dk1"/>
              </a:solidFill>
              <a:latin typeface="Calibri"/>
            </a:endParaRPr>
          </a:p>
        </p:txBody>
      </p:sp>
      <p:sp>
        <p:nvSpPr>
          <p:cNvPr id="269" name="Text 1"/>
          <p:cNvSpPr/>
          <p:nvPr/>
        </p:nvSpPr>
        <p:spPr>
          <a:xfrm>
            <a:off x="457200" y="1051560"/>
            <a:ext cx="4114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strike="noStrike" spc="-1">
                <a:solidFill>
                  <a:schemeClr val="dk2"/>
                </a:solidFill>
                <a:latin typeface="Calibri"/>
              </a:rPr>
              <a:t>Average time (ms)</a:t>
            </a:r>
            <a:endParaRPr lang="en-US" sz="1400" b="0" strike="noStrike" spc="-1">
              <a:solidFill>
                <a:srgbClr val="000000"/>
              </a:solidFill>
              <a:latin typeface="Arial"/>
            </a:endParaRPr>
          </a:p>
        </p:txBody>
      </p:sp>
      <p:graphicFrame>
        <p:nvGraphicFramePr>
          <p:cNvPr id="270" name="Results table"/>
          <p:cNvGraphicFramePr/>
          <p:nvPr/>
        </p:nvGraphicFramePr>
        <p:xfrm>
          <a:off x="457200" y="1371600"/>
          <a:ext cx="4297320" cy="2286000"/>
        </p:xfrm>
        <a:graphic>
          <a:graphicData uri="http://schemas.openxmlformats.org/drawingml/2006/table">
            <a:tbl>
              <a:tblPr/>
              <a:tblGrid>
                <a:gridCol w="100584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457200">
                <a:tc>
                  <a:txBody>
                    <a:bodyPr/>
                    <a:lstStyle/>
                    <a:p>
                      <a:pPr algn="ctr" defTabSz="914400">
                        <a:lnSpc>
                          <a:spcPct val="100000"/>
                        </a:lnSpc>
                        <a:tabLst>
                          <a:tab pos="0" algn="l"/>
                        </a:tabLst>
                      </a:pPr>
                      <a:r>
                        <a:rPr lang="en-US" sz="1200" b="1" strike="noStrike" spc="-1">
                          <a:solidFill>
                            <a:srgbClr val="FFFFFF"/>
                          </a:solidFill>
                          <a:latin typeface="Calibri"/>
                        </a:rPr>
                        <a:t>Size</a:t>
                      </a:r>
                      <a:endParaRPr lang="en-US" sz="1200" b="0" strike="noStrike" spc="-1">
                        <a:solidFill>
                          <a:srgbClr val="FFFFFF"/>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0B1F2A"/>
                    </a:solidFill>
                  </a:tcPr>
                </a:tc>
                <a:tc>
                  <a:txBody>
                    <a:bodyPr/>
                    <a:lstStyle/>
                    <a:p>
                      <a:pPr algn="ctr" defTabSz="914400">
                        <a:lnSpc>
                          <a:spcPct val="100000"/>
                        </a:lnSpc>
                        <a:tabLst>
                          <a:tab pos="0" algn="l"/>
                        </a:tabLst>
                      </a:pPr>
                      <a:r>
                        <a:rPr lang="en-US" sz="1200" b="1" strike="noStrike" spc="-1">
                          <a:solidFill>
                            <a:srgbClr val="FFFFFF"/>
                          </a:solidFill>
                          <a:latin typeface="Calibri"/>
                        </a:rPr>
                        <a:t>BFS</a:t>
                      </a:r>
                      <a:endParaRPr lang="en-US" sz="1200" b="0" strike="noStrike" spc="-1">
                        <a:solidFill>
                          <a:srgbClr val="FFFFFF"/>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0B1F2A"/>
                    </a:solidFill>
                  </a:tcPr>
                </a:tc>
                <a:tc>
                  <a:txBody>
                    <a:bodyPr/>
                    <a:lstStyle/>
                    <a:p>
                      <a:pPr algn="ctr" defTabSz="914400">
                        <a:lnSpc>
                          <a:spcPct val="100000"/>
                        </a:lnSpc>
                        <a:tabLst>
                          <a:tab pos="0" algn="l"/>
                        </a:tabLst>
                      </a:pPr>
                      <a:r>
                        <a:rPr lang="en-US" sz="1200" b="1" strike="noStrike" spc="-1">
                          <a:solidFill>
                            <a:srgbClr val="FFFFFF"/>
                          </a:solidFill>
                          <a:latin typeface="Calibri"/>
                        </a:rPr>
                        <a:t>DFS</a:t>
                      </a:r>
                      <a:endParaRPr lang="en-US" sz="1200" b="0" strike="noStrike" spc="-1">
                        <a:solidFill>
                          <a:srgbClr val="FFFFFF"/>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0B1F2A"/>
                    </a:solidFill>
                  </a:tcPr>
                </a:tc>
                <a:tc>
                  <a:txBody>
                    <a:bodyPr/>
                    <a:lstStyle/>
                    <a:p>
                      <a:pPr algn="ctr" defTabSz="914400">
                        <a:lnSpc>
                          <a:spcPct val="100000"/>
                        </a:lnSpc>
                        <a:tabLst>
                          <a:tab pos="0" algn="l"/>
                        </a:tabLst>
                      </a:pPr>
                      <a:r>
                        <a:rPr lang="en-US" sz="1200" b="1" strike="noStrike" spc="-1">
                          <a:solidFill>
                            <a:srgbClr val="FFFFFF"/>
                          </a:solidFill>
                          <a:latin typeface="Calibri"/>
                        </a:rPr>
                        <a:t>Dijkstra</a:t>
                      </a:r>
                      <a:endParaRPr lang="en-US" sz="1200" b="0" strike="noStrike" spc="-1">
                        <a:solidFill>
                          <a:srgbClr val="FFFFFF"/>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0B1F2A"/>
                    </a:solidFill>
                  </a:tcPr>
                </a:tc>
                <a:tc>
                  <a:txBody>
                    <a:bodyPr/>
                    <a:lstStyle/>
                    <a:p>
                      <a:pPr algn="ctr" defTabSz="914400">
                        <a:lnSpc>
                          <a:spcPct val="100000"/>
                        </a:lnSpc>
                        <a:tabLst>
                          <a:tab pos="0" algn="l"/>
                        </a:tabLst>
                      </a:pPr>
                      <a:r>
                        <a:rPr lang="en-US" sz="1200" b="1" strike="noStrike" spc="-1">
                          <a:solidFill>
                            <a:srgbClr val="FFFFFF"/>
                          </a:solidFill>
                          <a:latin typeface="Calibri"/>
                        </a:rPr>
                        <a:t>A*</a:t>
                      </a:r>
                      <a:endParaRPr lang="en-US" sz="1200" b="0" strike="noStrike" spc="-1">
                        <a:solidFill>
                          <a:srgbClr val="FFFFFF"/>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0B1F2A"/>
                    </a:solidFill>
                  </a:tcPr>
                </a:tc>
                <a:extLst>
                  <a:ext uri="{0D108BD9-81ED-4DB2-BD59-A6C34878D82A}">
                    <a16:rowId xmlns:a16="http://schemas.microsoft.com/office/drawing/2014/main" val="10000"/>
                  </a:ext>
                </a:extLst>
              </a:tr>
              <a:tr h="457200">
                <a:tc>
                  <a:txBody>
                    <a:bodyPr/>
                    <a:lstStyle/>
                    <a:p>
                      <a:pPr algn="ctr" defTabSz="914400">
                        <a:lnSpc>
                          <a:spcPct val="100000"/>
                        </a:lnSpc>
                        <a:tabLst>
                          <a:tab pos="0" algn="l"/>
                        </a:tabLst>
                      </a:pPr>
                      <a:r>
                        <a:rPr lang="en-US" sz="1200" b="1" strike="noStrike" spc="-1">
                          <a:solidFill>
                            <a:srgbClr val="1A2B34"/>
                          </a:solidFill>
                          <a:latin typeface="Calibri"/>
                        </a:rPr>
                        <a:t>11×11</a:t>
                      </a:r>
                      <a:endParaRPr lang="en-US" sz="12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tc>
                  <a:txBody>
                    <a:bodyPr/>
                    <a:lstStyle/>
                    <a:p>
                      <a:pPr algn="ctr" defTabSz="914400">
                        <a:lnSpc>
                          <a:spcPct val="100000"/>
                        </a:lnSpc>
                        <a:tabLst>
                          <a:tab pos="0" algn="l"/>
                        </a:tabLst>
                      </a:pPr>
                      <a:r>
                        <a:rPr lang="en-US" sz="1200" b="0" strike="noStrike" spc="-1">
                          <a:solidFill>
                            <a:srgbClr val="1A2B34"/>
                          </a:solidFill>
                          <a:latin typeface="Calibri"/>
                        </a:rPr>
                        <a:t>0.05</a:t>
                      </a:r>
                      <a:endParaRPr lang="en-US" sz="12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tc>
                  <a:txBody>
                    <a:bodyPr/>
                    <a:lstStyle/>
                    <a:p>
                      <a:pPr algn="ctr" defTabSz="914400">
                        <a:lnSpc>
                          <a:spcPct val="100000"/>
                        </a:lnSpc>
                        <a:tabLst>
                          <a:tab pos="0" algn="l"/>
                        </a:tabLst>
                      </a:pPr>
                      <a:r>
                        <a:rPr lang="en-US" sz="1200" b="0" strike="noStrike" spc="-1">
                          <a:solidFill>
                            <a:srgbClr val="1A2B34"/>
                          </a:solidFill>
                          <a:latin typeface="Calibri"/>
                        </a:rPr>
                        <a:t>0.07</a:t>
                      </a:r>
                      <a:endParaRPr lang="en-US" sz="12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tc>
                  <a:txBody>
                    <a:bodyPr/>
                    <a:lstStyle/>
                    <a:p>
                      <a:pPr algn="ctr" defTabSz="914400">
                        <a:lnSpc>
                          <a:spcPct val="100000"/>
                        </a:lnSpc>
                        <a:tabLst>
                          <a:tab pos="0" algn="l"/>
                        </a:tabLst>
                      </a:pPr>
                      <a:r>
                        <a:rPr lang="en-US" sz="1200" b="0" strike="noStrike" spc="-1">
                          <a:solidFill>
                            <a:srgbClr val="1A2B34"/>
                          </a:solidFill>
                          <a:latin typeface="Calibri"/>
                        </a:rPr>
                        <a:t>0.06</a:t>
                      </a:r>
                      <a:endParaRPr lang="en-US" sz="12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tc>
                  <a:txBody>
                    <a:bodyPr/>
                    <a:lstStyle/>
                    <a:p>
                      <a:pPr algn="ctr" defTabSz="914400">
                        <a:lnSpc>
                          <a:spcPct val="100000"/>
                        </a:lnSpc>
                        <a:tabLst>
                          <a:tab pos="0" algn="l"/>
                        </a:tabLst>
                      </a:pPr>
                      <a:r>
                        <a:rPr lang="en-US" sz="1200" b="0" strike="noStrike" spc="-1">
                          <a:solidFill>
                            <a:srgbClr val="1A2B34"/>
                          </a:solidFill>
                          <a:latin typeface="Calibri"/>
                        </a:rPr>
                        <a:t>0.03</a:t>
                      </a:r>
                      <a:endParaRPr lang="en-US" sz="12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extLst>
                  <a:ext uri="{0D108BD9-81ED-4DB2-BD59-A6C34878D82A}">
                    <a16:rowId xmlns:a16="http://schemas.microsoft.com/office/drawing/2014/main" val="10001"/>
                  </a:ext>
                </a:extLst>
              </a:tr>
              <a:tr h="457200">
                <a:tc>
                  <a:txBody>
                    <a:bodyPr/>
                    <a:lstStyle/>
                    <a:p>
                      <a:pPr algn="ctr" defTabSz="914400">
                        <a:lnSpc>
                          <a:spcPct val="100000"/>
                        </a:lnSpc>
                        <a:tabLst>
                          <a:tab pos="0" algn="l"/>
                        </a:tabLst>
                      </a:pPr>
                      <a:r>
                        <a:rPr lang="en-US" sz="1200" b="1" strike="noStrike" spc="-1">
                          <a:solidFill>
                            <a:srgbClr val="1A2B34"/>
                          </a:solidFill>
                          <a:latin typeface="Calibri"/>
                        </a:rPr>
                        <a:t>51×51</a:t>
                      </a:r>
                      <a:endParaRPr lang="en-US" sz="12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tc>
                  <a:txBody>
                    <a:bodyPr/>
                    <a:lstStyle/>
                    <a:p>
                      <a:pPr algn="ctr" defTabSz="914400">
                        <a:lnSpc>
                          <a:spcPct val="100000"/>
                        </a:lnSpc>
                        <a:tabLst>
                          <a:tab pos="0" algn="l"/>
                        </a:tabLst>
                      </a:pPr>
                      <a:r>
                        <a:rPr lang="en-US" sz="1200" b="0" strike="noStrike" spc="-1">
                          <a:solidFill>
                            <a:srgbClr val="1A2B34"/>
                          </a:solidFill>
                          <a:latin typeface="Calibri"/>
                        </a:rPr>
                        <a:t>0.12</a:t>
                      </a:r>
                      <a:endParaRPr lang="en-US" sz="12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tc>
                  <a:txBody>
                    <a:bodyPr/>
                    <a:lstStyle/>
                    <a:p>
                      <a:pPr algn="ctr" defTabSz="914400">
                        <a:lnSpc>
                          <a:spcPct val="100000"/>
                        </a:lnSpc>
                        <a:tabLst>
                          <a:tab pos="0" algn="l"/>
                        </a:tabLst>
                      </a:pPr>
                      <a:r>
                        <a:rPr lang="en-US" sz="1200" b="0" strike="noStrike" spc="-1">
                          <a:solidFill>
                            <a:srgbClr val="1A2B34"/>
                          </a:solidFill>
                          <a:latin typeface="Calibri"/>
                        </a:rPr>
                        <a:t>0.05</a:t>
                      </a:r>
                      <a:endParaRPr lang="en-US" sz="12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tc>
                  <a:txBody>
                    <a:bodyPr/>
                    <a:lstStyle/>
                    <a:p>
                      <a:pPr algn="ctr" defTabSz="914400">
                        <a:lnSpc>
                          <a:spcPct val="100000"/>
                        </a:lnSpc>
                        <a:tabLst>
                          <a:tab pos="0" algn="l"/>
                        </a:tabLst>
                      </a:pPr>
                      <a:r>
                        <a:rPr lang="en-US" sz="1200" b="0" strike="noStrike" spc="-1">
                          <a:solidFill>
                            <a:srgbClr val="1A2B34"/>
                          </a:solidFill>
                          <a:latin typeface="Calibri"/>
                        </a:rPr>
                        <a:t>0.24</a:t>
                      </a:r>
                      <a:endParaRPr lang="en-US" sz="12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tc>
                  <a:txBody>
                    <a:bodyPr/>
                    <a:lstStyle/>
                    <a:p>
                      <a:pPr algn="ctr" defTabSz="914400">
                        <a:lnSpc>
                          <a:spcPct val="100000"/>
                        </a:lnSpc>
                        <a:tabLst>
                          <a:tab pos="0" algn="l"/>
                        </a:tabLst>
                      </a:pPr>
                      <a:r>
                        <a:rPr lang="en-US" sz="1200" b="0" strike="noStrike" spc="-1">
                          <a:solidFill>
                            <a:srgbClr val="1A2B34"/>
                          </a:solidFill>
                          <a:latin typeface="Calibri"/>
                        </a:rPr>
                        <a:t>0.18</a:t>
                      </a:r>
                      <a:endParaRPr lang="en-US" sz="12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extLst>
                  <a:ext uri="{0D108BD9-81ED-4DB2-BD59-A6C34878D82A}">
                    <a16:rowId xmlns:a16="http://schemas.microsoft.com/office/drawing/2014/main" val="10002"/>
                  </a:ext>
                </a:extLst>
              </a:tr>
              <a:tr h="457200">
                <a:tc>
                  <a:txBody>
                    <a:bodyPr/>
                    <a:lstStyle/>
                    <a:p>
                      <a:pPr algn="ctr" defTabSz="914400">
                        <a:lnSpc>
                          <a:spcPct val="100000"/>
                        </a:lnSpc>
                        <a:tabLst>
                          <a:tab pos="0" algn="l"/>
                        </a:tabLst>
                      </a:pPr>
                      <a:r>
                        <a:rPr lang="en-US" sz="1200" b="1" strike="noStrike" spc="-1">
                          <a:solidFill>
                            <a:srgbClr val="1A2B34"/>
                          </a:solidFill>
                          <a:latin typeface="Calibri"/>
                        </a:rPr>
                        <a:t>101×101</a:t>
                      </a:r>
                      <a:endParaRPr lang="en-US" sz="12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tc>
                  <a:txBody>
                    <a:bodyPr/>
                    <a:lstStyle/>
                    <a:p>
                      <a:pPr algn="ctr" defTabSz="914400">
                        <a:lnSpc>
                          <a:spcPct val="100000"/>
                        </a:lnSpc>
                        <a:tabLst>
                          <a:tab pos="0" algn="l"/>
                        </a:tabLst>
                      </a:pPr>
                      <a:r>
                        <a:rPr lang="en-US" sz="1200" b="0" strike="noStrike" spc="-1">
                          <a:solidFill>
                            <a:srgbClr val="1A2B34"/>
                          </a:solidFill>
                          <a:latin typeface="Calibri"/>
                        </a:rPr>
                        <a:t>0.53</a:t>
                      </a:r>
                      <a:endParaRPr lang="en-US" sz="12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tc>
                  <a:txBody>
                    <a:bodyPr/>
                    <a:lstStyle/>
                    <a:p>
                      <a:pPr algn="ctr" defTabSz="914400">
                        <a:lnSpc>
                          <a:spcPct val="100000"/>
                        </a:lnSpc>
                        <a:tabLst>
                          <a:tab pos="0" algn="l"/>
                        </a:tabLst>
                      </a:pPr>
                      <a:r>
                        <a:rPr lang="en-US" sz="1200" b="0" strike="noStrike" spc="-1">
                          <a:solidFill>
                            <a:srgbClr val="1A2B34"/>
                          </a:solidFill>
                          <a:latin typeface="Calibri"/>
                        </a:rPr>
                        <a:t>0.19</a:t>
                      </a:r>
                      <a:endParaRPr lang="en-US" sz="12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tc>
                  <a:txBody>
                    <a:bodyPr/>
                    <a:lstStyle/>
                    <a:p>
                      <a:pPr algn="ctr" defTabSz="914400">
                        <a:lnSpc>
                          <a:spcPct val="100000"/>
                        </a:lnSpc>
                        <a:tabLst>
                          <a:tab pos="0" algn="l"/>
                        </a:tabLst>
                      </a:pPr>
                      <a:r>
                        <a:rPr lang="en-US" sz="1200" b="0" strike="noStrike" spc="-1">
                          <a:solidFill>
                            <a:srgbClr val="1A2B34"/>
                          </a:solidFill>
                          <a:latin typeface="Calibri"/>
                        </a:rPr>
                        <a:t>1.10</a:t>
                      </a:r>
                      <a:endParaRPr lang="en-US" sz="12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tc>
                  <a:txBody>
                    <a:bodyPr/>
                    <a:lstStyle/>
                    <a:p>
                      <a:pPr algn="ctr" defTabSz="914400">
                        <a:lnSpc>
                          <a:spcPct val="100000"/>
                        </a:lnSpc>
                        <a:tabLst>
                          <a:tab pos="0" algn="l"/>
                        </a:tabLst>
                      </a:pPr>
                      <a:r>
                        <a:rPr lang="en-US" sz="1200" b="0" strike="noStrike" spc="-1">
                          <a:solidFill>
                            <a:srgbClr val="1A2B34"/>
                          </a:solidFill>
                          <a:latin typeface="Calibri"/>
                        </a:rPr>
                        <a:t>0.82</a:t>
                      </a:r>
                      <a:endParaRPr lang="en-US" sz="12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extLst>
                  <a:ext uri="{0D108BD9-81ED-4DB2-BD59-A6C34878D82A}">
                    <a16:rowId xmlns:a16="http://schemas.microsoft.com/office/drawing/2014/main" val="10003"/>
                  </a:ext>
                </a:extLst>
              </a:tr>
              <a:tr h="457200">
                <a:tc>
                  <a:txBody>
                    <a:bodyPr/>
                    <a:lstStyle/>
                    <a:p>
                      <a:pPr algn="ctr" defTabSz="914400">
                        <a:lnSpc>
                          <a:spcPct val="100000"/>
                        </a:lnSpc>
                        <a:tabLst>
                          <a:tab pos="0" algn="l"/>
                        </a:tabLst>
                      </a:pPr>
                      <a:r>
                        <a:rPr lang="en-US" sz="1200" b="1" strike="noStrike" spc="-1">
                          <a:solidFill>
                            <a:srgbClr val="1A2B34"/>
                          </a:solidFill>
                          <a:latin typeface="Calibri"/>
                        </a:rPr>
                        <a:t>501×501</a:t>
                      </a:r>
                      <a:endParaRPr lang="en-US" sz="12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tc>
                  <a:txBody>
                    <a:bodyPr/>
                    <a:lstStyle/>
                    <a:p>
                      <a:pPr algn="ctr" defTabSz="914400">
                        <a:lnSpc>
                          <a:spcPct val="100000"/>
                        </a:lnSpc>
                        <a:tabLst>
                          <a:tab pos="0" algn="l"/>
                        </a:tabLst>
                      </a:pPr>
                      <a:r>
                        <a:rPr lang="en-US" sz="1200" b="0" strike="noStrike" spc="-1">
                          <a:solidFill>
                            <a:srgbClr val="1A2B34"/>
                          </a:solidFill>
                          <a:latin typeface="Calibri"/>
                        </a:rPr>
                        <a:t>16.82</a:t>
                      </a:r>
                      <a:endParaRPr lang="en-US" sz="12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tc>
                  <a:txBody>
                    <a:bodyPr/>
                    <a:lstStyle/>
                    <a:p>
                      <a:pPr algn="ctr" defTabSz="914400">
                        <a:lnSpc>
                          <a:spcPct val="100000"/>
                        </a:lnSpc>
                        <a:tabLst>
                          <a:tab pos="0" algn="l"/>
                        </a:tabLst>
                      </a:pPr>
                      <a:r>
                        <a:rPr lang="en-US" sz="1200" b="0" strike="noStrike" spc="-1">
                          <a:solidFill>
                            <a:srgbClr val="1A2B34"/>
                          </a:solidFill>
                          <a:latin typeface="Calibri"/>
                        </a:rPr>
                        <a:t>4.18</a:t>
                      </a:r>
                      <a:endParaRPr lang="en-US" sz="12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tc>
                  <a:txBody>
                    <a:bodyPr/>
                    <a:lstStyle/>
                    <a:p>
                      <a:pPr algn="ctr" defTabSz="914400">
                        <a:lnSpc>
                          <a:spcPct val="100000"/>
                        </a:lnSpc>
                        <a:tabLst>
                          <a:tab pos="0" algn="l"/>
                        </a:tabLst>
                      </a:pPr>
                      <a:r>
                        <a:rPr lang="en-US" sz="1200" b="0" strike="noStrike" spc="-1">
                          <a:solidFill>
                            <a:srgbClr val="1A2B34"/>
                          </a:solidFill>
                          <a:latin typeface="Calibri"/>
                        </a:rPr>
                        <a:t>37.55</a:t>
                      </a:r>
                      <a:endParaRPr lang="en-US" sz="12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tc>
                  <a:txBody>
                    <a:bodyPr/>
                    <a:lstStyle/>
                    <a:p>
                      <a:pPr algn="ctr" defTabSz="914400">
                        <a:lnSpc>
                          <a:spcPct val="100000"/>
                        </a:lnSpc>
                        <a:tabLst>
                          <a:tab pos="0" algn="l"/>
                        </a:tabLst>
                      </a:pPr>
                      <a:r>
                        <a:rPr lang="en-US" sz="1200" b="0" strike="noStrike" spc="-1">
                          <a:solidFill>
                            <a:srgbClr val="1A2B34"/>
                          </a:solidFill>
                          <a:latin typeface="Calibri"/>
                        </a:rPr>
                        <a:t>37.02</a:t>
                      </a:r>
                      <a:endParaRPr lang="en-US" sz="12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extLst>
                  <a:ext uri="{0D108BD9-81ED-4DB2-BD59-A6C34878D82A}">
                    <a16:rowId xmlns:a16="http://schemas.microsoft.com/office/drawing/2014/main" val="10004"/>
                  </a:ext>
                </a:extLst>
              </a:tr>
            </a:tbl>
          </a:graphicData>
        </a:graphic>
      </p:graphicFrame>
      <p:graphicFrame>
        <p:nvGraphicFramePr>
          <p:cNvPr id="271" name="Chart 0"/>
          <p:cNvGraphicFramePr/>
          <p:nvPr/>
        </p:nvGraphicFramePr>
        <p:xfrm>
          <a:off x="4937760" y="1051560"/>
          <a:ext cx="3840120" cy="3017160"/>
        </p:xfrm>
        <a:graphic>
          <a:graphicData uri="http://schemas.openxmlformats.org/drawingml/2006/chart">
            <c:chart xmlns:c="http://schemas.openxmlformats.org/drawingml/2006/chart" xmlns:r="http://schemas.openxmlformats.org/officeDocument/2006/relationships" r:id="rId3"/>
          </a:graphicData>
        </a:graphic>
      </p:graphicFrame>
      <p:sp>
        <p:nvSpPr>
          <p:cNvPr id="272" name="Text 2"/>
          <p:cNvSpPr/>
          <p:nvPr/>
        </p:nvSpPr>
        <p:spPr>
          <a:xfrm>
            <a:off x="457200" y="4114800"/>
            <a:ext cx="82292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i="1" strike="noStrike" spc="-1">
                <a:solidFill>
                  <a:schemeClr val="accent6"/>
                </a:solidFill>
                <a:latin typeface="Calibri"/>
              </a:rPr>
              <a:t>Dataset: random braided mazes (10% of walls removed), source top-left, destination bottom-right. 100 mazes at 11 and 51, 50 at 101, 10 at 501.</a:t>
            </a:r>
            <a:endParaRPr lang="en-US" sz="1200" b="0" strike="noStrike" spc="-1">
              <a:solidFill>
                <a:srgbClr val="000000"/>
              </a:solidFill>
              <a:latin typeface="Arial"/>
            </a:endParaRPr>
          </a:p>
        </p:txBody>
      </p:sp>
      <p:sp>
        <p:nvSpPr>
          <p:cNvPr id="273" name="PlaceHolder 2"/>
          <p:cNvSpPr>
            <a:spLocks noGrp="1"/>
          </p:cNvSpPr>
          <p:nvPr>
            <p:ph type="sldNum" idx="16"/>
          </p:nvPr>
        </p:nvSpPr>
        <p:spPr>
          <a:xfrm>
            <a:off x="8321040" y="4754880"/>
            <a:ext cx="456840" cy="273960"/>
          </a:xfrm>
          <a:prstGeom prst="rect">
            <a:avLst/>
          </a:prstGeom>
          <a:noFill/>
          <a:ln w="0">
            <a:noFill/>
          </a:ln>
        </p:spPr>
        <p:txBody>
          <a:bodyPr lIns="90000" tIns="45000" rIns="90000" bIns="45000" anchor="t">
            <a:noAutofit/>
          </a:bodyPr>
          <a:lstStyle>
            <a:lvl1pPr indent="0" defTabSz="914400">
              <a:lnSpc>
                <a:spcPct val="100000"/>
              </a:lnSpc>
              <a:buNone/>
              <a:defRPr lang="en-US" sz="1000" b="0" strike="noStrike" spc="-1">
                <a:solidFill>
                  <a:schemeClr val="accent6"/>
                </a:solidFill>
                <a:latin typeface="Calibri"/>
              </a:defRPr>
            </a:lvl1pPr>
          </a:lstStyle>
          <a:p>
            <a:pPr indent="0" defTabSz="914400">
              <a:lnSpc>
                <a:spcPct val="100000"/>
              </a:lnSpc>
              <a:buNone/>
            </a:pPr>
            <a:fld id="{EA660B71-6EB4-4EA2-B235-70D60B4C98DA}" type="slidenum">
              <a:rPr lang="en-US" sz="1000" b="0" strike="noStrike" spc="-1">
                <a:solidFill>
                  <a:schemeClr val="accent6"/>
                </a:solidFill>
                <a:latin typeface="Calibri"/>
              </a:rPr>
              <a:t>12</a:t>
            </a:fld>
            <a:endParaRPr lang="en-US" sz="1000" b="0" strike="noStrike" spc="-1">
              <a:solidFill>
                <a:srgbClr val="000000"/>
              </a:solidFill>
              <a:latin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 name="PlaceHolder 1"/>
          <p:cNvSpPr>
            <a:spLocks noGrp="1"/>
          </p:cNvSpPr>
          <p:nvPr>
            <p:ph type="title"/>
          </p:nvPr>
        </p:nvSpPr>
        <p:spPr>
          <a:xfrm>
            <a:off x="457200" y="274320"/>
            <a:ext cx="8229240" cy="685440"/>
          </a:xfrm>
          <a:prstGeom prst="rect">
            <a:avLst/>
          </a:prstGeom>
          <a:noFill/>
          <a:ln w="0">
            <a:noFill/>
          </a:ln>
        </p:spPr>
        <p:txBody>
          <a:bodyPr lIns="90000" tIns="45000" rIns="90000" bIns="45000" anchor="ctr">
            <a:noAutofit/>
          </a:bodyPr>
          <a:lstStyle/>
          <a:p>
            <a:pPr indent="0" algn="ctr" defTabSz="914400">
              <a:lnSpc>
                <a:spcPct val="100000"/>
              </a:lnSpc>
              <a:buNone/>
              <a:tabLst>
                <a:tab pos="0" algn="l"/>
              </a:tabLst>
            </a:pPr>
            <a:r>
              <a:rPr lang="en-US" sz="3200" b="1" strike="noStrike" spc="-1">
                <a:solidFill>
                  <a:schemeClr val="dk2"/>
                </a:solidFill>
                <a:latin typeface="Cambria"/>
              </a:rPr>
              <a:t>Complexity analysis</a:t>
            </a:r>
            <a:endParaRPr lang="en-US" sz="3200" b="0" strike="noStrike" spc="-1">
              <a:solidFill>
                <a:schemeClr val="dk1"/>
              </a:solidFill>
              <a:latin typeface="Calibri"/>
            </a:endParaRPr>
          </a:p>
        </p:txBody>
      </p:sp>
      <p:graphicFrame>
        <p:nvGraphicFramePr>
          <p:cNvPr id="275" name="Complexity table"/>
          <p:cNvGraphicFramePr/>
          <p:nvPr/>
        </p:nvGraphicFramePr>
        <p:xfrm>
          <a:off x="457200" y="1097280"/>
          <a:ext cx="8229600" cy="2057400"/>
        </p:xfrm>
        <a:graphic>
          <a:graphicData uri="http://schemas.openxmlformats.org/drawingml/2006/table">
            <a:tbl>
              <a:tblPr/>
              <a:tblGrid>
                <a:gridCol w="12801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411480">
                <a:tc>
                  <a:txBody>
                    <a:bodyPr/>
                    <a:lstStyle/>
                    <a:p>
                      <a:pPr algn="ctr" defTabSz="914400">
                        <a:lnSpc>
                          <a:spcPct val="100000"/>
                        </a:lnSpc>
                        <a:tabLst>
                          <a:tab pos="0" algn="l"/>
                        </a:tabLst>
                      </a:pPr>
                      <a:r>
                        <a:rPr lang="en-US" sz="1300" b="1" strike="noStrike" spc="-1">
                          <a:solidFill>
                            <a:srgbClr val="FFFFFF"/>
                          </a:solidFill>
                          <a:latin typeface="Calibri"/>
                        </a:rPr>
                        <a:t>Algorithm</a:t>
                      </a:r>
                      <a:endParaRPr lang="en-US" sz="1300" b="0" strike="noStrike" spc="-1">
                        <a:solidFill>
                          <a:srgbClr val="FFFFFF"/>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0B1F2A"/>
                    </a:solidFill>
                  </a:tcPr>
                </a:tc>
                <a:tc>
                  <a:txBody>
                    <a:bodyPr/>
                    <a:lstStyle/>
                    <a:p>
                      <a:pPr algn="ctr" defTabSz="914400">
                        <a:lnSpc>
                          <a:spcPct val="100000"/>
                        </a:lnSpc>
                        <a:tabLst>
                          <a:tab pos="0" algn="l"/>
                        </a:tabLst>
                      </a:pPr>
                      <a:r>
                        <a:rPr lang="en-US" sz="1300" b="1" strike="noStrike" spc="-1">
                          <a:solidFill>
                            <a:srgbClr val="FFFFFF"/>
                          </a:solidFill>
                          <a:latin typeface="Calibri"/>
                        </a:rPr>
                        <a:t>Best</a:t>
                      </a:r>
                      <a:endParaRPr lang="en-US" sz="1300" b="0" strike="noStrike" spc="-1">
                        <a:solidFill>
                          <a:srgbClr val="FFFFFF"/>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0B1F2A"/>
                    </a:solidFill>
                  </a:tcPr>
                </a:tc>
                <a:tc>
                  <a:txBody>
                    <a:bodyPr/>
                    <a:lstStyle/>
                    <a:p>
                      <a:pPr algn="ctr" defTabSz="914400">
                        <a:lnSpc>
                          <a:spcPct val="100000"/>
                        </a:lnSpc>
                        <a:tabLst>
                          <a:tab pos="0" algn="l"/>
                        </a:tabLst>
                      </a:pPr>
                      <a:r>
                        <a:rPr lang="en-US" sz="1300" b="1" strike="noStrike" spc="-1">
                          <a:solidFill>
                            <a:srgbClr val="FFFFFF"/>
                          </a:solidFill>
                          <a:latin typeface="Calibri"/>
                        </a:rPr>
                        <a:t>Average</a:t>
                      </a:r>
                      <a:endParaRPr lang="en-US" sz="1300" b="0" strike="noStrike" spc="-1">
                        <a:solidFill>
                          <a:srgbClr val="FFFFFF"/>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0B1F2A"/>
                    </a:solidFill>
                  </a:tcPr>
                </a:tc>
                <a:tc>
                  <a:txBody>
                    <a:bodyPr/>
                    <a:lstStyle/>
                    <a:p>
                      <a:pPr algn="ctr" defTabSz="914400">
                        <a:lnSpc>
                          <a:spcPct val="100000"/>
                        </a:lnSpc>
                        <a:tabLst>
                          <a:tab pos="0" algn="l"/>
                        </a:tabLst>
                      </a:pPr>
                      <a:r>
                        <a:rPr lang="en-US" sz="1300" b="1" strike="noStrike" spc="-1">
                          <a:solidFill>
                            <a:srgbClr val="FFFFFF"/>
                          </a:solidFill>
                          <a:latin typeface="Calibri"/>
                        </a:rPr>
                        <a:t>Worst</a:t>
                      </a:r>
                      <a:endParaRPr lang="en-US" sz="1300" b="0" strike="noStrike" spc="-1">
                        <a:solidFill>
                          <a:srgbClr val="FFFFFF"/>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0B1F2A"/>
                    </a:solidFill>
                  </a:tcPr>
                </a:tc>
                <a:tc>
                  <a:txBody>
                    <a:bodyPr/>
                    <a:lstStyle/>
                    <a:p>
                      <a:pPr algn="ctr" defTabSz="914400">
                        <a:lnSpc>
                          <a:spcPct val="100000"/>
                        </a:lnSpc>
                        <a:tabLst>
                          <a:tab pos="0" algn="l"/>
                        </a:tabLst>
                      </a:pPr>
                      <a:r>
                        <a:rPr lang="en-US" sz="1300" b="1" strike="noStrike" spc="-1">
                          <a:solidFill>
                            <a:srgbClr val="FFFFFF"/>
                          </a:solidFill>
                          <a:latin typeface="Calibri"/>
                        </a:rPr>
                        <a:t>Space</a:t>
                      </a:r>
                      <a:endParaRPr lang="en-US" sz="1300" b="0" strike="noStrike" spc="-1">
                        <a:solidFill>
                          <a:srgbClr val="FFFFFF"/>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0B1F2A"/>
                    </a:solidFill>
                  </a:tcPr>
                </a:tc>
                <a:extLst>
                  <a:ext uri="{0D108BD9-81ED-4DB2-BD59-A6C34878D82A}">
                    <a16:rowId xmlns:a16="http://schemas.microsoft.com/office/drawing/2014/main" val="10000"/>
                  </a:ext>
                </a:extLst>
              </a:tr>
              <a:tr h="411480">
                <a:tc>
                  <a:txBody>
                    <a:bodyPr/>
                    <a:lstStyle/>
                    <a:p>
                      <a:pPr algn="ctr" defTabSz="914400">
                        <a:lnSpc>
                          <a:spcPct val="100000"/>
                        </a:lnSpc>
                        <a:tabLst>
                          <a:tab pos="0" algn="l"/>
                        </a:tabLst>
                      </a:pPr>
                      <a:r>
                        <a:rPr lang="en-US" sz="1300" b="1" strike="noStrike" spc="-1">
                          <a:solidFill>
                            <a:srgbClr val="FFFFFF"/>
                          </a:solidFill>
                          <a:latin typeface="Calibri"/>
                        </a:rPr>
                        <a:t>BFS</a:t>
                      </a:r>
                      <a:endParaRPr lang="en-US" sz="1300" b="0" strike="noStrike" spc="-1">
                        <a:solidFill>
                          <a:srgbClr val="FFFFFF"/>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2E86AB"/>
                    </a:solidFill>
                  </a:tcPr>
                </a:tc>
                <a:tc>
                  <a:txBody>
                    <a:bodyPr/>
                    <a:lstStyle/>
                    <a:p>
                      <a:pPr algn="ctr" defTabSz="914400">
                        <a:lnSpc>
                          <a:spcPct val="100000"/>
                        </a:lnSpc>
                        <a:tabLst>
                          <a:tab pos="0" algn="l"/>
                        </a:tabLst>
                      </a:pPr>
                      <a:r>
                        <a:rPr lang="en-US" sz="1300" b="0" strike="noStrike" spc="-1">
                          <a:solidFill>
                            <a:srgbClr val="1A2B34"/>
                          </a:solidFill>
                          <a:latin typeface="Calibri"/>
                        </a:rPr>
                        <a:t>O(1)</a:t>
                      </a:r>
                      <a:endParaRPr lang="en-US" sz="13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tc>
                  <a:txBody>
                    <a:bodyPr/>
                    <a:lstStyle/>
                    <a:p>
                      <a:pPr algn="ctr" defTabSz="914400">
                        <a:lnSpc>
                          <a:spcPct val="100000"/>
                        </a:lnSpc>
                        <a:tabLst>
                          <a:tab pos="0" algn="l"/>
                        </a:tabLst>
                      </a:pPr>
                      <a:r>
                        <a:rPr lang="en-US" sz="1300" b="0" strike="noStrike" spc="-1">
                          <a:solidFill>
                            <a:srgbClr val="1A2B34"/>
                          </a:solidFill>
                          <a:latin typeface="Calibri"/>
                        </a:rPr>
                        <a:t>O(V + E)</a:t>
                      </a:r>
                      <a:endParaRPr lang="en-US" sz="13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tc>
                  <a:txBody>
                    <a:bodyPr/>
                    <a:lstStyle/>
                    <a:p>
                      <a:pPr algn="ctr" defTabSz="914400">
                        <a:lnSpc>
                          <a:spcPct val="100000"/>
                        </a:lnSpc>
                        <a:tabLst>
                          <a:tab pos="0" algn="l"/>
                        </a:tabLst>
                      </a:pPr>
                      <a:r>
                        <a:rPr lang="en-US" sz="1300" b="0" strike="noStrike" spc="-1">
                          <a:solidFill>
                            <a:srgbClr val="1A2B34"/>
                          </a:solidFill>
                          <a:latin typeface="Calibri"/>
                        </a:rPr>
                        <a:t>O(V + E)</a:t>
                      </a:r>
                      <a:endParaRPr lang="en-US" sz="13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tc>
                  <a:txBody>
                    <a:bodyPr/>
                    <a:lstStyle/>
                    <a:p>
                      <a:pPr algn="ctr" defTabSz="914400">
                        <a:lnSpc>
                          <a:spcPct val="100000"/>
                        </a:lnSpc>
                        <a:tabLst>
                          <a:tab pos="0" algn="l"/>
                        </a:tabLst>
                      </a:pPr>
                      <a:r>
                        <a:rPr lang="en-US" sz="1300" b="0" strike="noStrike" spc="-1">
                          <a:solidFill>
                            <a:srgbClr val="1A2B34"/>
                          </a:solidFill>
                          <a:latin typeface="Calibri"/>
                        </a:rPr>
                        <a:t>O(V)</a:t>
                      </a:r>
                      <a:endParaRPr lang="en-US" sz="13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extLst>
                  <a:ext uri="{0D108BD9-81ED-4DB2-BD59-A6C34878D82A}">
                    <a16:rowId xmlns:a16="http://schemas.microsoft.com/office/drawing/2014/main" val="10001"/>
                  </a:ext>
                </a:extLst>
              </a:tr>
              <a:tr h="411480">
                <a:tc>
                  <a:txBody>
                    <a:bodyPr/>
                    <a:lstStyle/>
                    <a:p>
                      <a:pPr algn="ctr" defTabSz="914400">
                        <a:lnSpc>
                          <a:spcPct val="100000"/>
                        </a:lnSpc>
                        <a:tabLst>
                          <a:tab pos="0" algn="l"/>
                        </a:tabLst>
                      </a:pPr>
                      <a:r>
                        <a:rPr lang="en-US" sz="1300" b="1" strike="noStrike" spc="-1">
                          <a:solidFill>
                            <a:srgbClr val="FFFFFF"/>
                          </a:solidFill>
                          <a:latin typeface="Calibri"/>
                        </a:rPr>
                        <a:t>DFS</a:t>
                      </a:r>
                      <a:endParaRPr lang="en-US" sz="1300" b="0" strike="noStrike" spc="-1">
                        <a:solidFill>
                          <a:srgbClr val="FFFFFF"/>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C8553D"/>
                    </a:solidFill>
                  </a:tcPr>
                </a:tc>
                <a:tc>
                  <a:txBody>
                    <a:bodyPr/>
                    <a:lstStyle/>
                    <a:p>
                      <a:pPr algn="ctr" defTabSz="914400">
                        <a:lnSpc>
                          <a:spcPct val="100000"/>
                        </a:lnSpc>
                        <a:tabLst>
                          <a:tab pos="0" algn="l"/>
                        </a:tabLst>
                      </a:pPr>
                      <a:r>
                        <a:rPr lang="en-US" sz="1300" b="0" strike="noStrike" spc="-1">
                          <a:solidFill>
                            <a:srgbClr val="1A2B34"/>
                          </a:solidFill>
                          <a:latin typeface="Calibri"/>
                        </a:rPr>
                        <a:t>O(1)</a:t>
                      </a:r>
                      <a:endParaRPr lang="en-US" sz="13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tc>
                  <a:txBody>
                    <a:bodyPr/>
                    <a:lstStyle/>
                    <a:p>
                      <a:pPr algn="ctr" defTabSz="914400">
                        <a:lnSpc>
                          <a:spcPct val="100000"/>
                        </a:lnSpc>
                        <a:tabLst>
                          <a:tab pos="0" algn="l"/>
                        </a:tabLst>
                      </a:pPr>
                      <a:r>
                        <a:rPr lang="en-US" sz="1300" b="0" strike="noStrike" spc="-1">
                          <a:solidFill>
                            <a:srgbClr val="1A2B34"/>
                          </a:solidFill>
                          <a:latin typeface="Calibri"/>
                        </a:rPr>
                        <a:t>O(V + E)</a:t>
                      </a:r>
                      <a:endParaRPr lang="en-US" sz="13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tc>
                  <a:txBody>
                    <a:bodyPr/>
                    <a:lstStyle/>
                    <a:p>
                      <a:pPr algn="ctr" defTabSz="914400">
                        <a:lnSpc>
                          <a:spcPct val="100000"/>
                        </a:lnSpc>
                        <a:tabLst>
                          <a:tab pos="0" algn="l"/>
                        </a:tabLst>
                      </a:pPr>
                      <a:r>
                        <a:rPr lang="en-US" sz="1300" b="0" strike="noStrike" spc="-1">
                          <a:solidFill>
                            <a:srgbClr val="1A2B34"/>
                          </a:solidFill>
                          <a:latin typeface="Calibri"/>
                        </a:rPr>
                        <a:t>O(V + E)</a:t>
                      </a:r>
                      <a:endParaRPr lang="en-US" sz="13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tc>
                  <a:txBody>
                    <a:bodyPr/>
                    <a:lstStyle/>
                    <a:p>
                      <a:pPr algn="ctr" defTabSz="914400">
                        <a:lnSpc>
                          <a:spcPct val="100000"/>
                        </a:lnSpc>
                        <a:tabLst>
                          <a:tab pos="0" algn="l"/>
                        </a:tabLst>
                      </a:pPr>
                      <a:r>
                        <a:rPr lang="en-US" sz="1300" b="0" strike="noStrike" spc="-1">
                          <a:solidFill>
                            <a:srgbClr val="1A2B34"/>
                          </a:solidFill>
                          <a:latin typeface="Calibri"/>
                        </a:rPr>
                        <a:t>O(V)</a:t>
                      </a:r>
                      <a:endParaRPr lang="en-US" sz="13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extLst>
                  <a:ext uri="{0D108BD9-81ED-4DB2-BD59-A6C34878D82A}">
                    <a16:rowId xmlns:a16="http://schemas.microsoft.com/office/drawing/2014/main" val="10002"/>
                  </a:ext>
                </a:extLst>
              </a:tr>
              <a:tr h="411480">
                <a:tc>
                  <a:txBody>
                    <a:bodyPr/>
                    <a:lstStyle/>
                    <a:p>
                      <a:pPr algn="ctr" defTabSz="914400">
                        <a:lnSpc>
                          <a:spcPct val="100000"/>
                        </a:lnSpc>
                        <a:tabLst>
                          <a:tab pos="0" algn="l"/>
                        </a:tabLst>
                      </a:pPr>
                      <a:r>
                        <a:rPr lang="en-US" sz="1300" b="1" strike="noStrike" spc="-1">
                          <a:solidFill>
                            <a:srgbClr val="FFFFFF"/>
                          </a:solidFill>
                          <a:latin typeface="Calibri"/>
                        </a:rPr>
                        <a:t>Dijkstra</a:t>
                      </a:r>
                      <a:endParaRPr lang="en-US" sz="1300" b="0" strike="noStrike" spc="-1">
                        <a:solidFill>
                          <a:srgbClr val="FFFFFF"/>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5C9A3E"/>
                    </a:solidFill>
                  </a:tcPr>
                </a:tc>
                <a:tc>
                  <a:txBody>
                    <a:bodyPr/>
                    <a:lstStyle/>
                    <a:p>
                      <a:pPr algn="ctr" defTabSz="914400">
                        <a:lnSpc>
                          <a:spcPct val="100000"/>
                        </a:lnSpc>
                        <a:tabLst>
                          <a:tab pos="0" algn="l"/>
                        </a:tabLst>
                      </a:pPr>
                      <a:r>
                        <a:rPr lang="en-US" sz="1300" b="0" strike="noStrike" spc="-1">
                          <a:solidFill>
                            <a:srgbClr val="1A2B34"/>
                          </a:solidFill>
                          <a:latin typeface="Calibri"/>
                        </a:rPr>
                        <a:t>O(1)</a:t>
                      </a:r>
                      <a:endParaRPr lang="en-US" sz="13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tc>
                  <a:txBody>
                    <a:bodyPr/>
                    <a:lstStyle/>
                    <a:p>
                      <a:pPr algn="ctr" defTabSz="914400">
                        <a:lnSpc>
                          <a:spcPct val="100000"/>
                        </a:lnSpc>
                        <a:tabLst>
                          <a:tab pos="0" algn="l"/>
                        </a:tabLst>
                      </a:pPr>
                      <a:r>
                        <a:rPr lang="en-US" sz="1300" b="0" strike="noStrike" spc="-1">
                          <a:solidFill>
                            <a:srgbClr val="1A2B34"/>
                          </a:solidFill>
                          <a:latin typeface="Calibri"/>
                        </a:rPr>
                        <a:t>O((V+E) log V)</a:t>
                      </a:r>
                      <a:endParaRPr lang="en-US" sz="13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tc>
                  <a:txBody>
                    <a:bodyPr/>
                    <a:lstStyle/>
                    <a:p>
                      <a:pPr algn="ctr" defTabSz="914400">
                        <a:lnSpc>
                          <a:spcPct val="100000"/>
                        </a:lnSpc>
                        <a:tabLst>
                          <a:tab pos="0" algn="l"/>
                        </a:tabLst>
                      </a:pPr>
                      <a:r>
                        <a:rPr lang="en-US" sz="1300" b="0" strike="noStrike" spc="-1">
                          <a:solidFill>
                            <a:srgbClr val="1A2B34"/>
                          </a:solidFill>
                          <a:latin typeface="Calibri"/>
                        </a:rPr>
                        <a:t>O((V+E) log V)</a:t>
                      </a:r>
                      <a:endParaRPr lang="en-US" sz="13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tc>
                  <a:txBody>
                    <a:bodyPr/>
                    <a:lstStyle/>
                    <a:p>
                      <a:pPr algn="ctr" defTabSz="914400">
                        <a:lnSpc>
                          <a:spcPct val="100000"/>
                        </a:lnSpc>
                        <a:tabLst>
                          <a:tab pos="0" algn="l"/>
                        </a:tabLst>
                      </a:pPr>
                      <a:r>
                        <a:rPr lang="en-US" sz="1300" b="0" strike="noStrike" spc="-1">
                          <a:solidFill>
                            <a:srgbClr val="1A2B34"/>
                          </a:solidFill>
                          <a:latin typeface="Calibri"/>
                        </a:rPr>
                        <a:t>O(V)</a:t>
                      </a:r>
                      <a:endParaRPr lang="en-US" sz="13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extLst>
                  <a:ext uri="{0D108BD9-81ED-4DB2-BD59-A6C34878D82A}">
                    <a16:rowId xmlns:a16="http://schemas.microsoft.com/office/drawing/2014/main" val="10003"/>
                  </a:ext>
                </a:extLst>
              </a:tr>
              <a:tr h="411480">
                <a:tc>
                  <a:txBody>
                    <a:bodyPr/>
                    <a:lstStyle/>
                    <a:p>
                      <a:pPr algn="ctr" defTabSz="914400">
                        <a:lnSpc>
                          <a:spcPct val="100000"/>
                        </a:lnSpc>
                        <a:tabLst>
                          <a:tab pos="0" algn="l"/>
                        </a:tabLst>
                      </a:pPr>
                      <a:r>
                        <a:rPr lang="en-US" sz="1300" b="1" strike="noStrike" spc="-1">
                          <a:solidFill>
                            <a:srgbClr val="1A2B34"/>
                          </a:solidFill>
                          <a:latin typeface="Calibri"/>
                        </a:rPr>
                        <a:t>A*</a:t>
                      </a:r>
                      <a:endParaRPr lang="en-US" sz="13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5A524"/>
                    </a:solidFill>
                  </a:tcPr>
                </a:tc>
                <a:tc>
                  <a:txBody>
                    <a:bodyPr/>
                    <a:lstStyle/>
                    <a:p>
                      <a:pPr algn="ctr" defTabSz="914400">
                        <a:lnSpc>
                          <a:spcPct val="100000"/>
                        </a:lnSpc>
                        <a:tabLst>
                          <a:tab pos="0" algn="l"/>
                        </a:tabLst>
                      </a:pPr>
                      <a:r>
                        <a:rPr lang="en-US" sz="1300" b="0" strike="noStrike" spc="-1">
                          <a:solidFill>
                            <a:srgbClr val="1A2B34"/>
                          </a:solidFill>
                          <a:latin typeface="Calibri"/>
                        </a:rPr>
                        <a:t>O(d log V)</a:t>
                      </a:r>
                      <a:endParaRPr lang="en-US" sz="13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tc>
                  <a:txBody>
                    <a:bodyPr/>
                    <a:lstStyle/>
                    <a:p>
                      <a:pPr algn="ctr" defTabSz="914400">
                        <a:lnSpc>
                          <a:spcPct val="100000"/>
                        </a:lnSpc>
                        <a:tabLst>
                          <a:tab pos="0" algn="l"/>
                        </a:tabLst>
                      </a:pPr>
                      <a:r>
                        <a:rPr lang="en-US" sz="1300" b="0" strike="noStrike" spc="-1">
                          <a:solidFill>
                            <a:srgbClr val="1A2B34"/>
                          </a:solidFill>
                          <a:latin typeface="Calibri"/>
                        </a:rPr>
                        <a:t>Depends on h</a:t>
                      </a:r>
                      <a:endParaRPr lang="en-US" sz="13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tc>
                  <a:txBody>
                    <a:bodyPr/>
                    <a:lstStyle/>
                    <a:p>
                      <a:pPr algn="ctr" defTabSz="914400">
                        <a:lnSpc>
                          <a:spcPct val="100000"/>
                        </a:lnSpc>
                        <a:tabLst>
                          <a:tab pos="0" algn="l"/>
                        </a:tabLst>
                      </a:pPr>
                      <a:r>
                        <a:rPr lang="en-US" sz="1300" b="0" strike="noStrike" spc="-1">
                          <a:solidFill>
                            <a:srgbClr val="1A2B34"/>
                          </a:solidFill>
                          <a:latin typeface="Calibri"/>
                        </a:rPr>
                        <a:t>O((V+E) log V)</a:t>
                      </a:r>
                      <a:endParaRPr lang="en-US" sz="13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tc>
                  <a:txBody>
                    <a:bodyPr/>
                    <a:lstStyle/>
                    <a:p>
                      <a:pPr algn="ctr" defTabSz="914400">
                        <a:lnSpc>
                          <a:spcPct val="100000"/>
                        </a:lnSpc>
                        <a:tabLst>
                          <a:tab pos="0" algn="l"/>
                        </a:tabLst>
                      </a:pPr>
                      <a:r>
                        <a:rPr lang="en-US" sz="1300" b="0" strike="noStrike" spc="-1">
                          <a:solidFill>
                            <a:srgbClr val="1A2B34"/>
                          </a:solidFill>
                          <a:latin typeface="Calibri"/>
                        </a:rPr>
                        <a:t>O(V)</a:t>
                      </a:r>
                      <a:endParaRPr lang="en-US" sz="1300" b="0" strike="noStrike" spc="-1">
                        <a:solidFill>
                          <a:srgbClr val="000000"/>
                        </a:solidFill>
                        <a:latin typeface="Arial"/>
                      </a:endParaRPr>
                    </a:p>
                  </a:txBody>
                  <a:tcPr anchor="ctr">
                    <a:lnL w="9360">
                      <a:solidFill>
                        <a:srgbClr val="D5DDE1"/>
                      </a:solidFill>
                      <a:prstDash val="solid"/>
                    </a:lnL>
                    <a:lnR w="9360">
                      <a:solidFill>
                        <a:srgbClr val="D5DDE1"/>
                      </a:solidFill>
                      <a:prstDash val="solid"/>
                    </a:lnR>
                    <a:lnT w="9360">
                      <a:solidFill>
                        <a:srgbClr val="D5DDE1"/>
                      </a:solidFill>
                      <a:prstDash val="solid"/>
                    </a:lnT>
                    <a:lnB w="9360">
                      <a:solidFill>
                        <a:srgbClr val="D5DDE1"/>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276" name="Theory vs practice"/>
          <p:cNvSpPr/>
          <p:nvPr/>
        </p:nvSpPr>
        <p:spPr>
          <a:xfrm>
            <a:off x="457200" y="3291840"/>
            <a:ext cx="8229240" cy="1279800"/>
          </a:xfrm>
          <a:prstGeom prst="roundRect">
            <a:avLst>
              <a:gd name="adj" fmla="val 5714"/>
            </a:avLst>
          </a:prstGeom>
          <a:solidFill>
            <a:schemeClr val="bg1"/>
          </a:solidFill>
          <a:ln w="12700">
            <a:solidFill>
              <a:srgbClr val="FFFFFF"/>
            </a:solidFill>
            <a:round/>
          </a:ln>
          <a:effectLst>
            <a:outerShdw blurRad="1015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77" name="Text 2"/>
          <p:cNvSpPr/>
          <p:nvPr/>
        </p:nvSpPr>
        <p:spPr>
          <a:xfrm>
            <a:off x="640080" y="3383280"/>
            <a:ext cx="786348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strike="noStrike" spc="-1">
                <a:solidFill>
                  <a:schemeClr val="dk2"/>
                </a:solidFill>
                <a:latin typeface="Calibri"/>
              </a:rPr>
              <a:t>Theory vs practice. </a:t>
            </a:r>
            <a:r>
              <a:rPr lang="en-US" sz="1400" b="0" strike="noStrike" spc="-1">
                <a:solidFill>
                  <a:schemeClr val="dk1"/>
                </a:solidFill>
                <a:latin typeface="Calibri"/>
              </a:rPr>
              <a:t>Best case: goal next to source, or A* with a perfect heuristic (d = path length). Cells grow 96× from 51×51 to 501×501; BFS time grew about 137×, slightly above linear. At 501×501 A* explored 13% fewer nodes than BFS, yet took 2.2× as long: heap overhead outweighs a weak heuristic in mazes.</a:t>
            </a:r>
            <a:endParaRPr lang="en-US" sz="1400" b="0" strike="noStrike" spc="-1">
              <a:solidFill>
                <a:srgbClr val="000000"/>
              </a:solidFill>
              <a:latin typeface="Arial"/>
            </a:endParaRPr>
          </a:p>
        </p:txBody>
      </p:sp>
      <p:sp>
        <p:nvSpPr>
          <p:cNvPr id="278" name="PlaceHolder 2"/>
          <p:cNvSpPr>
            <a:spLocks noGrp="1"/>
          </p:cNvSpPr>
          <p:nvPr>
            <p:ph type="sldNum" idx="17"/>
          </p:nvPr>
        </p:nvSpPr>
        <p:spPr>
          <a:xfrm>
            <a:off x="8321040" y="4754880"/>
            <a:ext cx="456840" cy="273960"/>
          </a:xfrm>
          <a:prstGeom prst="rect">
            <a:avLst/>
          </a:prstGeom>
          <a:noFill/>
          <a:ln w="0">
            <a:noFill/>
          </a:ln>
        </p:spPr>
        <p:txBody>
          <a:bodyPr lIns="90000" tIns="45000" rIns="90000" bIns="45000" anchor="t">
            <a:noAutofit/>
          </a:bodyPr>
          <a:lstStyle>
            <a:lvl1pPr indent="0" defTabSz="914400">
              <a:lnSpc>
                <a:spcPct val="100000"/>
              </a:lnSpc>
              <a:buNone/>
              <a:defRPr lang="en-US" sz="1000" b="0" strike="noStrike" spc="-1">
                <a:solidFill>
                  <a:schemeClr val="accent6"/>
                </a:solidFill>
                <a:latin typeface="Calibri"/>
              </a:defRPr>
            </a:lvl1pPr>
          </a:lstStyle>
          <a:p>
            <a:pPr indent="0" defTabSz="914400">
              <a:lnSpc>
                <a:spcPct val="100000"/>
              </a:lnSpc>
              <a:buNone/>
            </a:pPr>
            <a:fld id="{D148B330-839F-47A1-8718-D8534598CDC7}" type="slidenum">
              <a:rPr lang="en-US" sz="1000" b="0" strike="noStrike" spc="-1">
                <a:solidFill>
                  <a:schemeClr val="accent6"/>
                </a:solidFill>
                <a:latin typeface="Calibri"/>
              </a:rPr>
              <a:t>13</a:t>
            </a:fld>
            <a:endParaRPr lang="en-US" sz="1000" b="0" strike="noStrike" spc="-1">
              <a:solidFill>
                <a:srgbClr val="000000"/>
              </a:solidFill>
              <a:latin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 name="PlaceHolder 1"/>
          <p:cNvSpPr>
            <a:spLocks noGrp="1"/>
          </p:cNvSpPr>
          <p:nvPr>
            <p:ph type="title"/>
          </p:nvPr>
        </p:nvSpPr>
        <p:spPr>
          <a:xfrm>
            <a:off x="457200" y="274320"/>
            <a:ext cx="8229240" cy="685440"/>
          </a:xfrm>
          <a:prstGeom prst="rect">
            <a:avLst/>
          </a:prstGeom>
          <a:noFill/>
          <a:ln w="0">
            <a:noFill/>
          </a:ln>
        </p:spPr>
        <p:txBody>
          <a:bodyPr lIns="90000" tIns="45000" rIns="90000" bIns="45000" anchor="ctr">
            <a:noAutofit/>
          </a:bodyPr>
          <a:lstStyle/>
          <a:p>
            <a:pPr indent="0" algn="ctr" defTabSz="914400">
              <a:lnSpc>
                <a:spcPct val="100000"/>
              </a:lnSpc>
              <a:buNone/>
              <a:tabLst>
                <a:tab pos="0" algn="l"/>
              </a:tabLst>
            </a:pPr>
            <a:r>
              <a:rPr lang="en-US" sz="3200" b="1" strike="noStrike" spc="-1">
                <a:solidFill>
                  <a:schemeClr val="dk2"/>
                </a:solidFill>
                <a:latin typeface="Cambria"/>
              </a:rPr>
              <a:t>Advantages, limitations, future scope</a:t>
            </a:r>
            <a:endParaRPr lang="en-US" sz="3200" b="0" strike="noStrike" spc="-1">
              <a:solidFill>
                <a:schemeClr val="dk1"/>
              </a:solidFill>
              <a:latin typeface="Calibri"/>
            </a:endParaRPr>
          </a:p>
        </p:txBody>
      </p:sp>
      <p:sp>
        <p:nvSpPr>
          <p:cNvPr id="280" name="Col Advantages"/>
          <p:cNvSpPr/>
          <p:nvPr/>
        </p:nvSpPr>
        <p:spPr>
          <a:xfrm>
            <a:off x="457200" y="1143000"/>
            <a:ext cx="2559960" cy="3382920"/>
          </a:xfrm>
          <a:prstGeom prst="roundRect">
            <a:avLst>
              <a:gd name="adj" fmla="val 2857"/>
            </a:avLst>
          </a:prstGeom>
          <a:solidFill>
            <a:schemeClr val="bg2"/>
          </a:solidFill>
          <a:ln w="12700">
            <a:solidFill>
              <a:srgbClr val="F3F6F7"/>
            </a:solidFill>
            <a:round/>
          </a:ln>
          <a:effectLst>
            <a:outerShdw blurRad="1015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81" name="Tag Advantages"/>
          <p:cNvSpPr/>
          <p:nvPr/>
        </p:nvSpPr>
        <p:spPr>
          <a:xfrm>
            <a:off x="594360" y="1280160"/>
            <a:ext cx="2285640" cy="411120"/>
          </a:xfrm>
          <a:prstGeom prst="roundRect">
            <a:avLst>
              <a:gd name="adj" fmla="val 22222"/>
            </a:avLst>
          </a:prstGeom>
          <a:solidFill>
            <a:schemeClr val="accent5"/>
          </a:solidFill>
          <a:ln w="12700">
            <a:solidFill>
              <a:srgbClr val="5C9A3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82" name="Text 3"/>
          <p:cNvSpPr/>
          <p:nvPr/>
        </p:nvSpPr>
        <p:spPr>
          <a:xfrm>
            <a:off x="594360" y="1280160"/>
            <a:ext cx="22856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strike="noStrike" spc="-1">
                <a:solidFill>
                  <a:schemeClr val="lt1"/>
                </a:solidFill>
                <a:latin typeface="Calibri"/>
              </a:rPr>
              <a:t>Advantages</a:t>
            </a:r>
            <a:endParaRPr lang="en-US" sz="1500" b="0" strike="noStrike" spc="-1">
              <a:solidFill>
                <a:srgbClr val="000000"/>
              </a:solidFill>
              <a:latin typeface="Arial"/>
            </a:endParaRPr>
          </a:p>
        </p:txBody>
      </p:sp>
      <p:sp>
        <p:nvSpPr>
          <p:cNvPr id="283" name="Text 4"/>
          <p:cNvSpPr/>
          <p:nvPr/>
        </p:nvSpPr>
        <p:spPr>
          <a:xfrm>
            <a:off x="640080" y="1874520"/>
            <a:ext cx="2194200" cy="2559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00000"/>
              </a:lnSpc>
              <a:spcAft>
                <a:spcPts val="799"/>
              </a:spcAft>
              <a:buClr>
                <a:srgbClr val="1A2B34"/>
              </a:buClr>
              <a:buFont typeface="Symbol" charset="2"/>
              <a:buChar char=""/>
            </a:pPr>
            <a:r>
              <a:rPr lang="en-US" sz="1400" b="0" strike="noStrike" spc="-1">
                <a:solidFill>
                  <a:schemeClr val="dk1"/>
                </a:solidFill>
                <a:latin typeface="Calibri"/>
              </a:rPr>
              <a:t>Four algorithms on one shared model</a:t>
            </a:r>
            <a:endParaRPr lang="en-US" sz="1400" b="0" strike="noStrike" spc="-1">
              <a:solidFill>
                <a:srgbClr val="000000"/>
              </a:solidFill>
              <a:latin typeface="Arial"/>
            </a:endParaRPr>
          </a:p>
          <a:p>
            <a:pPr marL="343080" indent="-343080" defTabSz="914400">
              <a:lnSpc>
                <a:spcPct val="100000"/>
              </a:lnSpc>
              <a:spcAft>
                <a:spcPts val="799"/>
              </a:spcAft>
              <a:buClr>
                <a:srgbClr val="1A2B34"/>
              </a:buClr>
              <a:buFont typeface="Symbol" charset="2"/>
              <a:buChar char=""/>
            </a:pPr>
            <a:r>
              <a:rPr lang="en-US" sz="1400" b="0" strike="noStrike" spc="-1">
                <a:solidFill>
                  <a:schemeClr val="dk1"/>
                </a:solidFill>
                <a:latin typeface="Calibri"/>
              </a:rPr>
              <a:t>Fair, repeatable metrics</a:t>
            </a:r>
            <a:endParaRPr lang="en-US" sz="1400" b="0" strike="noStrike" spc="-1">
              <a:solidFill>
                <a:srgbClr val="000000"/>
              </a:solidFill>
              <a:latin typeface="Arial"/>
            </a:endParaRPr>
          </a:p>
          <a:p>
            <a:pPr marL="343080" indent="-343080" defTabSz="914400">
              <a:lnSpc>
                <a:spcPct val="100000"/>
              </a:lnSpc>
              <a:spcAft>
                <a:spcPts val="799"/>
              </a:spcAft>
              <a:buClr>
                <a:srgbClr val="1A2B34"/>
              </a:buClr>
              <a:buFont typeface="Symbol" charset="2"/>
              <a:buChar char=""/>
            </a:pPr>
            <a:r>
              <a:rPr lang="en-US" sz="1400" b="0" strike="noStrike" spc="-1">
                <a:solidFill>
                  <a:schemeClr val="dk1"/>
                </a:solidFill>
                <a:latin typeface="Calibri"/>
              </a:rPr>
              <a:t>Interactive and visual</a:t>
            </a:r>
            <a:endParaRPr lang="en-US" sz="1400" b="0" strike="noStrike" spc="-1">
              <a:solidFill>
                <a:srgbClr val="000000"/>
              </a:solidFill>
              <a:latin typeface="Arial"/>
            </a:endParaRPr>
          </a:p>
          <a:p>
            <a:pPr marL="343080" indent="-343080" defTabSz="914400">
              <a:lnSpc>
                <a:spcPct val="100000"/>
              </a:lnSpc>
              <a:spcAft>
                <a:spcPts val="799"/>
              </a:spcAft>
              <a:buClr>
                <a:srgbClr val="1A2B34"/>
              </a:buClr>
              <a:buFont typeface="Symbol" charset="2"/>
              <a:buChar char=""/>
            </a:pPr>
            <a:r>
              <a:rPr lang="en-US" sz="1400" b="0" strike="noStrike" spc="-1">
                <a:solidFill>
                  <a:schemeClr val="dk1"/>
                </a:solidFill>
                <a:latin typeface="Calibri"/>
              </a:rPr>
              <a:t>Easy to add a new algorithm</a:t>
            </a:r>
            <a:endParaRPr lang="en-US" sz="1400" b="0" strike="noStrike" spc="-1">
              <a:solidFill>
                <a:srgbClr val="000000"/>
              </a:solidFill>
              <a:latin typeface="Arial"/>
            </a:endParaRPr>
          </a:p>
        </p:txBody>
      </p:sp>
      <p:sp>
        <p:nvSpPr>
          <p:cNvPr id="284" name="Col Limitations"/>
          <p:cNvSpPr/>
          <p:nvPr/>
        </p:nvSpPr>
        <p:spPr>
          <a:xfrm>
            <a:off x="3291840" y="1143000"/>
            <a:ext cx="2559960" cy="3382920"/>
          </a:xfrm>
          <a:prstGeom prst="roundRect">
            <a:avLst>
              <a:gd name="adj" fmla="val 2857"/>
            </a:avLst>
          </a:prstGeom>
          <a:solidFill>
            <a:schemeClr val="bg2"/>
          </a:solidFill>
          <a:ln w="12700">
            <a:solidFill>
              <a:srgbClr val="F3F6F7"/>
            </a:solidFill>
            <a:round/>
          </a:ln>
          <a:effectLst>
            <a:outerShdw blurRad="1015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85" name="Tag Limitations"/>
          <p:cNvSpPr/>
          <p:nvPr/>
        </p:nvSpPr>
        <p:spPr>
          <a:xfrm>
            <a:off x="3429000" y="1280160"/>
            <a:ext cx="2285640" cy="411120"/>
          </a:xfrm>
          <a:prstGeom prst="roundRect">
            <a:avLst>
              <a:gd name="adj" fmla="val 22222"/>
            </a:avLst>
          </a:prstGeom>
          <a:solidFill>
            <a:schemeClr val="accent4"/>
          </a:solidFill>
          <a:ln w="12700">
            <a:solidFill>
              <a:srgbClr val="C8553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86" name="Text 7"/>
          <p:cNvSpPr/>
          <p:nvPr/>
        </p:nvSpPr>
        <p:spPr>
          <a:xfrm>
            <a:off x="3429000" y="1280160"/>
            <a:ext cx="22856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strike="noStrike" spc="-1">
                <a:solidFill>
                  <a:schemeClr val="lt1"/>
                </a:solidFill>
                <a:latin typeface="Calibri"/>
              </a:rPr>
              <a:t>Limitations</a:t>
            </a:r>
            <a:endParaRPr lang="en-US" sz="1500" b="0" strike="noStrike" spc="-1">
              <a:solidFill>
                <a:srgbClr val="000000"/>
              </a:solidFill>
              <a:latin typeface="Arial"/>
            </a:endParaRPr>
          </a:p>
        </p:txBody>
      </p:sp>
      <p:sp>
        <p:nvSpPr>
          <p:cNvPr id="287" name="Text 8"/>
          <p:cNvSpPr/>
          <p:nvPr/>
        </p:nvSpPr>
        <p:spPr>
          <a:xfrm>
            <a:off x="3474720" y="1874520"/>
            <a:ext cx="2194200" cy="2559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00000"/>
              </a:lnSpc>
              <a:spcAft>
                <a:spcPts val="799"/>
              </a:spcAft>
              <a:buClr>
                <a:srgbClr val="1A2B34"/>
              </a:buClr>
              <a:buFont typeface="Symbol" charset="2"/>
              <a:buChar char=""/>
            </a:pPr>
            <a:r>
              <a:rPr lang="en-US" sz="1400" b="0" strike="noStrike" spc="-1">
                <a:solidFill>
                  <a:schemeClr val="dk1"/>
                </a:solidFill>
                <a:latin typeface="Calibri"/>
              </a:rPr>
              <a:t>Grid and 4-direction moves only</a:t>
            </a:r>
            <a:endParaRPr lang="en-US" sz="1400" b="0" strike="noStrike" spc="-1">
              <a:solidFill>
                <a:srgbClr val="000000"/>
              </a:solidFill>
              <a:latin typeface="Arial"/>
            </a:endParaRPr>
          </a:p>
          <a:p>
            <a:pPr marL="343080" indent="-343080" defTabSz="914400">
              <a:lnSpc>
                <a:spcPct val="100000"/>
              </a:lnSpc>
              <a:spcAft>
                <a:spcPts val="799"/>
              </a:spcAft>
              <a:buClr>
                <a:srgbClr val="1A2B34"/>
              </a:buClr>
              <a:buFont typeface="Symbol" charset="2"/>
              <a:buChar char=""/>
            </a:pPr>
            <a:r>
              <a:rPr lang="en-US" sz="1400" b="0" strike="noStrike" spc="-1">
                <a:solidFill>
                  <a:schemeClr val="dk1"/>
                </a:solidFill>
                <a:latin typeface="Calibri"/>
              </a:rPr>
              <a:t>Timings depend on the machine</a:t>
            </a:r>
            <a:endParaRPr lang="en-US" sz="1400" b="0" strike="noStrike" spc="-1">
              <a:solidFill>
                <a:srgbClr val="000000"/>
              </a:solidFill>
              <a:latin typeface="Arial"/>
            </a:endParaRPr>
          </a:p>
          <a:p>
            <a:pPr marL="343080" indent="-343080" defTabSz="914400">
              <a:lnSpc>
                <a:spcPct val="100000"/>
              </a:lnSpc>
              <a:spcAft>
                <a:spcPts val="799"/>
              </a:spcAft>
              <a:buClr>
                <a:srgbClr val="1A2B34"/>
              </a:buClr>
              <a:buFont typeface="Symbol" charset="2"/>
              <a:buChar char=""/>
            </a:pPr>
            <a:r>
              <a:rPr lang="en-US" sz="1400" b="0" strike="noStrike" spc="-1">
                <a:solidFill>
                  <a:schemeClr val="dk1"/>
                </a:solidFill>
                <a:latin typeface="Calibri"/>
              </a:rPr>
              <a:t>Manhattan heuristic is weak in mazes</a:t>
            </a:r>
            <a:endParaRPr lang="en-US" sz="1400" b="0" strike="noStrike" spc="-1">
              <a:solidFill>
                <a:srgbClr val="000000"/>
              </a:solidFill>
              <a:latin typeface="Arial"/>
            </a:endParaRPr>
          </a:p>
          <a:p>
            <a:pPr marL="343080" indent="-343080" defTabSz="914400">
              <a:lnSpc>
                <a:spcPct val="100000"/>
              </a:lnSpc>
              <a:spcAft>
                <a:spcPts val="799"/>
              </a:spcAft>
              <a:buClr>
                <a:srgbClr val="1A2B34"/>
              </a:buClr>
              <a:buFont typeface="Symbol" charset="2"/>
              <a:buChar char=""/>
            </a:pPr>
            <a:r>
              <a:rPr lang="en-US" sz="1400" b="0" strike="noStrike" spc="-1">
                <a:solidFill>
                  <a:schemeClr val="dk1"/>
                </a:solidFill>
                <a:latin typeface="Calibri"/>
              </a:rPr>
              <a:t>Mazes up to 501×501 tested</a:t>
            </a:r>
            <a:endParaRPr lang="en-US" sz="1400" b="0" strike="noStrike" spc="-1">
              <a:solidFill>
                <a:srgbClr val="000000"/>
              </a:solidFill>
              <a:latin typeface="Arial"/>
            </a:endParaRPr>
          </a:p>
        </p:txBody>
      </p:sp>
      <p:sp>
        <p:nvSpPr>
          <p:cNvPr id="288" name="Col Future scope"/>
          <p:cNvSpPr/>
          <p:nvPr/>
        </p:nvSpPr>
        <p:spPr>
          <a:xfrm>
            <a:off x="6126480" y="1143000"/>
            <a:ext cx="2559960" cy="3382920"/>
          </a:xfrm>
          <a:prstGeom prst="roundRect">
            <a:avLst>
              <a:gd name="adj" fmla="val 2857"/>
            </a:avLst>
          </a:prstGeom>
          <a:solidFill>
            <a:schemeClr val="bg2"/>
          </a:solidFill>
          <a:ln w="12700">
            <a:solidFill>
              <a:srgbClr val="F3F6F7"/>
            </a:solidFill>
            <a:round/>
          </a:ln>
          <a:effectLst>
            <a:outerShdw blurRad="1015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89" name="Tag Future scope"/>
          <p:cNvSpPr/>
          <p:nvPr/>
        </p:nvSpPr>
        <p:spPr>
          <a:xfrm>
            <a:off x="6263640" y="1280160"/>
            <a:ext cx="2285640" cy="411120"/>
          </a:xfrm>
          <a:prstGeom prst="roundRect">
            <a:avLst>
              <a:gd name="adj" fmla="val 22222"/>
            </a:avLst>
          </a:prstGeom>
          <a:solidFill>
            <a:schemeClr val="accent3"/>
          </a:solidFill>
          <a:ln w="12700">
            <a:solidFill>
              <a:srgbClr val="2E86A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90" name="Text 11"/>
          <p:cNvSpPr/>
          <p:nvPr/>
        </p:nvSpPr>
        <p:spPr>
          <a:xfrm>
            <a:off x="6263640" y="1280160"/>
            <a:ext cx="22856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strike="noStrike" spc="-1">
                <a:solidFill>
                  <a:schemeClr val="lt1"/>
                </a:solidFill>
                <a:latin typeface="Calibri"/>
              </a:rPr>
              <a:t>Future scope</a:t>
            </a:r>
            <a:endParaRPr lang="en-US" sz="1500" b="0" strike="noStrike" spc="-1">
              <a:solidFill>
                <a:srgbClr val="000000"/>
              </a:solidFill>
              <a:latin typeface="Arial"/>
            </a:endParaRPr>
          </a:p>
        </p:txBody>
      </p:sp>
      <p:sp>
        <p:nvSpPr>
          <p:cNvPr id="291" name="Text 12"/>
          <p:cNvSpPr/>
          <p:nvPr/>
        </p:nvSpPr>
        <p:spPr>
          <a:xfrm>
            <a:off x="6309360" y="1874520"/>
            <a:ext cx="2194200" cy="2559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00000"/>
              </a:lnSpc>
              <a:spcAft>
                <a:spcPts val="799"/>
              </a:spcAft>
              <a:buClr>
                <a:srgbClr val="1A2B34"/>
              </a:buClr>
              <a:buFont typeface="Symbol" charset="2"/>
              <a:buChar char=""/>
            </a:pPr>
            <a:r>
              <a:rPr lang="en-US" sz="1400" b="0" strike="noStrike" spc="-1">
                <a:solidFill>
                  <a:schemeClr val="dk1"/>
                </a:solidFill>
                <a:latin typeface="Calibri"/>
              </a:rPr>
              <a:t>Diagonal moves, octile heuristic</a:t>
            </a:r>
            <a:endParaRPr lang="en-US" sz="1400" b="0" strike="noStrike" spc="-1">
              <a:solidFill>
                <a:srgbClr val="000000"/>
              </a:solidFill>
              <a:latin typeface="Arial"/>
            </a:endParaRPr>
          </a:p>
          <a:p>
            <a:pPr marL="343080" indent="-343080" defTabSz="914400">
              <a:lnSpc>
                <a:spcPct val="100000"/>
              </a:lnSpc>
              <a:spcAft>
                <a:spcPts val="799"/>
              </a:spcAft>
              <a:buClr>
                <a:srgbClr val="1A2B34"/>
              </a:buClr>
              <a:buFont typeface="Symbol" charset="2"/>
              <a:buChar char=""/>
            </a:pPr>
            <a:r>
              <a:rPr lang="en-US" sz="1400" b="0" strike="noStrike" spc="-1">
                <a:solidFill>
                  <a:schemeClr val="dk1"/>
                </a:solidFill>
                <a:latin typeface="Calibri"/>
              </a:rPr>
              <a:t>Bidirectional search, JPS</a:t>
            </a:r>
            <a:endParaRPr lang="en-US" sz="1400" b="0" strike="noStrike" spc="-1">
              <a:solidFill>
                <a:srgbClr val="000000"/>
              </a:solidFill>
              <a:latin typeface="Arial"/>
            </a:endParaRPr>
          </a:p>
          <a:p>
            <a:pPr marL="343080" indent="-343080" defTabSz="914400">
              <a:lnSpc>
                <a:spcPct val="100000"/>
              </a:lnSpc>
              <a:spcAft>
                <a:spcPts val="799"/>
              </a:spcAft>
              <a:buClr>
                <a:srgbClr val="1A2B34"/>
              </a:buClr>
              <a:buFont typeface="Symbol" charset="2"/>
              <a:buChar char=""/>
            </a:pPr>
            <a:r>
              <a:rPr lang="en-US" sz="1400" b="0" strike="noStrike" spc="-1">
                <a:solidFill>
                  <a:schemeClr val="dk1"/>
                </a:solidFill>
                <a:latin typeface="Calibri"/>
              </a:rPr>
              <a:t>Dynamic obstacles</a:t>
            </a:r>
            <a:endParaRPr lang="en-US" sz="1400" b="0" strike="noStrike" spc="-1">
              <a:solidFill>
                <a:srgbClr val="000000"/>
              </a:solidFill>
              <a:latin typeface="Arial"/>
            </a:endParaRPr>
          </a:p>
          <a:p>
            <a:pPr marL="343080" indent="-343080" defTabSz="914400">
              <a:lnSpc>
                <a:spcPct val="100000"/>
              </a:lnSpc>
              <a:spcAft>
                <a:spcPts val="799"/>
              </a:spcAft>
              <a:buClr>
                <a:srgbClr val="1A2B34"/>
              </a:buClr>
              <a:buFont typeface="Symbol" charset="2"/>
              <a:buChar char=""/>
            </a:pPr>
            <a:r>
              <a:rPr lang="en-US" sz="1400" b="0" strike="noStrike" spc="-1">
                <a:solidFill>
                  <a:schemeClr val="dk1"/>
                </a:solidFill>
                <a:latin typeface="Calibri"/>
              </a:rPr>
              <a:t>Memory profiling</a:t>
            </a:r>
            <a:endParaRPr lang="en-US" sz="1400" b="0" strike="noStrike" spc="-1">
              <a:solidFill>
                <a:srgbClr val="000000"/>
              </a:solidFill>
              <a:latin typeface="Arial"/>
            </a:endParaRPr>
          </a:p>
        </p:txBody>
      </p:sp>
      <p:sp>
        <p:nvSpPr>
          <p:cNvPr id="292" name="PlaceHolder 2"/>
          <p:cNvSpPr>
            <a:spLocks noGrp="1"/>
          </p:cNvSpPr>
          <p:nvPr>
            <p:ph type="sldNum" idx="18"/>
          </p:nvPr>
        </p:nvSpPr>
        <p:spPr>
          <a:xfrm>
            <a:off x="8321040" y="4754880"/>
            <a:ext cx="456840" cy="273960"/>
          </a:xfrm>
          <a:prstGeom prst="rect">
            <a:avLst/>
          </a:prstGeom>
          <a:noFill/>
          <a:ln w="0">
            <a:noFill/>
          </a:ln>
        </p:spPr>
        <p:txBody>
          <a:bodyPr lIns="90000" tIns="45000" rIns="90000" bIns="45000" anchor="t">
            <a:noAutofit/>
          </a:bodyPr>
          <a:lstStyle>
            <a:lvl1pPr indent="0" defTabSz="914400">
              <a:lnSpc>
                <a:spcPct val="100000"/>
              </a:lnSpc>
              <a:buNone/>
              <a:defRPr lang="en-US" sz="1000" b="0" strike="noStrike" spc="-1">
                <a:solidFill>
                  <a:schemeClr val="accent6"/>
                </a:solidFill>
                <a:latin typeface="Calibri"/>
              </a:defRPr>
            </a:lvl1pPr>
          </a:lstStyle>
          <a:p>
            <a:pPr indent="0" defTabSz="914400">
              <a:lnSpc>
                <a:spcPct val="100000"/>
              </a:lnSpc>
              <a:buNone/>
            </a:pPr>
            <a:fld id="{47848CAB-2945-4F82-8740-B0FB65850C0C}" type="slidenum">
              <a:rPr lang="en-US" sz="1000" b="0" strike="noStrike" spc="-1">
                <a:solidFill>
                  <a:schemeClr val="accent6"/>
                </a:solidFill>
                <a:latin typeface="Calibri"/>
              </a:rPr>
              <a:t>14</a:t>
            </a:fld>
            <a:endParaRPr lang="en-US" sz="1000" b="0" strike="noStrike" spc="-1">
              <a:solidFill>
                <a:srgbClr val="000000"/>
              </a:solidFill>
              <a:latin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PlaceHolder 1"/>
          <p:cNvSpPr>
            <a:spLocks noGrp="1"/>
          </p:cNvSpPr>
          <p:nvPr>
            <p:ph type="title"/>
          </p:nvPr>
        </p:nvSpPr>
        <p:spPr>
          <a:xfrm>
            <a:off x="548640" y="1188720"/>
            <a:ext cx="4754520" cy="1828440"/>
          </a:xfrm>
          <a:prstGeom prst="rect">
            <a:avLst/>
          </a:prstGeom>
          <a:noFill/>
          <a:ln w="0">
            <a:noFill/>
          </a:ln>
        </p:spPr>
        <p:txBody>
          <a:bodyPr lIns="90000" tIns="45000" rIns="90000" bIns="45000" anchor="b">
            <a:noAutofit/>
          </a:bodyPr>
          <a:lstStyle/>
          <a:p>
            <a:pPr indent="0" defTabSz="914400">
              <a:lnSpc>
                <a:spcPct val="100000"/>
              </a:lnSpc>
              <a:buNone/>
              <a:tabLst>
                <a:tab pos="0" algn="l"/>
              </a:tabLst>
            </a:pPr>
            <a:r>
              <a:rPr lang="en-US" sz="3400" b="1" strike="noStrike" spc="-1">
                <a:solidFill>
                  <a:schemeClr val="lt1"/>
                </a:solidFill>
                <a:latin typeface="Cambria"/>
              </a:rPr>
              <a:t>Conclusion</a:t>
            </a:r>
            <a:endParaRPr lang="en-US" sz="3400" b="0" strike="noStrike" spc="-1">
              <a:solidFill>
                <a:schemeClr val="dk1"/>
              </a:solidFill>
              <a:latin typeface="Calibri"/>
            </a:endParaRPr>
          </a:p>
        </p:txBody>
      </p:sp>
      <p:sp>
        <p:nvSpPr>
          <p:cNvPr id="294" name="PlaceHolder 2"/>
          <p:cNvSpPr>
            <a:spLocks noGrp="1"/>
          </p:cNvSpPr>
          <p:nvPr>
            <p:ph/>
          </p:nvPr>
        </p:nvSpPr>
        <p:spPr>
          <a:xfrm>
            <a:off x="548640" y="3200400"/>
            <a:ext cx="4571640" cy="1096920"/>
          </a:xfrm>
          <a:prstGeom prst="rect">
            <a:avLst/>
          </a:prstGeom>
          <a:noFill/>
          <a:ln w="0">
            <a:noFill/>
          </a:ln>
        </p:spPr>
        <p:txBody>
          <a:bodyPr lIns="90000" tIns="45000" rIns="90000" bIns="45000" anchor="t">
            <a:noAutofit/>
          </a:bodyPr>
          <a:lstStyle/>
          <a:p>
            <a:pPr indent="0" defTabSz="914400">
              <a:lnSpc>
                <a:spcPct val="100000"/>
              </a:lnSpc>
              <a:spcBef>
                <a:spcPts val="320"/>
              </a:spcBef>
              <a:buNone/>
              <a:tabLst>
                <a:tab pos="0" algn="l"/>
              </a:tabLst>
            </a:pPr>
            <a:r>
              <a:rPr lang="en-US" sz="1600" b="0" strike="noStrike" spc="-1">
                <a:solidFill>
                  <a:schemeClr val="lt2"/>
                </a:solidFill>
                <a:latin typeface="Calibri"/>
              </a:rPr>
              <a:t>We compared BFS, DFS, Dijkstra and A* on path length, time and nodes explored.</a:t>
            </a:r>
            <a:endParaRPr lang="en-US" sz="1600" b="0" strike="noStrike" spc="-1">
              <a:solidFill>
                <a:schemeClr val="dk1"/>
              </a:solidFill>
              <a:latin typeface="Calibri"/>
            </a:endParaRPr>
          </a:p>
        </p:txBody>
      </p:sp>
      <p:sp>
        <p:nvSpPr>
          <p:cNvPr id="295" name="Text 2"/>
          <p:cNvSpPr/>
          <p:nvPr/>
        </p:nvSpPr>
        <p:spPr>
          <a:xfrm>
            <a:off x="548640" y="3886200"/>
            <a:ext cx="475452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00000"/>
              </a:lnSpc>
              <a:spcAft>
                <a:spcPts val="300"/>
              </a:spcAft>
              <a:buClr>
                <a:srgbClr val="FFFFFF"/>
              </a:buClr>
              <a:buFont typeface="Symbol" charset="2"/>
              <a:buChar char=""/>
            </a:pPr>
            <a:r>
              <a:rPr lang="en-US" sz="1200" b="0" strike="noStrike" spc="-1">
                <a:solidFill>
                  <a:schemeClr val="lt1"/>
                </a:solidFill>
                <a:latin typeface="Calibri"/>
              </a:rPr>
              <a:t>A* and Dijkstra were optimal in every scenario; A* explored fewer nodes</a:t>
            </a:r>
            <a:endParaRPr lang="en-US" sz="1200" b="0" strike="noStrike" spc="-1">
              <a:solidFill>
                <a:srgbClr val="FFFFFF"/>
              </a:solidFill>
              <a:latin typeface="Arial"/>
            </a:endParaRPr>
          </a:p>
          <a:p>
            <a:pPr marL="343080" indent="-343080" defTabSz="914400">
              <a:lnSpc>
                <a:spcPct val="100000"/>
              </a:lnSpc>
              <a:spcAft>
                <a:spcPts val="300"/>
              </a:spcAft>
              <a:buClr>
                <a:srgbClr val="FFFFFF"/>
              </a:buClr>
              <a:buFont typeface="Symbol" charset="2"/>
              <a:buChar char=""/>
            </a:pPr>
            <a:r>
              <a:rPr lang="en-US" sz="1200" b="0" strike="noStrike" spc="-1">
                <a:solidFill>
                  <a:schemeClr val="lt1"/>
                </a:solidFill>
                <a:latin typeface="Calibri"/>
              </a:rPr>
              <a:t>BFS is the simplest optimal choice on unit-cost mazes</a:t>
            </a:r>
            <a:endParaRPr lang="en-US" sz="1200" b="0" strike="noStrike" spc="-1">
              <a:solidFill>
                <a:srgbClr val="FFFFFF"/>
              </a:solidFill>
              <a:latin typeface="Arial"/>
            </a:endParaRPr>
          </a:p>
          <a:p>
            <a:pPr marL="343080" indent="-343080" defTabSz="914400">
              <a:lnSpc>
                <a:spcPct val="100000"/>
              </a:lnSpc>
              <a:spcAft>
                <a:spcPts val="300"/>
              </a:spcAft>
              <a:buClr>
                <a:srgbClr val="FFFFFF"/>
              </a:buClr>
              <a:buFont typeface="Symbol" charset="2"/>
              <a:buChar char=""/>
            </a:pPr>
            <a:r>
              <a:rPr lang="en-US" sz="1200" b="0" strike="noStrike" spc="-1">
                <a:solidFill>
                  <a:schemeClr val="lt1"/>
                </a:solidFill>
                <a:latin typeface="Calibri"/>
              </a:rPr>
              <a:t>DFS was fastest but returned paths up to ~5× longer</a:t>
            </a:r>
            <a:endParaRPr lang="en-US" sz="1200" b="0" strike="noStrike" spc="-1">
              <a:solidFill>
                <a:srgbClr val="FFFFFF"/>
              </a:solidFill>
              <a:latin typeface="Arial"/>
            </a:endParaRPr>
          </a:p>
        </p:txBody>
      </p:sp>
      <p:pic>
        <p:nvPicPr>
          <p:cNvPr id="296" name="Image 0" descr="Maze solved by A*"/>
          <p:cNvPicPr/>
          <p:nvPr/>
        </p:nvPicPr>
        <p:blipFill>
          <a:blip r:embed="rId3"/>
          <a:stretch/>
        </p:blipFill>
        <p:spPr>
          <a:xfrm>
            <a:off x="548640" y="502920"/>
            <a:ext cx="1737000" cy="1737000"/>
          </a:xfrm>
          <a:prstGeom prst="rect">
            <a:avLst/>
          </a:prstGeom>
          <a:ln w="0">
            <a:noFill/>
          </a:ln>
        </p:spPr>
      </p:pic>
      <p:sp>
        <p:nvSpPr>
          <p:cNvPr id="297" name="Text 3"/>
          <p:cNvSpPr/>
          <p:nvPr/>
        </p:nvSpPr>
        <p:spPr>
          <a:xfrm>
            <a:off x="5669280" y="640080"/>
            <a:ext cx="30171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600" b="1" strike="noStrike" spc="-1">
                <a:solidFill>
                  <a:schemeClr val="accent2"/>
                </a:solidFill>
                <a:latin typeface="Calibri"/>
              </a:rPr>
              <a:t>References</a:t>
            </a:r>
            <a:endParaRPr lang="en-US" sz="1600" b="0" strike="noStrike" spc="-1">
              <a:solidFill>
                <a:srgbClr val="FFFFFF"/>
              </a:solidFill>
              <a:latin typeface="Arial"/>
            </a:endParaRPr>
          </a:p>
        </p:txBody>
      </p:sp>
      <p:sp>
        <p:nvSpPr>
          <p:cNvPr id="298" name="Text 4"/>
          <p:cNvSpPr/>
          <p:nvPr/>
        </p:nvSpPr>
        <p:spPr>
          <a:xfrm>
            <a:off x="5669280" y="1005840"/>
            <a:ext cx="3108600" cy="356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00000"/>
              </a:lnSpc>
              <a:spcAft>
                <a:spcPts val="601"/>
              </a:spcAft>
              <a:buClr>
                <a:srgbClr val="FFFFFF"/>
              </a:buClr>
              <a:buFont typeface="Symbol" charset="2"/>
              <a:buChar char=""/>
            </a:pPr>
            <a:r>
              <a:rPr lang="en-US" sz="1200" b="0" strike="noStrike" spc="-1">
                <a:solidFill>
                  <a:schemeClr val="lt1"/>
                </a:solidFill>
                <a:latin typeface="Calibri"/>
              </a:rPr>
              <a:t>Cormen et al., Introduction to Algorithms (CLRS), MIT Press</a:t>
            </a:r>
            <a:endParaRPr lang="en-US" sz="1200" b="0" strike="noStrike" spc="-1">
              <a:solidFill>
                <a:srgbClr val="FFFFFF"/>
              </a:solidFill>
              <a:latin typeface="Arial"/>
            </a:endParaRPr>
          </a:p>
          <a:p>
            <a:pPr marL="343080" indent="-343080" defTabSz="914400">
              <a:lnSpc>
                <a:spcPct val="100000"/>
              </a:lnSpc>
              <a:spcAft>
                <a:spcPts val="601"/>
              </a:spcAft>
              <a:buClr>
                <a:srgbClr val="FFFFFF"/>
              </a:buClr>
              <a:buFont typeface="Symbol" charset="2"/>
              <a:buChar char=""/>
            </a:pPr>
            <a:r>
              <a:rPr lang="en-US" sz="1200" b="0" strike="noStrike" spc="-1">
                <a:solidFill>
                  <a:schemeClr val="lt1"/>
                </a:solidFill>
                <a:latin typeface="Calibri"/>
              </a:rPr>
              <a:t>Dijkstra, E. W. (1959), A note on two problems in connexion with graphs</a:t>
            </a:r>
            <a:endParaRPr lang="en-US" sz="1200" b="0" strike="noStrike" spc="-1">
              <a:solidFill>
                <a:srgbClr val="FFFFFF"/>
              </a:solidFill>
              <a:latin typeface="Arial"/>
            </a:endParaRPr>
          </a:p>
          <a:p>
            <a:pPr marL="343080" indent="-343080" defTabSz="914400">
              <a:lnSpc>
                <a:spcPct val="100000"/>
              </a:lnSpc>
              <a:spcAft>
                <a:spcPts val="601"/>
              </a:spcAft>
              <a:buClr>
                <a:srgbClr val="FFFFFF"/>
              </a:buClr>
              <a:buFont typeface="Symbol" charset="2"/>
              <a:buChar char=""/>
            </a:pPr>
            <a:r>
              <a:rPr lang="en-US" sz="1200" b="0" strike="noStrike" spc="-1">
                <a:solidFill>
                  <a:schemeClr val="lt1"/>
                </a:solidFill>
                <a:latin typeface="Calibri"/>
              </a:rPr>
              <a:t>Hart, Nilsson, Raphael (1968), A formal basis for the heuristic determination of minimum cost paths</a:t>
            </a:r>
            <a:endParaRPr lang="en-US" sz="1200" b="0" strike="noStrike" spc="-1">
              <a:solidFill>
                <a:srgbClr val="FFFFFF"/>
              </a:solidFill>
              <a:latin typeface="Arial"/>
            </a:endParaRPr>
          </a:p>
          <a:p>
            <a:pPr marL="343080" indent="-343080" defTabSz="914400">
              <a:lnSpc>
                <a:spcPct val="100000"/>
              </a:lnSpc>
              <a:spcAft>
                <a:spcPts val="601"/>
              </a:spcAft>
              <a:buClr>
                <a:srgbClr val="FFFFFF"/>
              </a:buClr>
              <a:buFont typeface="Symbol" charset="2"/>
              <a:buChar char=""/>
            </a:pPr>
            <a:r>
              <a:rPr lang="en-US" sz="1200" b="0" strike="noStrike" spc="-1">
                <a:solidFill>
                  <a:schemeClr val="lt1"/>
                </a:solidFill>
                <a:latin typeface="Calibri"/>
              </a:rPr>
              <a:t>Russell &amp; Norvig, Artificial Intelligence: A Modern Approach</a:t>
            </a:r>
            <a:endParaRPr lang="en-US" sz="1200" b="0" strike="noStrike" spc="-1">
              <a:solidFill>
                <a:srgbClr val="FFFFFF"/>
              </a:solidFill>
              <a:latin typeface="Arial"/>
            </a:endParaRPr>
          </a:p>
          <a:p>
            <a:pPr marL="343080" indent="-343080" defTabSz="914400">
              <a:lnSpc>
                <a:spcPct val="100000"/>
              </a:lnSpc>
              <a:spcAft>
                <a:spcPts val="601"/>
              </a:spcAft>
              <a:buClr>
                <a:srgbClr val="FFFFFF"/>
              </a:buClr>
              <a:buFont typeface="Symbol" charset="2"/>
              <a:buChar char=""/>
            </a:pPr>
            <a:r>
              <a:rPr lang="en-US" sz="1200" b="0" strike="noStrike" spc="-1">
                <a:solidFill>
                  <a:schemeClr val="lt1"/>
                </a:solidFill>
                <a:latin typeface="Calibri"/>
              </a:rPr>
              <a:t>Red Blob Games, Introduction to A*</a:t>
            </a:r>
            <a:endParaRPr lang="en-US" sz="1200" b="0" strike="noStrike" spc="-1">
              <a:solidFill>
                <a:srgbClr val="FFFFFF"/>
              </a:solidFill>
              <a:latin typeface="Arial"/>
            </a:endParaRPr>
          </a:p>
          <a:p>
            <a:pPr marL="343080" indent="-343080" defTabSz="914400">
              <a:lnSpc>
                <a:spcPct val="100000"/>
              </a:lnSpc>
              <a:spcAft>
                <a:spcPts val="601"/>
              </a:spcAft>
              <a:buClr>
                <a:srgbClr val="FFFFFF"/>
              </a:buClr>
              <a:buFont typeface="Symbol" charset="2"/>
              <a:buChar char=""/>
            </a:pPr>
            <a:r>
              <a:rPr lang="en-US" sz="1200" b="0" strike="noStrike" spc="-1">
                <a:solidFill>
                  <a:schemeClr val="lt1"/>
                </a:solidFill>
                <a:latin typeface="Calibri"/>
              </a:rPr>
              <a:t>React, Vite and Tailwind CSS documentation</a:t>
            </a:r>
            <a:endParaRPr lang="en-US" sz="1200" b="0" strike="noStrike" spc="-1">
              <a:solidFill>
                <a:srgbClr val="FFFFFF"/>
              </a:solidFill>
              <a:latin typeface="Arial"/>
            </a:endParaRPr>
          </a:p>
          <a:p>
            <a:pPr marL="343080" indent="-343080" defTabSz="914400">
              <a:lnSpc>
                <a:spcPct val="100000"/>
              </a:lnSpc>
              <a:spcAft>
                <a:spcPts val="601"/>
              </a:spcAft>
              <a:buClr>
                <a:srgbClr val="FFFFFF"/>
              </a:buClr>
              <a:buFont typeface="Symbol" charset="2"/>
              <a:buChar char=""/>
            </a:pPr>
            <a:r>
              <a:rPr lang="en-US" sz="1200" b="0" strike="noStrike" spc="-1">
                <a:solidFill>
                  <a:schemeClr val="lt1"/>
                </a:solidFill>
                <a:latin typeface="Calibri"/>
              </a:rPr>
              <a:t>Test data: randomly generated mazes (own generator)</a:t>
            </a:r>
            <a:endParaRPr lang="en-US" sz="1200" b="0" strike="noStrike" spc="-1">
              <a:solidFill>
                <a:srgbClr val="FFFFFF"/>
              </a:solidFill>
              <a:latin typeface="Arial"/>
            </a:endParaRPr>
          </a:p>
        </p:txBody>
      </p:sp>
    </p:spTree>
  </p:cSld>
  <p:clrMapOvr>
    <a:masterClrMapping/>
  </p:clrMapOvr>
</p:sld>
</file>

<file path=ppt/theme/theme1.xml><?xml version="1.0" encoding="utf-8"?>
<a:theme xmlns:a="http://schemas.openxmlformats.org/drawingml/2006/main" name="PathOptix">
  <a:themeElements>
    <a:clrScheme name="PathOptix">
      <a:dk1>
        <a:srgbClr val="1A2B34"/>
      </a:dk1>
      <a:lt1>
        <a:srgbClr val="FFFFFF"/>
      </a:lt1>
      <a:dk2>
        <a:srgbClr val="0B1F2A"/>
      </a:dk2>
      <a:lt2>
        <a:srgbClr val="F3F6F7"/>
      </a:lt2>
      <a:accent1>
        <a:srgbClr val="0E7C86"/>
      </a:accent1>
      <a:accent2>
        <a:srgbClr val="F5A524"/>
      </a:accent2>
      <a:accent3>
        <a:srgbClr val="2E86AB"/>
      </a:accent3>
      <a:accent4>
        <a:srgbClr val="C8553D"/>
      </a:accent4>
      <a:accent5>
        <a:srgbClr val="5C9A3E"/>
      </a:accent5>
      <a:accent6>
        <a:srgbClr val="6B7B85"/>
      </a:accent6>
      <a:hlink>
        <a:srgbClr val="0E7C86"/>
      </a:hlink>
      <a:folHlink>
        <a:srgbClr val="6B7B85"/>
      </a:folHlink>
    </a:clrScheme>
    <a:fontScheme name="PathOptix">
      <a:majorFont>
        <a:latin typeface="Cambria"/>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PathOptix">
  <a:themeElements>
    <a:clrScheme name="PathOptix">
      <a:dk1>
        <a:srgbClr val="1A2B34"/>
      </a:dk1>
      <a:lt1>
        <a:srgbClr val="FFFFFF"/>
      </a:lt1>
      <a:dk2>
        <a:srgbClr val="0B1F2A"/>
      </a:dk2>
      <a:lt2>
        <a:srgbClr val="F3F6F7"/>
      </a:lt2>
      <a:accent1>
        <a:srgbClr val="0E7C86"/>
      </a:accent1>
      <a:accent2>
        <a:srgbClr val="F5A524"/>
      </a:accent2>
      <a:accent3>
        <a:srgbClr val="2E86AB"/>
      </a:accent3>
      <a:accent4>
        <a:srgbClr val="C8553D"/>
      </a:accent4>
      <a:accent5>
        <a:srgbClr val="5C9A3E"/>
      </a:accent5>
      <a:accent6>
        <a:srgbClr val="6B7B85"/>
      </a:accent6>
      <a:hlink>
        <a:srgbClr val="0E7C86"/>
      </a:hlink>
      <a:folHlink>
        <a:srgbClr val="6B7B85"/>
      </a:folHlink>
    </a:clrScheme>
    <a:fontScheme name="PathOptix">
      <a:majorFont>
        <a:latin typeface="Cambria"/>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PathOptix">
  <a:themeElements>
    <a:clrScheme name="PathOptix">
      <a:dk1>
        <a:srgbClr val="1A2B34"/>
      </a:dk1>
      <a:lt1>
        <a:srgbClr val="FFFFFF"/>
      </a:lt1>
      <a:dk2>
        <a:srgbClr val="0B1F2A"/>
      </a:dk2>
      <a:lt2>
        <a:srgbClr val="F3F6F7"/>
      </a:lt2>
      <a:accent1>
        <a:srgbClr val="0E7C86"/>
      </a:accent1>
      <a:accent2>
        <a:srgbClr val="F5A524"/>
      </a:accent2>
      <a:accent3>
        <a:srgbClr val="2E86AB"/>
      </a:accent3>
      <a:accent4>
        <a:srgbClr val="C8553D"/>
      </a:accent4>
      <a:accent5>
        <a:srgbClr val="5C9A3E"/>
      </a:accent5>
      <a:accent6>
        <a:srgbClr val="6B7B85"/>
      </a:accent6>
      <a:hlink>
        <a:srgbClr val="0E7C86"/>
      </a:hlink>
      <a:folHlink>
        <a:srgbClr val="6B7B85"/>
      </a:folHlink>
    </a:clrScheme>
    <a:fontScheme name="PathOptix">
      <a:majorFont>
        <a:latin typeface="Cambria"/>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PathOptix">
  <a:themeElements>
    <a:clrScheme name="PathOptix">
      <a:dk1>
        <a:srgbClr val="1A2B34"/>
      </a:dk1>
      <a:lt1>
        <a:srgbClr val="FFFFFF"/>
      </a:lt1>
      <a:dk2>
        <a:srgbClr val="0B1F2A"/>
      </a:dk2>
      <a:lt2>
        <a:srgbClr val="F3F6F7"/>
      </a:lt2>
      <a:accent1>
        <a:srgbClr val="0E7C86"/>
      </a:accent1>
      <a:accent2>
        <a:srgbClr val="F5A524"/>
      </a:accent2>
      <a:accent3>
        <a:srgbClr val="2E86AB"/>
      </a:accent3>
      <a:accent4>
        <a:srgbClr val="C8553D"/>
      </a:accent4>
      <a:accent5>
        <a:srgbClr val="5C9A3E"/>
      </a:accent5>
      <a:accent6>
        <a:srgbClr val="6B7B85"/>
      </a:accent6>
      <a:hlink>
        <a:srgbClr val="0E7C86"/>
      </a:hlink>
      <a:folHlink>
        <a:srgbClr val="6B7B85"/>
      </a:folHlink>
    </a:clrScheme>
    <a:fontScheme name="PathOptix">
      <a:majorFont>
        <a:latin typeface="Cambria"/>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TotalTime>
  <Words>1881</Words>
  <Application>Microsoft Office PowerPoint</Application>
  <PresentationFormat>On-screen Show (16:9)</PresentationFormat>
  <Paragraphs>308</Paragraphs>
  <Slides>15</Slides>
  <Notes>15</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15</vt:i4>
      </vt:variant>
    </vt:vector>
  </HeadingPairs>
  <TitlesOfParts>
    <vt:vector size="26" baseType="lpstr">
      <vt:lpstr>Arial</vt:lpstr>
      <vt:lpstr>Calibri</vt:lpstr>
      <vt:lpstr>Cambria</vt:lpstr>
      <vt:lpstr>Courier New</vt:lpstr>
      <vt:lpstr>Symbol</vt:lpstr>
      <vt:lpstr>Times New Roman</vt:lpstr>
      <vt:lpstr>Wingdings</vt:lpstr>
      <vt:lpstr>PathOptix</vt:lpstr>
      <vt:lpstr>PathOptix</vt:lpstr>
      <vt:lpstr>PathOptix</vt:lpstr>
      <vt:lpstr>PathOptix</vt:lpstr>
      <vt:lpstr>Maze and Path-Finding Optimization System</vt:lpstr>
      <vt:lpstr>Problem statement</vt:lpstr>
      <vt:lpstr>Motivation and real-world use</vt:lpstr>
      <vt:lpstr>Objectives</vt:lpstr>
      <vt:lpstr>Existing approach and its limits</vt:lpstr>
      <vt:lpstr>Proposed approach: overall flow</vt:lpstr>
      <vt:lpstr>Algorithms used</vt:lpstr>
      <vt:lpstr>Key pseudocode</vt:lpstr>
      <vt:lpstr>System architecture</vt:lpstr>
      <vt:lpstr>Implementation</vt:lpstr>
      <vt:lpstr>Project screenshots</vt:lpstr>
      <vt:lpstr>Results: input size vs time</vt:lpstr>
      <vt:lpstr>Complexity analysis</vt:lpstr>
      <vt:lpstr>Advantages, limitations, future scope</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dc:description/>
  <cp:lastModifiedBy>het patel</cp:lastModifiedBy>
  <cp:revision>2</cp:revision>
  <dcterms:modified xsi:type="dcterms:W3CDTF">2026-10-26T04:53:56Z</dcterms:modified>
  <dc:language>en-US</dc:language>
</cp:coreProperties>
</file>